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8"/>
  </p:notesMasterIdLst>
  <p:sldIdLst>
    <p:sldId id="256" r:id="rId2"/>
    <p:sldId id="326" r:id="rId3"/>
    <p:sldId id="270" r:id="rId4"/>
    <p:sldId id="371" r:id="rId5"/>
    <p:sldId id="311" r:id="rId6"/>
    <p:sldId id="366" r:id="rId7"/>
    <p:sldId id="341" r:id="rId8"/>
    <p:sldId id="329" r:id="rId9"/>
    <p:sldId id="380" r:id="rId10"/>
    <p:sldId id="308" r:id="rId11"/>
    <p:sldId id="384" r:id="rId12"/>
    <p:sldId id="383" r:id="rId13"/>
    <p:sldId id="343" r:id="rId14"/>
    <p:sldId id="367" r:id="rId15"/>
    <p:sldId id="382" r:id="rId16"/>
    <p:sldId id="349" r:id="rId17"/>
    <p:sldId id="370" r:id="rId18"/>
    <p:sldId id="385" r:id="rId19"/>
    <p:sldId id="381" r:id="rId20"/>
    <p:sldId id="387" r:id="rId21"/>
    <p:sldId id="388" r:id="rId22"/>
    <p:sldId id="389" r:id="rId23"/>
    <p:sldId id="386" r:id="rId24"/>
    <p:sldId id="390" r:id="rId25"/>
    <p:sldId id="277" r:id="rId26"/>
    <p:sldId id="275" r:id="rId27"/>
  </p:sldIdLst>
  <p:sldSz cx="9144000" cy="5143500" type="screen16x9"/>
  <p:notesSz cx="6858000" cy="9144000"/>
  <p:embeddedFontLst>
    <p:embeddedFont>
      <p:font typeface="Nunito Light" panose="020F0302020204030204" pitchFamily="34" charset="0"/>
      <p:regular r:id="rId29"/>
      <p:italic r:id="rId30"/>
    </p:embeddedFont>
    <p:embeddedFont>
      <p:font typeface="Poppins Medium" panose="020B0604020202020204" pitchFamily="34" charset="0"/>
      <p:regular r:id="rId31"/>
      <p:bold r:id=""/>
      <p:italic r:id="rId32"/>
      <p:boldItalic r:id=""/>
    </p:embeddedFont>
    <p:embeddedFont>
      <p:font typeface="Quicksand" pitchFamily="2" charset="77"/>
      <p:regular r:id=""/>
      <p:bold r:id=""/>
      <p:italic r:id=""/>
    </p:embeddedFont>
    <p:embeddedFont>
      <p:font typeface="Quicksand Medium" pitchFamily="2" charset="77"/>
      <p:regular r:id=""/>
      <p:bold r:id=""/>
      <p:italic r:id=""/>
    </p:embeddedFont>
    <p:embeddedFont>
      <p:font typeface="Quicksand SemiBold" pitchFamily="2" charset="77"/>
      <p:regular r:id=""/>
      <p:bold r:id=""/>
      <p:italic r:id=""/>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CFA2"/>
    <a:srgbClr val="000000"/>
    <a:srgbClr val="FFE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0E1990F-7493-410F-B343-7341C0AC1395}">
  <a:tblStyle styleId="{A0E1990F-7493-410F-B343-7341C0AC139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0"/>
    <p:restoredTop sz="81623"/>
  </p:normalViewPr>
  <p:slideViewPr>
    <p:cSldViewPr snapToGrid="0">
      <p:cViewPr>
        <p:scale>
          <a:sx n="157" d="100"/>
          <a:sy n="157" d="100"/>
        </p:scale>
        <p:origin x="6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buFont typeface="Arial" panose="020B0604020202020204" pitchFamily="34" charset="0"/>
              <a:buChar char="•"/>
            </a:pPr>
            <a:endParaRPr lang="fr-FR" b="0" i="0" dirty="0">
              <a:solidFill>
                <a:srgbClr val="271A38"/>
              </a:solidFill>
              <a:effectLst/>
              <a:latin typeface="Inte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R="0" algn="l" rtl="0" fontAlgn="ctr">
              <a:spcBef>
                <a:spcPts val="0"/>
              </a:spcBef>
              <a:spcAft>
                <a:spcPts val="0"/>
              </a:spcAft>
            </a:pPr>
            <a:endParaRPr lang="en-FR" dirty="0"/>
          </a:p>
        </p:txBody>
      </p:sp>
    </p:spTree>
    <p:extLst>
      <p:ext uri="{BB962C8B-B14F-4D97-AF65-F5344CB8AC3E}">
        <p14:creationId xmlns:p14="http://schemas.microsoft.com/office/powerpoint/2010/main" val="30728643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54dda1946d_4_27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8" name="Google Shape;398;g54dda1946d_4_27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9EB88-032F-81D8-7CD4-725B85AC841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C830DEB-6B9C-D3BA-F7D8-168A31D6F3EA}"/>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3195E829-4539-1890-3CEA-4DC177944278}"/>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977239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932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44989-6F39-B429-8D9F-3060D9A280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A508694-6312-1C5C-28C2-CFF35DA4956F}"/>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36374EBD-CC03-2B6F-887F-719EF9549553}"/>
              </a:ext>
            </a:extLst>
          </p:cNvPr>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mj-lt"/>
              <a:buAutoNum type="arabicPeriod"/>
              <a:tabLst/>
              <a:defRPr/>
            </a:pPr>
            <a:r>
              <a:rPr lang="fr-FR" b="0" i="0" dirty="0">
                <a:solidFill>
                  <a:srgbClr val="000000"/>
                </a:solidFill>
                <a:effectLst/>
                <a:latin typeface="system-ui"/>
              </a:rPr>
              <a:t>Lorsque chaque image est traitée individuellement par un UDF (User-</a:t>
            </a:r>
            <a:r>
              <a:rPr lang="fr-FR" b="0" i="0" dirty="0" err="1">
                <a:solidFill>
                  <a:srgbClr val="000000"/>
                </a:solidFill>
                <a:effectLst/>
                <a:latin typeface="system-ui"/>
              </a:rPr>
              <a:t>Defined</a:t>
            </a:r>
            <a:r>
              <a:rPr lang="fr-FR" b="0" i="0" dirty="0">
                <a:solidFill>
                  <a:srgbClr val="000000"/>
                </a:solidFill>
                <a:effectLst/>
                <a:latin typeface="system-ui"/>
              </a:rPr>
              <a:t> </a:t>
            </a:r>
            <a:r>
              <a:rPr lang="fr-FR" b="0" i="0" dirty="0" err="1">
                <a:solidFill>
                  <a:srgbClr val="000000"/>
                </a:solidFill>
                <a:effectLst/>
                <a:latin typeface="system-ui"/>
              </a:rPr>
              <a:t>Function</a:t>
            </a:r>
            <a:r>
              <a:rPr lang="fr-FR" b="0" i="0" dirty="0">
                <a:solidFill>
                  <a:srgbClr val="000000"/>
                </a:solidFill>
                <a:effectLst/>
                <a:latin typeface="system-ui"/>
              </a:rPr>
              <a:t>), le modèle est instancié de zéro à chaque appel de la fonction. Cela introduit une surcharge énorme, car initialiser un modèle </a:t>
            </a:r>
            <a:r>
              <a:rPr lang="fr-FR" b="0" i="0" dirty="0" err="1">
                <a:solidFill>
                  <a:srgbClr val="000000"/>
                </a:solidFill>
                <a:effectLst/>
                <a:latin typeface="system-ui"/>
              </a:rPr>
              <a:t>Keras</a:t>
            </a:r>
            <a:r>
              <a:rPr lang="fr-FR" b="0" i="0" dirty="0">
                <a:solidFill>
                  <a:srgbClr val="000000"/>
                </a:solidFill>
                <a:effectLst/>
                <a:latin typeface="system-ui"/>
              </a:rPr>
              <a:t> comme MobileNetV2 consomme du temps et des </a:t>
            </a:r>
            <a:r>
              <a:rPr lang="fr-FR" b="0" i="0" dirty="0" err="1">
                <a:solidFill>
                  <a:srgbClr val="000000"/>
                </a:solidFill>
                <a:effectLst/>
                <a:latin typeface="system-ui"/>
              </a:rPr>
              <a:t>ressources.En</a:t>
            </a:r>
            <a:r>
              <a:rPr lang="fr-FR" b="0" i="0" dirty="0">
                <a:solidFill>
                  <a:srgbClr val="000000"/>
                </a:solidFill>
                <a:effectLst/>
                <a:latin typeface="system-ui"/>
              </a:rPr>
              <a:t> utilisant un </a:t>
            </a:r>
            <a:r>
              <a:rPr lang="fr-FR" b="0" i="0" dirty="0" err="1">
                <a:solidFill>
                  <a:srgbClr val="000000"/>
                </a:solidFill>
                <a:effectLst/>
                <a:latin typeface="system-ui"/>
              </a:rPr>
              <a:t>pandas_udf</a:t>
            </a:r>
            <a:r>
              <a:rPr lang="fr-FR" b="0" i="0" dirty="0">
                <a:solidFill>
                  <a:srgbClr val="000000"/>
                </a:solidFill>
                <a:effectLst/>
                <a:latin typeface="system-ui"/>
              </a:rPr>
              <a:t> (ou un UDF au niveau de la partition), le modèle est initialisé une seule fois pour un lot de données (partition Spark) au lieu d'une fois par image. Cela permet une exécution bien plus rapide et efficace.</a:t>
            </a:r>
          </a:p>
          <a:p>
            <a:pPr algn="l">
              <a:buFont typeface="+mj-lt"/>
              <a:buAutoNum type="arabicPeriod"/>
            </a:pPr>
            <a:endParaRPr lang="en-US" b="0" i="0" u="none" strike="noStrike" dirty="0">
              <a:solidFill>
                <a:srgbClr val="374151"/>
              </a:solidFill>
              <a:effectLst/>
              <a:latin typeface="Söhne"/>
            </a:endParaRPr>
          </a:p>
        </p:txBody>
      </p:sp>
    </p:spTree>
    <p:extLst>
      <p:ext uri="{BB962C8B-B14F-4D97-AF65-F5344CB8AC3E}">
        <p14:creationId xmlns:p14="http://schemas.microsoft.com/office/powerpoint/2010/main" val="111656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13E4B-5E8E-2D0A-7687-DDFA5FD946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775C0A-0E33-BB3C-DA31-C176E7AA2D8E}"/>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C4CCE77D-5C76-39D7-E73B-8FF05EFFC5DC}"/>
              </a:ext>
            </a:extLst>
          </p:cNvPr>
          <p:cNvSpPr>
            <a:spLocks noGrp="1"/>
          </p:cNvSpPr>
          <p:nvPr>
            <p:ph type="body" idx="1"/>
          </p:nvPr>
        </p:nvSpPr>
        <p:spPr/>
        <p:txBody>
          <a:bodyPr/>
          <a:lstStyle/>
          <a:p>
            <a:r>
              <a:rPr lang="fr-FR" dirty="0"/>
              <a:t>L’</a:t>
            </a:r>
            <a:r>
              <a:rPr lang="fr-FR" b="1" dirty="0"/>
              <a:t>inférence</a:t>
            </a:r>
            <a:r>
              <a:rPr lang="fr-FR" dirty="0"/>
              <a:t> désigne le processus par lequel un modèle de Machine Learning ou de Deep Learning (comme </a:t>
            </a:r>
            <a:r>
              <a:rPr lang="fr-FR" b="1" dirty="0"/>
              <a:t>MobileNetV2</a:t>
            </a:r>
            <a:r>
              <a:rPr lang="fr-FR" dirty="0"/>
              <a:t>) utilise ses </a:t>
            </a:r>
            <a:r>
              <a:rPr lang="fr-FR" b="1" dirty="0"/>
              <a:t>poids pré-entraînés</a:t>
            </a:r>
            <a:r>
              <a:rPr lang="fr-FR" dirty="0"/>
              <a:t> pour </a:t>
            </a:r>
            <a:r>
              <a:rPr lang="fr-FR" b="1" dirty="0"/>
              <a:t>prédire des résultats</a:t>
            </a:r>
            <a:r>
              <a:rPr lang="fr-FR" dirty="0"/>
              <a:t> sur de nouvelles données.</a:t>
            </a:r>
          </a:p>
          <a:p>
            <a:r>
              <a:rPr lang="fr-FR" dirty="0"/>
              <a:t>Dans votre cas :</a:t>
            </a:r>
          </a:p>
          <a:p>
            <a:pPr>
              <a:buFont typeface="Arial" panose="020B0604020202020204" pitchFamily="34" charset="0"/>
              <a:buChar char="•"/>
            </a:pPr>
            <a:r>
              <a:rPr lang="fr-FR" dirty="0"/>
              <a:t>Vous utilisez MobileNetV2 pour extraire des </a:t>
            </a:r>
            <a:r>
              <a:rPr lang="fr-FR" b="1" dirty="0" err="1"/>
              <a:t>features</a:t>
            </a:r>
            <a:r>
              <a:rPr lang="fr-FR" dirty="0"/>
              <a:t> (caractéristiques) des images.</a:t>
            </a:r>
          </a:p>
          <a:p>
            <a:pPr>
              <a:buFont typeface="Arial" panose="020B0604020202020204" pitchFamily="34" charset="0"/>
              <a:buChar char="•"/>
            </a:pPr>
            <a:r>
              <a:rPr lang="fr-FR" dirty="0"/>
              <a:t>Chaque image est passée dans le modèle, et l’inférence produit un </a:t>
            </a:r>
            <a:r>
              <a:rPr lang="fr-FR" b="1" dirty="0"/>
              <a:t>vecteur de caractéristiques</a:t>
            </a:r>
            <a:r>
              <a:rPr lang="fr-FR" dirty="0"/>
              <a:t>.</a:t>
            </a:r>
          </a:p>
          <a:p>
            <a:pPr>
              <a:buFont typeface="Arial" panose="020B0604020202020204" pitchFamily="34" charset="0"/>
              <a:buChar char="•"/>
            </a:pPr>
            <a:r>
              <a:rPr lang="fr-FR" dirty="0"/>
              <a:t>Cette étape est appelée </a:t>
            </a:r>
            <a:r>
              <a:rPr lang="fr-FR" b="1" dirty="0"/>
              <a:t>inférence</a:t>
            </a:r>
            <a:r>
              <a:rPr lang="fr-FR" dirty="0"/>
              <a:t>, car le modèle </a:t>
            </a:r>
            <a:r>
              <a:rPr lang="fr-FR" b="1" dirty="0"/>
              <a:t>n'est pas réentraîné</a:t>
            </a:r>
            <a:r>
              <a:rPr lang="fr-FR" dirty="0"/>
              <a:t> mais </a:t>
            </a:r>
            <a:r>
              <a:rPr lang="fr-FR" b="1" dirty="0"/>
              <a:t>utilisé pour prédire</a:t>
            </a:r>
            <a:r>
              <a:rPr lang="fr-FR" dirty="0"/>
              <a:t>.</a:t>
            </a:r>
          </a:p>
          <a:p>
            <a:pPr algn="l"/>
            <a:endParaRPr lang="fr-FR" b="0" i="0" u="none" strike="noStrike" dirty="0">
              <a:solidFill>
                <a:srgbClr val="271A38"/>
              </a:solidFill>
              <a:effectLst/>
              <a:latin typeface="Inter"/>
            </a:endParaRPr>
          </a:p>
          <a:p>
            <a:pPr algn="l"/>
            <a:endParaRPr lang="fr-FR" b="0" i="0" u="none" strike="noStrike" dirty="0">
              <a:solidFill>
                <a:srgbClr val="271A38"/>
              </a:solidFill>
              <a:effectLst/>
              <a:latin typeface="Inter"/>
            </a:endParaRPr>
          </a:p>
          <a:p>
            <a:r>
              <a:rPr lang="fr-FR" dirty="0"/>
              <a:t>Si le broadcast n'est </a:t>
            </a:r>
            <a:r>
              <a:rPr lang="fr-FR" b="1" dirty="0"/>
              <a:t>pas utilisé correctement</a:t>
            </a:r>
            <a:r>
              <a:rPr lang="fr-FR" dirty="0"/>
              <a:t>, chaque </a:t>
            </a:r>
            <a:r>
              <a:rPr lang="fr-FR" dirty="0" err="1"/>
              <a:t>worker</a:t>
            </a:r>
            <a:r>
              <a:rPr lang="fr-FR" dirty="0"/>
              <a:t> Spark :</a:t>
            </a:r>
          </a:p>
          <a:p>
            <a:pPr>
              <a:buFont typeface="Arial" panose="020B0604020202020204" pitchFamily="34" charset="0"/>
              <a:buChar char="•"/>
            </a:pPr>
            <a:r>
              <a:rPr lang="fr-FR" dirty="0"/>
              <a:t>Recharge les </a:t>
            </a:r>
            <a:r>
              <a:rPr lang="fr-FR" b="1" dirty="0"/>
              <a:t>poids complets</a:t>
            </a:r>
            <a:r>
              <a:rPr lang="fr-FR" dirty="0"/>
              <a:t> du modèle MobileNetV2 pour chaque partition/batch.</a:t>
            </a:r>
          </a:p>
          <a:p>
            <a:pPr>
              <a:buFont typeface="Arial" panose="020B0604020202020204" pitchFamily="34" charset="0"/>
              <a:buChar char="•"/>
            </a:pPr>
            <a:r>
              <a:rPr lang="fr-FR" dirty="0"/>
              <a:t>Cela consomme beaucoup de </a:t>
            </a:r>
            <a:r>
              <a:rPr lang="fr-FR" b="1" dirty="0"/>
              <a:t>mémoire</a:t>
            </a:r>
            <a:r>
              <a:rPr lang="fr-FR" dirty="0"/>
              <a:t> et augmente le temps d’exécution.</a:t>
            </a:r>
          </a:p>
          <a:p>
            <a:r>
              <a:rPr lang="fr-FR" dirty="0"/>
              <a:t>Avec un </a:t>
            </a:r>
            <a:r>
              <a:rPr lang="fr-FR" b="1" dirty="0"/>
              <a:t>broadcast correct</a:t>
            </a:r>
            <a:r>
              <a:rPr lang="fr-FR" dirty="0"/>
              <a:t> :</a:t>
            </a:r>
          </a:p>
          <a:p>
            <a:pPr>
              <a:buFont typeface="Arial" panose="020B0604020202020204" pitchFamily="34" charset="0"/>
              <a:buChar char="•"/>
            </a:pPr>
            <a:r>
              <a:rPr lang="fr-FR" dirty="0"/>
              <a:t>Les poids sont chargés </a:t>
            </a:r>
            <a:r>
              <a:rPr lang="fr-FR" b="1" dirty="0"/>
              <a:t>une seule fois</a:t>
            </a:r>
            <a:r>
              <a:rPr lang="fr-FR" dirty="0"/>
              <a:t> dans chaque </a:t>
            </a:r>
            <a:r>
              <a:rPr lang="fr-FR" dirty="0" err="1"/>
              <a:t>worker</a:t>
            </a:r>
            <a:r>
              <a:rPr lang="fr-FR" dirty="0"/>
              <a:t>.</a:t>
            </a:r>
          </a:p>
          <a:p>
            <a:pPr>
              <a:buFont typeface="Arial" panose="020B0604020202020204" pitchFamily="34" charset="0"/>
              <a:buChar char="•"/>
            </a:pPr>
            <a:r>
              <a:rPr lang="fr-FR" dirty="0"/>
              <a:t>Cela optimise l’exécution et réduit la latence</a:t>
            </a:r>
          </a:p>
          <a:p>
            <a:pPr>
              <a:buFont typeface="+mj-lt"/>
              <a:buAutoNum type="arabicPeriod"/>
            </a:pPr>
            <a:endParaRPr lang="fr-FR"/>
          </a:p>
          <a:p>
            <a:pPr algn="l"/>
            <a:endParaRPr lang="fr-FR" b="0" i="0" u="none" strike="noStrike" dirty="0">
              <a:solidFill>
                <a:srgbClr val="271A38"/>
              </a:solidFill>
              <a:effectLst/>
              <a:latin typeface="Inter"/>
            </a:endParaRPr>
          </a:p>
        </p:txBody>
      </p:sp>
    </p:spTree>
    <p:extLst>
      <p:ext uri="{BB962C8B-B14F-4D97-AF65-F5344CB8AC3E}">
        <p14:creationId xmlns:p14="http://schemas.microsoft.com/office/powerpoint/2010/main" val="3414880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b="1" dirty="0"/>
          </a:p>
          <a:p>
            <a:r>
              <a:rPr lang="fr-FR" b="1" dirty="0" err="1"/>
              <a:t>initial_vector_size</a:t>
            </a:r>
            <a:r>
              <a:rPr lang="fr-FR" b="1" dirty="0"/>
              <a:t> (1280)</a:t>
            </a:r>
            <a:r>
              <a:rPr lang="fr-FR" dirty="0"/>
              <a:t> :</a:t>
            </a:r>
            <a:br>
              <a:rPr lang="fr-FR" dirty="0"/>
            </a:br>
            <a:r>
              <a:rPr lang="fr-FR" dirty="0"/>
              <a:t>C'est la taille des vecteurs extraits par le modèle MobileNetV2 avant application du PCA.</a:t>
            </a:r>
          </a:p>
          <a:p>
            <a:r>
              <a:rPr lang="fr-FR" b="1" dirty="0" err="1"/>
              <a:t>reduced_vector_size</a:t>
            </a:r>
            <a:r>
              <a:rPr lang="fr-FR" b="1" dirty="0"/>
              <a:t> (50)</a:t>
            </a:r>
            <a:r>
              <a:rPr lang="fr-FR" dirty="0"/>
              <a:t> :</a:t>
            </a:r>
            <a:br>
              <a:rPr lang="fr-FR" dirty="0"/>
            </a:br>
            <a:r>
              <a:rPr lang="fr-FR" dirty="0"/>
              <a:t>La taille des vecteurs réduits après application du PCA. Cela montre que PCA réduit la dimensionnalité de 1280 à 50, ce qui est un gain significatif pour le stockage et le traitement des données.</a:t>
            </a:r>
          </a:p>
          <a:p>
            <a:r>
              <a:rPr lang="fr-FR" b="1" dirty="0" err="1"/>
              <a:t>processing_time_no_pca</a:t>
            </a:r>
            <a:r>
              <a:rPr lang="fr-FR" b="1" dirty="0"/>
              <a:t> vs </a:t>
            </a:r>
            <a:r>
              <a:rPr lang="fr-FR" b="1" dirty="0" err="1"/>
              <a:t>processing_time_with_pca</a:t>
            </a:r>
            <a:r>
              <a:rPr lang="fr-FR" dirty="0"/>
              <a:t> :</a:t>
            </a:r>
          </a:p>
          <a:p>
            <a:pPr>
              <a:buFont typeface="Arial" panose="020B0604020202020204" pitchFamily="34" charset="0"/>
              <a:buChar char="•"/>
            </a:pPr>
            <a:r>
              <a:rPr lang="fr-FR" b="1" dirty="0"/>
              <a:t>2 nœuds</a:t>
            </a:r>
            <a:r>
              <a:rPr lang="fr-FR" dirty="0"/>
              <a:t> : Le temps de traitement sans PCA est légèrement </a:t>
            </a:r>
            <a:r>
              <a:rPr lang="fr-FR" b="1" dirty="0"/>
              <a:t>plus rapide</a:t>
            </a:r>
            <a:r>
              <a:rPr lang="fr-FR" dirty="0"/>
              <a:t> (28.82s) qu'avec PCA (31.28s). Cela peut être dû au coût initial de transformation du vecteur par PCA, même si la taille finale est plus petite.</a:t>
            </a:r>
          </a:p>
          <a:p>
            <a:pPr>
              <a:buFont typeface="Arial" panose="020B0604020202020204" pitchFamily="34" charset="0"/>
              <a:buChar char="•"/>
            </a:pPr>
            <a:r>
              <a:rPr lang="fr-FR" b="1" dirty="0"/>
              <a:t>4 nœuds</a:t>
            </a:r>
            <a:r>
              <a:rPr lang="fr-FR" dirty="0"/>
              <a:t> : Le traitement </a:t>
            </a:r>
            <a:r>
              <a:rPr lang="fr-FR" b="1" dirty="0"/>
              <a:t>avec PCA</a:t>
            </a:r>
            <a:r>
              <a:rPr lang="fr-FR" dirty="0"/>
              <a:t> (27.06s) devient plus rapide que sans PCA (33.04s). Cela indique qu'avec plus de ressources parallèles (4 nœuds), la réduction de dimension commence à compenser le coût initial du PCA.</a:t>
            </a:r>
          </a:p>
          <a:p>
            <a:pPr>
              <a:buFont typeface="Arial" panose="020B0604020202020204" pitchFamily="34" charset="0"/>
              <a:buChar char="•"/>
            </a:pPr>
            <a:endParaRPr lang="fr-FR" dirty="0"/>
          </a:p>
          <a:p>
            <a:pPr>
              <a:buFont typeface="Arial" panose="020B0604020202020204" pitchFamily="34" charset="0"/>
              <a:buChar char="•"/>
            </a:pPr>
            <a:endParaRPr lang="fr-FR" dirty="0"/>
          </a:p>
          <a:p>
            <a:pPr>
              <a:buFont typeface="Arial" panose="020B0604020202020204" pitchFamily="34" charset="0"/>
              <a:buChar char="•"/>
            </a:pPr>
            <a:endParaRPr lang="fr-FR" dirty="0"/>
          </a:p>
          <a:p>
            <a:pPr>
              <a:buFont typeface="Arial" panose="020B0604020202020204" pitchFamily="34" charset="0"/>
              <a:buChar char="•"/>
            </a:pPr>
            <a:endParaRPr lang="fr-FR" dirty="0"/>
          </a:p>
          <a:p>
            <a:r>
              <a:rPr lang="fr-FR" b="1" dirty="0" err="1"/>
              <a:t>total_execution_time</a:t>
            </a:r>
            <a:r>
              <a:rPr lang="fr-FR" dirty="0"/>
              <a:t> :</a:t>
            </a:r>
          </a:p>
          <a:p>
            <a:pPr>
              <a:buFont typeface="Arial" panose="020B0604020202020204" pitchFamily="34" charset="0"/>
              <a:buChar char="•"/>
            </a:pPr>
            <a:r>
              <a:rPr lang="fr-FR" b="1" dirty="0"/>
              <a:t>2 nœuds</a:t>
            </a:r>
            <a:r>
              <a:rPr lang="fr-FR" dirty="0"/>
              <a:t> : Temps total d'exécution </a:t>
            </a:r>
            <a:r>
              <a:rPr lang="fr-FR" b="1" dirty="0"/>
              <a:t>192.05s</a:t>
            </a:r>
            <a:r>
              <a:rPr lang="fr-FR" dirty="0"/>
              <a:t>.</a:t>
            </a:r>
          </a:p>
          <a:p>
            <a:pPr>
              <a:buFont typeface="Arial" panose="020B0604020202020204" pitchFamily="34" charset="0"/>
              <a:buChar char="•"/>
            </a:pPr>
            <a:r>
              <a:rPr lang="fr-FR" b="1" dirty="0"/>
              <a:t>4 nœuds</a:t>
            </a:r>
            <a:r>
              <a:rPr lang="fr-FR" dirty="0"/>
              <a:t> : Temps total d'exécution </a:t>
            </a:r>
            <a:r>
              <a:rPr lang="fr-FR" b="1" dirty="0"/>
              <a:t>159.56s</a:t>
            </a:r>
            <a:r>
              <a:rPr lang="fr-FR" dirty="0"/>
              <a:t>.</a:t>
            </a:r>
            <a:br>
              <a:rPr lang="fr-FR" dirty="0"/>
            </a:br>
            <a:r>
              <a:rPr lang="fr-FR" dirty="0"/>
              <a:t>Cela montre une </a:t>
            </a:r>
            <a:r>
              <a:rPr lang="fr-FR" b="1" dirty="0"/>
              <a:t>amélioration notable</a:t>
            </a:r>
            <a:r>
              <a:rPr lang="fr-FR" dirty="0"/>
              <a:t> du temps d'exécution total en ajoutant plus de nœuds. Le traitement devient plus rapide grâce au parallélisme.</a:t>
            </a:r>
          </a:p>
          <a:p>
            <a:r>
              <a:rPr lang="fr-FR" b="1" dirty="0" err="1"/>
              <a:t>feature_extraction_time</a:t>
            </a:r>
            <a:r>
              <a:rPr lang="fr-FR" dirty="0"/>
              <a:t> :</a:t>
            </a:r>
          </a:p>
          <a:p>
            <a:pPr>
              <a:buFont typeface="Arial" panose="020B0604020202020204" pitchFamily="34" charset="0"/>
              <a:buChar char="•"/>
            </a:pPr>
            <a:r>
              <a:rPr lang="fr-FR" b="1" dirty="0"/>
              <a:t>2 nœuds</a:t>
            </a:r>
            <a:r>
              <a:rPr lang="fr-FR" dirty="0"/>
              <a:t> : </a:t>
            </a:r>
            <a:r>
              <a:rPr lang="fr-FR" b="1" dirty="0"/>
              <a:t>0.47s</a:t>
            </a:r>
            <a:endParaRPr lang="fr-FR" dirty="0"/>
          </a:p>
          <a:p>
            <a:pPr>
              <a:buFont typeface="Arial" panose="020B0604020202020204" pitchFamily="34" charset="0"/>
              <a:buChar char="•"/>
            </a:pPr>
            <a:r>
              <a:rPr lang="fr-FR" b="1" dirty="0"/>
              <a:t>4 nœuds</a:t>
            </a:r>
            <a:r>
              <a:rPr lang="fr-FR" dirty="0"/>
              <a:t> : </a:t>
            </a:r>
            <a:r>
              <a:rPr lang="fr-FR" b="1" dirty="0"/>
              <a:t>0.047s</a:t>
            </a:r>
            <a:br>
              <a:rPr lang="fr-FR" dirty="0"/>
            </a:br>
            <a:r>
              <a:rPr lang="fr-FR" dirty="0"/>
              <a:t>L'extraction des caractéristiques (MobileNetV2) est très rapide même avec peu de nœuds, mais elle devient </a:t>
            </a:r>
            <a:r>
              <a:rPr lang="fr-FR" b="1" dirty="0"/>
              <a:t>encore plus rapide</a:t>
            </a:r>
            <a:r>
              <a:rPr lang="fr-FR" dirty="0"/>
              <a:t> avec 4 nœuds.</a:t>
            </a:r>
          </a:p>
          <a:p>
            <a:r>
              <a:rPr lang="fr-FR" b="1" dirty="0" err="1"/>
              <a:t>pca_time</a:t>
            </a:r>
            <a:r>
              <a:rPr lang="fr-FR" dirty="0"/>
              <a:t> :</a:t>
            </a:r>
          </a:p>
          <a:p>
            <a:pPr>
              <a:buFont typeface="Arial" panose="020B0604020202020204" pitchFamily="34" charset="0"/>
              <a:buChar char="•"/>
            </a:pPr>
            <a:r>
              <a:rPr lang="fr-FR" b="1" dirty="0"/>
              <a:t>2 nœuds</a:t>
            </a:r>
            <a:r>
              <a:rPr lang="fr-FR" dirty="0"/>
              <a:t> : </a:t>
            </a:r>
            <a:r>
              <a:rPr lang="fr-FR" b="1" dirty="0"/>
              <a:t>63.05s</a:t>
            </a:r>
            <a:endParaRPr lang="fr-FR" dirty="0"/>
          </a:p>
          <a:p>
            <a:pPr>
              <a:buFont typeface="Arial" panose="020B0604020202020204" pitchFamily="34" charset="0"/>
              <a:buChar char="•"/>
            </a:pPr>
            <a:r>
              <a:rPr lang="fr-FR" b="1" dirty="0"/>
              <a:t>4 nœuds</a:t>
            </a:r>
            <a:r>
              <a:rPr lang="fr-FR" dirty="0"/>
              <a:t> : </a:t>
            </a:r>
            <a:r>
              <a:rPr lang="fr-FR" b="1" dirty="0"/>
              <a:t>60.69s</a:t>
            </a:r>
            <a:br>
              <a:rPr lang="fr-FR" dirty="0"/>
            </a:br>
            <a:r>
              <a:rPr lang="fr-FR" dirty="0"/>
              <a:t>Le temps d'application du PCA diminue légèrement avec 4 nœuds. Cela indique que le PCA bénéficie aussi du parallélisme mais reste </a:t>
            </a:r>
            <a:r>
              <a:rPr lang="fr-FR" b="1" dirty="0"/>
              <a:t>plus coûteux</a:t>
            </a:r>
            <a:r>
              <a:rPr lang="fr-FR" dirty="0"/>
              <a:t> que l'extraction des caractéristiques.</a:t>
            </a:r>
          </a:p>
          <a:p>
            <a:pPr>
              <a:buFont typeface="Arial" panose="020B0604020202020204" pitchFamily="34" charset="0"/>
              <a:buChar char="•"/>
            </a:pPr>
            <a:endParaRPr lang="fr-FR" dirty="0"/>
          </a:p>
          <a:p>
            <a:endParaRPr lang="fr-FR" b="1" dirty="0"/>
          </a:p>
          <a:p>
            <a:r>
              <a:rPr lang="fr-FR" b="1" dirty="0"/>
              <a:t>Conclusions :</a:t>
            </a:r>
          </a:p>
          <a:p>
            <a:pPr>
              <a:buFont typeface="+mj-lt"/>
              <a:buAutoNum type="arabicPeriod"/>
            </a:pPr>
            <a:r>
              <a:rPr lang="fr-FR" b="1" dirty="0"/>
              <a:t>Parallélisme et performance</a:t>
            </a:r>
            <a:r>
              <a:rPr lang="fr-FR" dirty="0"/>
              <a:t> :</a:t>
            </a:r>
            <a:br>
              <a:rPr lang="fr-FR" dirty="0"/>
            </a:br>
            <a:r>
              <a:rPr lang="fr-FR" dirty="0"/>
              <a:t>Ajouter plus de nœuds (passer de 2 à 4) améliore nettement la performance globale, comme le montre la réduction du temps total d'exécution (</a:t>
            </a:r>
            <a:r>
              <a:rPr lang="fr-FR" b="1" dirty="0"/>
              <a:t>192s à 159s</a:t>
            </a:r>
            <a:r>
              <a:rPr lang="fr-FR" dirty="0"/>
              <a:t>).</a:t>
            </a:r>
          </a:p>
          <a:p>
            <a:pPr>
              <a:buFont typeface="+mj-lt"/>
              <a:buAutoNum type="arabicPeriod"/>
            </a:pPr>
            <a:r>
              <a:rPr lang="fr-FR" b="1" dirty="0"/>
              <a:t>Impact du PCA</a:t>
            </a:r>
            <a:r>
              <a:rPr lang="fr-FR" dirty="0"/>
              <a:t> :</a:t>
            </a:r>
          </a:p>
          <a:p>
            <a:pPr marL="742950" lvl="1" indent="-285750">
              <a:buFont typeface="+mj-lt"/>
              <a:buAutoNum type="arabicPeriod"/>
            </a:pPr>
            <a:r>
              <a:rPr lang="fr-FR" dirty="0"/>
              <a:t>Le PCA réduit efficacement la dimensionnalité des vecteurs (</a:t>
            </a:r>
            <a:r>
              <a:rPr lang="fr-FR" b="1" dirty="0"/>
              <a:t>1280 → 50</a:t>
            </a:r>
            <a:r>
              <a:rPr lang="fr-FR" dirty="0"/>
              <a:t>), ce qui accélère le traitement des vecteurs pour les </a:t>
            </a:r>
            <a:r>
              <a:rPr lang="fr-FR" b="1" dirty="0"/>
              <a:t>4 nœuds</a:t>
            </a:r>
            <a:r>
              <a:rPr lang="fr-FR" dirty="0"/>
              <a:t>.</a:t>
            </a:r>
          </a:p>
          <a:p>
            <a:pPr marL="742950" lvl="1" indent="-285750">
              <a:buFont typeface="+mj-lt"/>
              <a:buAutoNum type="arabicPeriod"/>
            </a:pPr>
            <a:r>
              <a:rPr lang="fr-FR" dirty="0"/>
              <a:t>Bien que coûteux à calculer au début (</a:t>
            </a:r>
            <a:r>
              <a:rPr lang="fr-FR" b="1" dirty="0"/>
              <a:t>63s</a:t>
            </a:r>
            <a:r>
              <a:rPr lang="fr-FR" dirty="0"/>
              <a:t>), il devient bénéfique pour le traitement global avec des ressources parallèles.</a:t>
            </a:r>
          </a:p>
          <a:p>
            <a:pPr>
              <a:buFont typeface="+mj-lt"/>
              <a:buAutoNum type="arabicPeriod"/>
            </a:pPr>
            <a:r>
              <a:rPr lang="fr-FR" b="1" dirty="0"/>
              <a:t>Scalabilité</a:t>
            </a:r>
            <a:r>
              <a:rPr lang="fr-FR" dirty="0"/>
              <a:t> :</a:t>
            </a:r>
            <a:br>
              <a:rPr lang="fr-FR" dirty="0"/>
            </a:br>
            <a:r>
              <a:rPr lang="fr-FR" dirty="0"/>
              <a:t>Le système montre une amélioration notable avec l'augmentation des nœuds. Cela prouve que le code est capable d'exploiter efficacement les ressources parallèles.</a:t>
            </a:r>
          </a:p>
          <a:p>
            <a:endParaRPr lang="fr-FR" b="1" dirty="0"/>
          </a:p>
          <a:p>
            <a:endParaRPr lang="fr-FR" b="1" dirty="0"/>
          </a:p>
          <a:p>
            <a:r>
              <a:rPr lang="fr-FR" b="1" dirty="0"/>
              <a:t>Pourquoi "réduit la taille des données après PCA" ?</a:t>
            </a:r>
          </a:p>
          <a:p>
            <a:pPr>
              <a:buFont typeface="Arial" panose="020B0604020202020204" pitchFamily="34" charset="0"/>
              <a:buChar char="•"/>
            </a:pPr>
            <a:r>
              <a:rPr lang="fr-FR" dirty="0"/>
              <a:t>Avant PCA : Chaque image est représentée par un vecteur de </a:t>
            </a:r>
            <a:r>
              <a:rPr lang="fr-FR" b="1" dirty="0"/>
              <a:t>1280 dimensions</a:t>
            </a:r>
            <a:r>
              <a:rPr lang="fr-FR" dirty="0"/>
              <a:t>.</a:t>
            </a:r>
          </a:p>
          <a:p>
            <a:pPr>
              <a:buFont typeface="Arial" panose="020B0604020202020204" pitchFamily="34" charset="0"/>
              <a:buChar char="•"/>
            </a:pPr>
            <a:r>
              <a:rPr lang="fr-FR" dirty="0"/>
              <a:t>Après PCA : Chaque image est représentée par </a:t>
            </a:r>
            <a:r>
              <a:rPr lang="fr-FR" b="1" dirty="0"/>
              <a:t>50 dimensions</a:t>
            </a:r>
            <a:r>
              <a:rPr lang="fr-FR" dirty="0"/>
              <a:t>.</a:t>
            </a:r>
          </a:p>
          <a:p>
            <a:r>
              <a:rPr lang="fr-FR" b="1" dirty="0"/>
              <a:t>Conséquences</a:t>
            </a:r>
            <a:r>
              <a:rPr lang="fr-FR" dirty="0"/>
              <a:t> :</a:t>
            </a:r>
          </a:p>
          <a:p>
            <a:pPr>
              <a:buFont typeface="+mj-lt"/>
              <a:buAutoNum type="arabicPeriod"/>
            </a:pPr>
            <a:r>
              <a:rPr lang="fr-FR" dirty="0"/>
              <a:t>Les </a:t>
            </a:r>
            <a:r>
              <a:rPr lang="fr-FR" b="1" dirty="0"/>
              <a:t>données finales sont plus petites</a:t>
            </a:r>
            <a:r>
              <a:rPr lang="fr-FR" dirty="0"/>
              <a:t> en taille mémoire.</a:t>
            </a:r>
          </a:p>
          <a:p>
            <a:pPr>
              <a:buFont typeface="+mj-lt"/>
              <a:buAutoNum type="arabicPeriod"/>
            </a:pPr>
            <a:r>
              <a:rPr lang="fr-FR" dirty="0"/>
              <a:t>Les </a:t>
            </a:r>
            <a:r>
              <a:rPr lang="fr-FR" b="1" dirty="0"/>
              <a:t>calculs suivants</a:t>
            </a:r>
            <a:r>
              <a:rPr lang="fr-FR" dirty="0"/>
              <a:t> (comme la classification ou l’analyse) sont plus rapides car ils s’appliquent à un vecteur beaucoup plus petit.</a:t>
            </a:r>
          </a:p>
          <a:p>
            <a:pPr>
              <a:buFont typeface="+mj-lt"/>
              <a:buAutoNum type="arabicPeriod"/>
            </a:pPr>
            <a:endParaRPr lang="fr-FR" dirty="0"/>
          </a:p>
          <a:p>
            <a:endParaRPr lang="fr-FR" dirty="0"/>
          </a:p>
        </p:txBody>
      </p:sp>
    </p:spTree>
    <p:extLst>
      <p:ext uri="{BB962C8B-B14F-4D97-AF65-F5344CB8AC3E}">
        <p14:creationId xmlns:p14="http://schemas.microsoft.com/office/powerpoint/2010/main" val="1051536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98530-28B0-238F-8BED-4A44B37B6A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F03A0CC-A387-C60F-8B54-19927DA1F23A}"/>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36AF2E67-8DE0-691D-B1FD-D479F554F0DA}"/>
              </a:ext>
            </a:extLst>
          </p:cNvPr>
          <p:cNvSpPr>
            <a:spLocks noGrp="1"/>
          </p:cNvSpPr>
          <p:nvPr>
            <p:ph type="body" idx="1"/>
          </p:nvPr>
        </p:nvSpPr>
        <p:spPr/>
        <p:txBody>
          <a:bodyPr/>
          <a:lstStyle/>
          <a:p>
            <a:r>
              <a:rPr lang="fr-FR" b="1" dirty="0"/>
              <a:t>Intérêt d’une réduction de dimension avec PCA</a:t>
            </a:r>
          </a:p>
          <a:p>
            <a:r>
              <a:rPr lang="fr-FR" dirty="0"/>
              <a:t>La </a:t>
            </a:r>
            <a:r>
              <a:rPr lang="fr-FR" b="1" dirty="0"/>
              <a:t>réduction de dimension</a:t>
            </a:r>
            <a:r>
              <a:rPr lang="fr-FR" dirty="0"/>
              <a:t> est une méthode qui permet de simplifier les jeux de données tout en conservant les informations les plus importantes. PCA (</a:t>
            </a:r>
            <a:r>
              <a:rPr lang="fr-FR" b="1" dirty="0"/>
              <a:t>Principal Component </a:t>
            </a:r>
            <a:r>
              <a:rPr lang="fr-FR" b="1" dirty="0" err="1"/>
              <a:t>Analysis</a:t>
            </a:r>
            <a:r>
              <a:rPr lang="fr-FR" dirty="0"/>
              <a:t>) est une technique couramment utilisée.</a:t>
            </a:r>
          </a:p>
          <a:p>
            <a:r>
              <a:rPr lang="fr-FR" b="1" dirty="0"/>
              <a:t>Objectif :</a:t>
            </a:r>
          </a:p>
          <a:p>
            <a:pPr>
              <a:buFont typeface="Arial" panose="020B0604020202020204" pitchFamily="34" charset="0"/>
              <a:buChar char="•"/>
            </a:pPr>
            <a:r>
              <a:rPr lang="fr-FR" b="1" dirty="0"/>
              <a:t>Simplifier les données</a:t>
            </a:r>
            <a:r>
              <a:rPr lang="fr-FR" dirty="0"/>
              <a:t> : Réduire le nombre de variables (colonnes) tout en minimisant la perte d'information.</a:t>
            </a:r>
          </a:p>
          <a:p>
            <a:pPr>
              <a:buFont typeface="Arial" panose="020B0604020202020204" pitchFamily="34" charset="0"/>
              <a:buChar char="•"/>
            </a:pPr>
            <a:r>
              <a:rPr lang="fr-FR" b="1" dirty="0"/>
              <a:t>Améliorer les performances</a:t>
            </a:r>
            <a:r>
              <a:rPr lang="fr-FR" dirty="0"/>
              <a:t> : Réduire la complexité des calculs dans les algorithmes d’analyse ou d’apprentissage machine.</a:t>
            </a:r>
          </a:p>
          <a:p>
            <a:pPr>
              <a:buFont typeface="Arial" panose="020B0604020202020204" pitchFamily="34" charset="0"/>
              <a:buChar char="•"/>
            </a:pPr>
            <a:r>
              <a:rPr lang="fr-FR" b="1" dirty="0"/>
              <a:t>Éliminer la redondance</a:t>
            </a:r>
            <a:r>
              <a:rPr lang="fr-FR" dirty="0"/>
              <a:t> : Supprimer les corrélations entre les variables.</a:t>
            </a:r>
          </a:p>
          <a:p>
            <a:pPr>
              <a:buFont typeface="Arial" panose="020B0604020202020204" pitchFamily="34" charset="0"/>
              <a:buChar char="•"/>
            </a:pPr>
            <a:r>
              <a:rPr lang="fr-FR" b="1" dirty="0"/>
              <a:t>Préparer les données pour un traitement distribué</a:t>
            </a:r>
            <a:r>
              <a:rPr lang="fr-FR" dirty="0"/>
              <a:t>.</a:t>
            </a:r>
          </a:p>
          <a:p>
            <a:r>
              <a:rPr lang="fr-FR" b="1" dirty="0"/>
              <a:t>3. Pourquoi écrire au format Parquet ?</a:t>
            </a:r>
          </a:p>
          <a:p>
            <a:r>
              <a:rPr lang="fr-FR" dirty="0"/>
              <a:t>Le format </a:t>
            </a:r>
            <a:r>
              <a:rPr lang="fr-FR" b="1" dirty="0"/>
              <a:t>Parquet</a:t>
            </a:r>
            <a:r>
              <a:rPr lang="fr-FR" dirty="0"/>
              <a:t> est un format de stockage </a:t>
            </a:r>
            <a:r>
              <a:rPr lang="fr-FR" b="1" dirty="0"/>
              <a:t>colonnaire</a:t>
            </a:r>
            <a:r>
              <a:rPr lang="fr-FR" dirty="0"/>
              <a:t> optimisé pour les systèmes de traitement Big Data comme Spark.</a:t>
            </a:r>
          </a:p>
          <a:p>
            <a:r>
              <a:rPr lang="fr-FR" b="1" dirty="0"/>
              <a:t>Avantages du format Parquet :</a:t>
            </a:r>
          </a:p>
          <a:p>
            <a:pPr marL="457200" indent="-298450"/>
            <a:r>
              <a:rPr lang="fr-FR" b="1" dirty="0"/>
              <a:t>Compression efficace</a:t>
            </a:r>
            <a:r>
              <a:rPr lang="fr-FR" dirty="0"/>
              <a:t> :</a:t>
            </a:r>
          </a:p>
          <a:p>
            <a:pPr marL="742950" lvl="1" indent="-285750"/>
            <a:r>
              <a:rPr lang="fr-FR" dirty="0"/>
              <a:t>Les données colonnaires se compressent mieux que les formats lignes comme CSV.</a:t>
            </a:r>
          </a:p>
          <a:p>
            <a:pPr marL="742950" lvl="1" indent="-285750"/>
            <a:r>
              <a:rPr lang="fr-FR" dirty="0"/>
              <a:t>Cela réduit l’espace de stockage et les coûts sur S3, HDFS, etc.</a:t>
            </a:r>
          </a:p>
          <a:p>
            <a:pPr marL="457200" indent="-298450"/>
            <a:r>
              <a:rPr lang="fr-FR" b="1" dirty="0"/>
              <a:t>Lecture rapide</a:t>
            </a:r>
            <a:r>
              <a:rPr lang="fr-FR" dirty="0"/>
              <a:t> :</a:t>
            </a:r>
          </a:p>
          <a:p>
            <a:pPr marL="742950" lvl="1" indent="-285750"/>
            <a:r>
              <a:rPr lang="fr-FR" dirty="0"/>
              <a:t>Spark (et autres moteurs de calcul) peut lire uniquement les </a:t>
            </a:r>
            <a:r>
              <a:rPr lang="fr-FR" b="1" dirty="0"/>
              <a:t>colonnes nécessaires</a:t>
            </a:r>
            <a:r>
              <a:rPr lang="fr-FR" dirty="0"/>
              <a:t>, accélérant le traitement.</a:t>
            </a:r>
          </a:p>
          <a:p>
            <a:pPr marL="457200" indent="-298450"/>
            <a:r>
              <a:rPr lang="fr-FR" b="1" dirty="0"/>
              <a:t>Adapté au Big Data</a:t>
            </a:r>
            <a:r>
              <a:rPr lang="fr-FR" dirty="0"/>
              <a:t> :</a:t>
            </a:r>
          </a:p>
          <a:p>
            <a:pPr marL="742950" lvl="1" indent="-285750"/>
            <a:r>
              <a:rPr lang="fr-FR" dirty="0"/>
              <a:t>Supporte des schémas complexes (nids, hiérarchies).</a:t>
            </a:r>
          </a:p>
          <a:p>
            <a:pPr marL="742950" lvl="1" indent="-285750"/>
            <a:r>
              <a:rPr lang="fr-FR" dirty="0"/>
              <a:t>Compatible avec les systèmes </a:t>
            </a:r>
            <a:r>
              <a:rPr lang="fr-FR" b="1" dirty="0"/>
              <a:t>distribués</a:t>
            </a:r>
            <a:r>
              <a:rPr lang="fr-FR" dirty="0"/>
              <a:t> comme Spark et Hadoop.</a:t>
            </a:r>
          </a:p>
          <a:p>
            <a:pPr marL="457200" indent="-298450"/>
            <a:r>
              <a:rPr lang="fr-FR" b="1" dirty="0"/>
              <a:t>Compatibilité avec d’autres outils</a:t>
            </a:r>
            <a:r>
              <a:rPr lang="fr-FR" dirty="0"/>
              <a:t> :</a:t>
            </a:r>
          </a:p>
          <a:p>
            <a:pPr marL="742950" lvl="1" indent="-285750"/>
            <a:r>
              <a:rPr lang="fr-FR" dirty="0"/>
              <a:t>Parquet est pris en charge par Spark, </a:t>
            </a:r>
            <a:r>
              <a:rPr lang="fr-FR" dirty="0" err="1"/>
              <a:t>Hive</a:t>
            </a:r>
            <a:r>
              <a:rPr lang="fr-FR" dirty="0"/>
              <a:t>, Presto, AWS </a:t>
            </a:r>
            <a:r>
              <a:rPr lang="fr-FR" dirty="0" err="1"/>
              <a:t>Athena</a:t>
            </a:r>
            <a:r>
              <a:rPr lang="fr-FR" dirty="0"/>
              <a:t>, etc.</a:t>
            </a:r>
          </a:p>
          <a:p>
            <a:pPr marL="742950" lvl="1" indent="-285750"/>
            <a:endParaRPr lang="fr-FR" dirty="0"/>
          </a:p>
          <a:p>
            <a:pPr marL="158750" indent="0">
              <a:buNone/>
            </a:pPr>
            <a:r>
              <a:rPr lang="fr-FR" b="1" dirty="0"/>
              <a:t>Comparaison PCA vs PCA Spark en termes de temps</a:t>
            </a:r>
          </a:p>
          <a:p>
            <a:pPr marL="158750" indent="0">
              <a:buNone/>
            </a:pPr>
            <a:r>
              <a:rPr lang="fr-FR" b="1" dirty="0"/>
              <a:t>PCA Standard (en local)</a:t>
            </a:r>
          </a:p>
          <a:p>
            <a:pPr marL="158750" indent="0">
              <a:buFont typeface="Arial" panose="020B0604020202020204" pitchFamily="34" charset="0"/>
              <a:buNone/>
            </a:pPr>
            <a:r>
              <a:rPr lang="fr-FR" b="1" dirty="0"/>
              <a:t>Fonctionnement</a:t>
            </a:r>
            <a:r>
              <a:rPr lang="fr-FR" dirty="0"/>
              <a:t> :</a:t>
            </a:r>
          </a:p>
          <a:p>
            <a:pPr marL="457200" lvl="1" indent="0">
              <a:buFont typeface="Arial" panose="020B0604020202020204" pitchFamily="34" charset="0"/>
              <a:buNone/>
            </a:pPr>
            <a:r>
              <a:rPr lang="fr-FR" dirty="0"/>
              <a:t>Calcul de la matrice de covariance sur une seule machine.</a:t>
            </a:r>
          </a:p>
          <a:p>
            <a:pPr marL="457200" lvl="1" indent="0">
              <a:buFont typeface="Arial" panose="020B0604020202020204" pitchFamily="34" charset="0"/>
              <a:buNone/>
            </a:pPr>
            <a:r>
              <a:rPr lang="fr-FR" dirty="0"/>
              <a:t>Calcul de la décomposition SVD pour extraire les composantes principales.</a:t>
            </a:r>
          </a:p>
          <a:p>
            <a:pPr marL="158750" indent="0">
              <a:buFont typeface="Arial" panose="020B0604020202020204" pitchFamily="34" charset="0"/>
              <a:buNone/>
            </a:pPr>
            <a:r>
              <a:rPr lang="fr-FR" b="1" dirty="0"/>
              <a:t>Limite</a:t>
            </a:r>
            <a:r>
              <a:rPr lang="fr-FR" dirty="0"/>
              <a:t> :</a:t>
            </a:r>
          </a:p>
          <a:p>
            <a:pPr marL="457200" lvl="1" indent="0">
              <a:buFont typeface="Arial" panose="020B0604020202020204" pitchFamily="34" charset="0"/>
              <a:buNone/>
            </a:pPr>
            <a:r>
              <a:rPr lang="fr-FR" b="1" dirty="0"/>
              <a:t>Pas scalable</a:t>
            </a:r>
            <a:r>
              <a:rPr lang="fr-FR" dirty="0"/>
              <a:t> pour les gros </a:t>
            </a:r>
            <a:r>
              <a:rPr lang="fr-FR" dirty="0" err="1"/>
              <a:t>datasets</a:t>
            </a:r>
            <a:r>
              <a:rPr lang="fr-FR" dirty="0"/>
              <a:t>.</a:t>
            </a:r>
          </a:p>
          <a:p>
            <a:pPr marL="457200" lvl="1" indent="0">
              <a:buFont typeface="Arial" panose="020B0604020202020204" pitchFamily="34" charset="0"/>
              <a:buNone/>
            </a:pPr>
            <a:r>
              <a:rPr lang="fr-FR" dirty="0"/>
              <a:t>Temps de calcul exponentiel avec l'augmentation des dimensions.</a:t>
            </a:r>
          </a:p>
          <a:p>
            <a:pPr marL="158750" indent="0">
              <a:buNone/>
            </a:pPr>
            <a:r>
              <a:rPr lang="fr-FR" b="1" dirty="0"/>
              <a:t>PCA avec </a:t>
            </a:r>
            <a:r>
              <a:rPr lang="fr-FR" b="1" dirty="0" err="1"/>
              <a:t>PySpark</a:t>
            </a:r>
            <a:r>
              <a:rPr lang="fr-FR" b="1" dirty="0"/>
              <a:t> (</a:t>
            </a:r>
            <a:r>
              <a:rPr lang="fr-FR" b="1" dirty="0" err="1"/>
              <a:t>PCASpark</a:t>
            </a:r>
            <a:r>
              <a:rPr lang="fr-FR" b="1" dirty="0"/>
              <a:t>)</a:t>
            </a:r>
          </a:p>
          <a:p>
            <a:pPr marL="158750" indent="0">
              <a:buFont typeface="Arial" panose="020B0604020202020204" pitchFamily="34" charset="0"/>
              <a:buNone/>
            </a:pPr>
            <a:r>
              <a:rPr lang="fr-FR" b="1" dirty="0"/>
              <a:t>Fonctionnement</a:t>
            </a:r>
            <a:r>
              <a:rPr lang="fr-FR" dirty="0"/>
              <a:t> :</a:t>
            </a:r>
          </a:p>
          <a:p>
            <a:pPr marL="457200" lvl="1" indent="0">
              <a:buFont typeface="Arial" panose="020B0604020202020204" pitchFamily="34" charset="0"/>
              <a:buNone/>
            </a:pPr>
            <a:r>
              <a:rPr lang="fr-FR" dirty="0"/>
              <a:t>Utilise </a:t>
            </a:r>
            <a:r>
              <a:rPr lang="fr-FR" b="1" dirty="0" err="1"/>
              <a:t>PySpark</a:t>
            </a:r>
            <a:r>
              <a:rPr lang="fr-FR" b="1" dirty="0"/>
              <a:t> </a:t>
            </a:r>
            <a:r>
              <a:rPr lang="fr-FR" b="1" dirty="0" err="1"/>
              <a:t>MLlib</a:t>
            </a:r>
            <a:r>
              <a:rPr lang="fr-FR" dirty="0"/>
              <a:t> pour </a:t>
            </a:r>
            <a:r>
              <a:rPr lang="fr-FR" b="1" dirty="0"/>
              <a:t>distribuer</a:t>
            </a:r>
            <a:r>
              <a:rPr lang="fr-FR" dirty="0"/>
              <a:t> les calculs sur plusieurs nœuds du cluster.</a:t>
            </a:r>
          </a:p>
          <a:p>
            <a:pPr marL="457200" lvl="1" indent="0">
              <a:buFont typeface="Arial" panose="020B0604020202020204" pitchFamily="34" charset="0"/>
              <a:buNone/>
            </a:pPr>
            <a:r>
              <a:rPr lang="fr-FR" dirty="0"/>
              <a:t>Chaque </a:t>
            </a:r>
            <a:r>
              <a:rPr lang="fr-FR" b="1" dirty="0"/>
              <a:t>partition</a:t>
            </a:r>
            <a:r>
              <a:rPr lang="fr-FR" dirty="0"/>
              <a:t> de données est traitée </a:t>
            </a:r>
            <a:r>
              <a:rPr lang="fr-FR" b="1" dirty="0"/>
              <a:t>en parallèle</a:t>
            </a:r>
            <a:r>
              <a:rPr lang="fr-FR" dirty="0"/>
              <a:t>.</a:t>
            </a:r>
          </a:p>
          <a:p>
            <a:pPr marL="158750" indent="0">
              <a:buFont typeface="Arial" panose="020B0604020202020204" pitchFamily="34" charset="0"/>
              <a:buNone/>
            </a:pPr>
            <a:r>
              <a:rPr lang="fr-FR" b="1" dirty="0"/>
              <a:t>Avantage</a:t>
            </a:r>
            <a:r>
              <a:rPr lang="fr-FR" dirty="0"/>
              <a:t> :</a:t>
            </a:r>
          </a:p>
          <a:p>
            <a:pPr marL="742950" lvl="1" indent="-285750">
              <a:buFont typeface="Arial" panose="020B0604020202020204" pitchFamily="34" charset="0"/>
              <a:buChar char="•"/>
            </a:pPr>
            <a:r>
              <a:rPr lang="fr-FR" b="1" dirty="0"/>
              <a:t>Scalabilité</a:t>
            </a:r>
            <a:r>
              <a:rPr lang="fr-FR" dirty="0"/>
              <a:t> : Peut traiter des </a:t>
            </a:r>
            <a:r>
              <a:rPr lang="fr-FR" dirty="0" err="1"/>
              <a:t>datasets</a:t>
            </a:r>
            <a:r>
              <a:rPr lang="fr-FR" dirty="0"/>
              <a:t> volumineux (TB).</a:t>
            </a:r>
          </a:p>
          <a:p>
            <a:pPr marL="742950" lvl="1" indent="-285750">
              <a:buFont typeface="Arial" panose="020B0604020202020204" pitchFamily="34" charset="0"/>
              <a:buChar char="•"/>
            </a:pPr>
            <a:r>
              <a:rPr lang="fr-FR" b="1" dirty="0"/>
              <a:t>Performance</a:t>
            </a:r>
            <a:r>
              <a:rPr lang="fr-FR" dirty="0"/>
              <a:t> : Réduit le temps de calcul grâce au traitement parallèle.</a:t>
            </a:r>
          </a:p>
          <a:p>
            <a:pPr marL="742950" lvl="1" indent="-285750"/>
            <a:endParaRPr lang="fr-FR"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fr-FR" dirty="0"/>
          </a:p>
        </p:txBody>
      </p:sp>
    </p:spTree>
    <p:extLst>
      <p:ext uri="{BB962C8B-B14F-4D97-AF65-F5344CB8AC3E}">
        <p14:creationId xmlns:p14="http://schemas.microsoft.com/office/powerpoint/2010/main" val="415688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effectLst/>
                <a:latin typeface="Menlo" panose="020B0609030804020204" pitchFamily="49" charset="0"/>
              </a:rPr>
              <a:t>• • </a:t>
            </a:r>
            <a:r>
              <a:rPr lang="fr-FR" dirty="0">
                <a:effectLst/>
                <a:latin typeface="Helvetica Neue" panose="02000503000000020004" pitchFamily="2" charset="0"/>
              </a:rPr>
              <a:t>les données sont stockées, et les traitements sont réalisés, sur des serveurs situés sur le territoire européen</a:t>
            </a:r>
          </a:p>
          <a:p>
            <a:pPr algn="l"/>
            <a:endParaRPr lang="fr-FR" b="1" i="0" dirty="0">
              <a:solidFill>
                <a:srgbClr val="000000"/>
              </a:solidFill>
              <a:effectLst/>
              <a:latin typeface="system-ui"/>
            </a:endParaRPr>
          </a:p>
          <a:p>
            <a:pPr algn="l"/>
            <a:endParaRPr lang="fr-FR" b="1" i="0" dirty="0">
              <a:solidFill>
                <a:srgbClr val="000000"/>
              </a:solidFill>
              <a:effectLst/>
              <a:latin typeface="system-ui"/>
            </a:endParaRPr>
          </a:p>
          <a:p>
            <a:pPr algn="l"/>
            <a:r>
              <a:rPr lang="fr-FR" b="1" i="0" dirty="0">
                <a:solidFill>
                  <a:srgbClr val="000000"/>
                </a:solidFill>
                <a:effectLst/>
                <a:latin typeface="system-ui"/>
              </a:rPr>
              <a:t>Compatibilité EMR/Local :Le code détecte automatiquement l'environnement et adapte les paramètres. Pour un cluster EMR, l'accès aux fichiers sera souvent via S3 (s3a://), tandis qu'en local, les fichiers sont lus depuis le système de fichiers local. Diffusion des poids avec Broadcast :</a:t>
            </a:r>
          </a:p>
          <a:p>
            <a:pPr algn="l"/>
            <a:r>
              <a:rPr lang="fr-FR" b="1" i="0" dirty="0">
                <a:solidFill>
                  <a:srgbClr val="000000"/>
                </a:solidFill>
                <a:effectLst/>
                <a:latin typeface="system-ui"/>
              </a:rPr>
              <a:t>Les poids du modèle MobileNetV2 sont diffusés aux </a:t>
            </a:r>
            <a:r>
              <a:rPr lang="fr-FR" b="1" i="0" dirty="0" err="1">
                <a:solidFill>
                  <a:srgbClr val="000000"/>
                </a:solidFill>
                <a:effectLst/>
                <a:latin typeface="system-ui"/>
              </a:rPr>
              <a:t>workers</a:t>
            </a:r>
            <a:r>
              <a:rPr lang="fr-FR" b="1" i="0" dirty="0">
                <a:solidFill>
                  <a:srgbClr val="000000"/>
                </a:solidFill>
                <a:effectLst/>
                <a:latin typeface="system-ui"/>
              </a:rPr>
              <a:t> à l'aide de broadcast, permettant à chaque </a:t>
            </a:r>
            <a:r>
              <a:rPr lang="fr-FR" b="1" i="0" dirty="0" err="1">
                <a:solidFill>
                  <a:srgbClr val="000000"/>
                </a:solidFill>
                <a:effectLst/>
                <a:latin typeface="system-ui"/>
              </a:rPr>
              <a:t>worker</a:t>
            </a:r>
            <a:r>
              <a:rPr lang="fr-FR" b="1" i="0" dirty="0">
                <a:solidFill>
                  <a:srgbClr val="000000"/>
                </a:solidFill>
                <a:effectLst/>
                <a:latin typeface="system-ui"/>
              </a:rPr>
              <a:t> de les utiliser sans les recharger à chaque appel. Pandas UDF :</a:t>
            </a:r>
          </a:p>
          <a:p>
            <a:pPr algn="l"/>
            <a:r>
              <a:rPr lang="fr-FR" b="1" i="0" dirty="0">
                <a:solidFill>
                  <a:srgbClr val="000000"/>
                </a:solidFill>
                <a:effectLst/>
                <a:latin typeface="system-ui"/>
              </a:rPr>
              <a:t>Les </a:t>
            </a:r>
            <a:r>
              <a:rPr lang="fr-FR" b="1" i="0" dirty="0" err="1">
                <a:solidFill>
                  <a:srgbClr val="000000"/>
                </a:solidFill>
                <a:effectLst/>
                <a:latin typeface="system-ui"/>
              </a:rPr>
              <a:t>pandas_udf</a:t>
            </a:r>
            <a:r>
              <a:rPr lang="fr-FR" b="1" i="0" dirty="0">
                <a:solidFill>
                  <a:srgbClr val="000000"/>
                </a:solidFill>
                <a:effectLst/>
                <a:latin typeface="system-ui"/>
              </a:rPr>
              <a:t> permettent de traiter les images par lots, améliorant ainsi la performance en réduisant le nombre d'appels au modèle. </a:t>
            </a:r>
            <a:r>
              <a:rPr lang="fr-FR" b="1" i="0" dirty="0" err="1">
                <a:solidFill>
                  <a:srgbClr val="000000"/>
                </a:solidFill>
                <a:effectLst/>
                <a:latin typeface="system-ui"/>
              </a:rPr>
              <a:t>Repartition</a:t>
            </a:r>
            <a:r>
              <a:rPr lang="fr-FR" b="1" i="0" dirty="0">
                <a:solidFill>
                  <a:srgbClr val="000000"/>
                </a:solidFill>
                <a:effectLst/>
                <a:latin typeface="system-ui"/>
              </a:rPr>
              <a:t> et Parquet :</a:t>
            </a:r>
          </a:p>
          <a:p>
            <a:pPr algn="l"/>
            <a:r>
              <a:rPr lang="fr-FR" b="1" i="0" dirty="0">
                <a:solidFill>
                  <a:srgbClr val="000000"/>
                </a:solidFill>
                <a:effectLst/>
                <a:latin typeface="system-ui"/>
              </a:rPr>
              <a:t>L'option </a:t>
            </a:r>
            <a:r>
              <a:rPr lang="fr-FR" b="1" i="0" dirty="0" err="1">
                <a:solidFill>
                  <a:srgbClr val="000000"/>
                </a:solidFill>
                <a:effectLst/>
                <a:latin typeface="system-ui"/>
              </a:rPr>
              <a:t>repartition</a:t>
            </a:r>
            <a:r>
              <a:rPr lang="fr-FR" b="1" i="0" dirty="0">
                <a:solidFill>
                  <a:srgbClr val="000000"/>
                </a:solidFill>
                <a:effectLst/>
                <a:latin typeface="system-ui"/>
              </a:rPr>
              <a:t> optimise la répartition des données avant les calculs. Le format Parquet est utilisé pour sauvegarder les résultats intermédiaires, car il est plus performant que CSV pour les tâches Spark.</a:t>
            </a:r>
          </a:p>
          <a:p>
            <a:pPr algn="l"/>
            <a:endParaRPr lang="fr-FR" b="1" i="0" dirty="0">
              <a:solidFill>
                <a:srgbClr val="000000"/>
              </a:solidFill>
              <a:effectLst/>
              <a:latin typeface="system-ui"/>
            </a:endParaRPr>
          </a:p>
          <a:p>
            <a:pPr algn="l"/>
            <a:br>
              <a:rPr lang="fr-FR" b="0" i="1" dirty="0">
                <a:effectLst/>
                <a:latin typeface="inherit"/>
              </a:rPr>
            </a:br>
            <a:r>
              <a:rPr lang="fr-FR" b="0" i="1" dirty="0">
                <a:effectLst/>
                <a:latin typeface="inherit"/>
              </a:rPr>
              <a:t>#!</a:t>
            </a:r>
            <a:r>
              <a:rPr lang="fr-FR" b="0" i="1" dirty="0" err="1">
                <a:effectLst/>
                <a:latin typeface="inherit"/>
              </a:rPr>
              <a:t>pip</a:t>
            </a:r>
            <a:r>
              <a:rPr lang="fr-FR" b="0" i="1" dirty="0">
                <a:effectLst/>
                <a:latin typeface="inherit"/>
              </a:rPr>
              <a:t> </a:t>
            </a:r>
            <a:r>
              <a:rPr lang="fr-FR" b="0" i="1" dirty="0" err="1">
                <a:effectLst/>
                <a:latin typeface="inherit"/>
              </a:rPr>
              <a:t>install</a:t>
            </a:r>
            <a:r>
              <a:rPr lang="fr-FR" b="0" i="1" dirty="0">
                <a:effectLst/>
                <a:latin typeface="inherit"/>
              </a:rPr>
              <a:t> Pandas </a:t>
            </a:r>
            <a:r>
              <a:rPr lang="fr-FR" b="0" i="1" dirty="0" err="1">
                <a:effectLst/>
                <a:latin typeface="inherit"/>
              </a:rPr>
              <a:t>pillow</a:t>
            </a:r>
            <a:r>
              <a:rPr lang="fr-FR" b="0" i="1" dirty="0">
                <a:effectLst/>
                <a:latin typeface="inherit"/>
              </a:rPr>
              <a:t> </a:t>
            </a:r>
            <a:r>
              <a:rPr lang="fr-FR" b="0" i="1" dirty="0" err="1">
                <a:effectLst/>
                <a:latin typeface="inherit"/>
              </a:rPr>
              <a:t>tensorflow</a:t>
            </a:r>
            <a:r>
              <a:rPr lang="fr-FR" b="0" i="1" dirty="0">
                <a:effectLst/>
                <a:latin typeface="inherit"/>
              </a:rPr>
              <a:t> </a:t>
            </a:r>
            <a:r>
              <a:rPr lang="fr-FR" b="0" i="1" dirty="0" err="1">
                <a:effectLst/>
                <a:latin typeface="inherit"/>
              </a:rPr>
              <a:t>pyspark</a:t>
            </a:r>
            <a:r>
              <a:rPr lang="fr-FR" b="0" i="1" dirty="0">
                <a:effectLst/>
                <a:latin typeface="inherit"/>
              </a:rPr>
              <a:t> </a:t>
            </a:r>
            <a:r>
              <a:rPr lang="fr-FR" b="0" i="1" dirty="0" err="1">
                <a:effectLst/>
                <a:latin typeface="inherit"/>
              </a:rPr>
              <a:t>pyarrow</a:t>
            </a:r>
            <a:endParaRPr lang="fr-FR" b="0" i="0" dirty="0">
              <a:effectLst/>
              <a:latin typeface="inherit"/>
            </a:endParaRPr>
          </a:p>
          <a:p>
            <a:pPr algn="l">
              <a:spcAft>
                <a:spcPts val="750"/>
              </a:spcAft>
            </a:pPr>
            <a:r>
              <a:rPr lang="fr-FR" b="0" i="0" dirty="0">
                <a:solidFill>
                  <a:srgbClr val="000000"/>
                </a:solidFill>
                <a:effectLst/>
                <a:latin typeface="var(--jp-content-font-family)"/>
              </a:rPr>
              <a:t>Un cluster est un ensemble de machines (nœuds) qui travaillent ensemble.</a:t>
            </a:r>
            <a:br>
              <a:rPr lang="fr-FR" b="0" i="0" dirty="0">
                <a:solidFill>
                  <a:srgbClr val="000000"/>
                </a:solidFill>
                <a:effectLst/>
                <a:latin typeface="var(--jp-content-font-family)"/>
              </a:rPr>
            </a:br>
            <a:br>
              <a:rPr lang="fr-FR" b="0" i="0" dirty="0">
                <a:solidFill>
                  <a:srgbClr val="000000"/>
                </a:solidFill>
                <a:effectLst/>
                <a:latin typeface="var(--jp-content-font-family)"/>
              </a:rPr>
            </a:br>
            <a:r>
              <a:rPr lang="fr-FR" b="0" i="0" dirty="0">
                <a:solidFill>
                  <a:srgbClr val="000000"/>
                </a:solidFill>
                <a:effectLst/>
                <a:latin typeface="var(--jp-content-font-family)"/>
              </a:rPr>
              <a:t>Un nœud est une machine individuelle qui fait partie du cluster.</a:t>
            </a:r>
            <a:br>
              <a:rPr lang="fr-FR" b="0" i="0" dirty="0">
                <a:solidFill>
                  <a:srgbClr val="000000"/>
                </a:solidFill>
                <a:effectLst/>
                <a:latin typeface="var(--jp-content-font-family)"/>
              </a:rPr>
            </a:br>
            <a:br>
              <a:rPr lang="fr-FR" b="0" i="0" dirty="0">
                <a:solidFill>
                  <a:srgbClr val="000000"/>
                </a:solidFill>
                <a:effectLst/>
                <a:latin typeface="var(--jp-content-font-family)"/>
              </a:rPr>
            </a:br>
            <a:r>
              <a:rPr lang="fr-FR" b="0" i="0" dirty="0">
                <a:solidFill>
                  <a:srgbClr val="000000"/>
                </a:solidFill>
                <a:effectLst/>
                <a:latin typeface="var(--jp-content-font-family)"/>
              </a:rPr>
              <a:t>Un cœur est une unité de traitement à l'intérieur de chaque nœud.</a:t>
            </a:r>
          </a:p>
          <a:p>
            <a:pPr algn="l">
              <a:spcAft>
                <a:spcPts val="750"/>
              </a:spcAft>
            </a:pPr>
            <a:r>
              <a:rPr lang="fr-FR" b="0" i="0" dirty="0">
                <a:solidFill>
                  <a:srgbClr val="000000"/>
                </a:solidFill>
                <a:effectLst/>
                <a:latin typeface="var(--jp-content-font-family)"/>
              </a:rPr>
              <a:t>Les Instances EC2 sur EMR : EC2 est le service d'AWS qui permet de créer des machines virtuelles.</a:t>
            </a:r>
          </a:p>
          <a:p>
            <a:pPr algn="l">
              <a:spcAft>
                <a:spcPts val="750"/>
              </a:spcAft>
            </a:pPr>
            <a:r>
              <a:rPr lang="fr-FR" b="0" i="0" dirty="0">
                <a:solidFill>
                  <a:srgbClr val="000000"/>
                </a:solidFill>
                <a:effectLst/>
                <a:latin typeface="var(--jp-content-font-family)"/>
              </a:rPr>
              <a:t>En créant un cluster EMR, ce sont en fait des instances EC2 qui sont utilisées comme nœuds pour le cluster. On va tester avec 2 configurations différentes (2 EC2, puis 4 EC2) pour exécuter Spark job avec différentes tailles de clusters.</a:t>
            </a:r>
          </a:p>
          <a:p>
            <a:pPr algn="l">
              <a:spcAft>
                <a:spcPts val="750"/>
              </a:spcAft>
            </a:pPr>
            <a:r>
              <a:rPr lang="fr-FR" b="0" i="0" dirty="0">
                <a:solidFill>
                  <a:srgbClr val="000000"/>
                </a:solidFill>
                <a:effectLst/>
                <a:latin typeface="var(--jp-content-font-family)"/>
              </a:rPr>
              <a:t>2 Instances EC2 : Le cluster est composé de 2 nœuds de calcul.</a:t>
            </a:r>
          </a:p>
          <a:p>
            <a:pPr algn="l">
              <a:spcAft>
                <a:spcPts val="750"/>
              </a:spcAft>
            </a:pPr>
            <a:r>
              <a:rPr lang="fr-FR" b="0" i="0" dirty="0">
                <a:solidFill>
                  <a:srgbClr val="000000"/>
                </a:solidFill>
                <a:effectLst/>
                <a:latin typeface="var(--jp-content-font-family)"/>
              </a:rPr>
              <a:t>4 Instances EC2 : Le cluster est composé de 4 nœuds de calcul.</a:t>
            </a:r>
          </a:p>
          <a:p>
            <a:pPr algn="l">
              <a:spcAft>
                <a:spcPts val="750"/>
              </a:spcAft>
            </a:pPr>
            <a:r>
              <a:rPr lang="fr-FR" b="0" i="0" dirty="0">
                <a:solidFill>
                  <a:srgbClr val="000000"/>
                </a:solidFill>
                <a:effectLst/>
                <a:latin typeface="var(--jp-content-font-family)"/>
              </a:rPr>
              <a:t>L'idée est de comparer les performances de l'application en utilisant un nombre différent de nœuds.</a:t>
            </a:r>
          </a:p>
          <a:p>
            <a:pPr algn="l">
              <a:spcAft>
                <a:spcPts val="750"/>
              </a:spcAft>
            </a:pPr>
            <a:r>
              <a:rPr lang="fr-FR" b="0" i="0" dirty="0">
                <a:solidFill>
                  <a:srgbClr val="000000"/>
                </a:solidFill>
                <a:effectLst/>
                <a:latin typeface="var(--jp-content-font-family)"/>
              </a:rPr>
              <a:t>Plus il y a de nœuds, plus les ressources de calcul sont disponibles, ce qui peut accélérer le traitement des données, surtout pour de grands </a:t>
            </a:r>
            <a:r>
              <a:rPr lang="fr-FR" b="0" i="0" dirty="0" err="1">
                <a:solidFill>
                  <a:srgbClr val="000000"/>
                </a:solidFill>
                <a:effectLst/>
                <a:latin typeface="var(--jp-content-font-family)"/>
              </a:rPr>
              <a:t>datasets</a:t>
            </a:r>
            <a:r>
              <a:rPr lang="fr-FR" b="0" i="0" dirty="0">
                <a:solidFill>
                  <a:srgbClr val="000000"/>
                </a:solidFill>
                <a:effectLst/>
                <a:latin typeface="var(--jp-content-font-family)"/>
              </a:rPr>
              <a:t>.</a:t>
            </a:r>
          </a:p>
          <a:p>
            <a:pPr algn="l"/>
            <a:endParaRPr lang="fr-FR" b="1" i="0" dirty="0">
              <a:solidFill>
                <a:srgbClr val="000000"/>
              </a:solidFill>
              <a:effectLst/>
              <a:latin typeface="system-ui"/>
            </a:endParaRPr>
          </a:p>
          <a:p>
            <a:endParaRPr lang="fr-FR" dirty="0"/>
          </a:p>
        </p:txBody>
      </p:sp>
    </p:spTree>
    <p:extLst>
      <p:ext uri="{BB962C8B-B14F-4D97-AF65-F5344CB8AC3E}">
        <p14:creationId xmlns:p14="http://schemas.microsoft.com/office/powerpoint/2010/main" val="2098049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r>
              <a:rPr lang="fr-FR" b="1" dirty="0"/>
              <a:t>Application du PCA</a:t>
            </a:r>
            <a:r>
              <a:rPr lang="fr-FR" dirty="0"/>
              <a:t> :</a:t>
            </a:r>
          </a:p>
          <a:p>
            <a:pPr marL="158750" indent="0">
              <a:buFont typeface="Arial" panose="020B0604020202020204" pitchFamily="34" charset="0"/>
              <a:buNone/>
            </a:pPr>
            <a:r>
              <a:rPr lang="fr-FR" dirty="0"/>
              <a:t>Le </a:t>
            </a:r>
            <a:r>
              <a:rPr lang="fr-FR" b="1" dirty="0"/>
              <a:t>PCA</a:t>
            </a:r>
            <a:r>
              <a:rPr lang="fr-FR" dirty="0"/>
              <a:t> est appliqué </a:t>
            </a:r>
            <a:r>
              <a:rPr lang="fr-FR" b="1" dirty="0"/>
              <a:t>sur les vecteurs de caractéristiques extraits</a:t>
            </a:r>
            <a:r>
              <a:rPr lang="fr-FR" dirty="0"/>
              <a:t>, pour </a:t>
            </a:r>
            <a:r>
              <a:rPr lang="fr-FR" b="1" dirty="0"/>
              <a:t>réduire leur dimensionnalité</a:t>
            </a:r>
            <a:r>
              <a:rPr lang="fr-FR" dirty="0"/>
              <a:t>.</a:t>
            </a:r>
          </a:p>
          <a:p>
            <a:pPr marL="158750" indent="0">
              <a:buNone/>
            </a:pPr>
            <a:endParaRPr lang="fr-FR" dirty="0"/>
          </a:p>
          <a:p>
            <a:pPr marL="158750" indent="0">
              <a:buNone/>
            </a:pPr>
            <a:r>
              <a:rPr lang="fr-FR" dirty="0"/>
              <a:t>Les vecteurs d'origine (ex. </a:t>
            </a:r>
            <a:r>
              <a:rPr lang="fr-FR" b="1" dirty="0"/>
              <a:t>1280 dimensions</a:t>
            </a:r>
            <a:r>
              <a:rPr lang="fr-FR" dirty="0"/>
              <a:t>) sont </a:t>
            </a:r>
            <a:r>
              <a:rPr lang="fr-FR" b="1" dirty="0"/>
              <a:t>réduits</a:t>
            </a:r>
            <a:r>
              <a:rPr lang="fr-FR" dirty="0"/>
              <a:t> à </a:t>
            </a:r>
            <a:r>
              <a:rPr lang="fr-FR" b="1" dirty="0"/>
              <a:t>50 dimensions</a:t>
            </a:r>
            <a:r>
              <a:rPr lang="fr-FR" dirty="0"/>
              <a:t> avec le </a:t>
            </a:r>
            <a:r>
              <a:rPr lang="fr-FR" dirty="0" err="1"/>
              <a:t>PCA.Cette</a:t>
            </a:r>
            <a:r>
              <a:rPr lang="fr-FR" dirty="0"/>
              <a:t> </a:t>
            </a:r>
            <a:r>
              <a:rPr lang="fr-FR" b="1" dirty="0"/>
              <a:t>réduction</a:t>
            </a:r>
            <a:r>
              <a:rPr lang="fr-FR" dirty="0"/>
              <a:t> permet de diminuer la taille des vecteurs </a:t>
            </a:r>
            <a:r>
              <a:rPr lang="fr-FR" b="1" dirty="0"/>
              <a:t>après le traitement du PCA</a:t>
            </a:r>
          </a:p>
          <a:p>
            <a:pPr marL="158750" indent="0">
              <a:buNone/>
            </a:pPr>
            <a:endParaRPr lang="fr-FR" b="1" dirty="0"/>
          </a:p>
          <a:p>
            <a:pPr marL="158750" indent="0">
              <a:buNone/>
            </a:pPr>
            <a:r>
              <a:rPr lang="fr-FR" b="1" dirty="0"/>
              <a:t>le PCA n’est pas appliqué sur des données "réduites"</a:t>
            </a:r>
            <a:r>
              <a:rPr lang="fr-FR" dirty="0"/>
              <a:t> au préalable :</a:t>
            </a:r>
          </a:p>
          <a:p>
            <a:pPr marL="158750" indent="0">
              <a:buFont typeface="Arial" panose="020B0604020202020204" pitchFamily="34" charset="0"/>
              <a:buNone/>
            </a:pPr>
            <a:r>
              <a:rPr lang="fr-FR" dirty="0"/>
              <a:t>Le </a:t>
            </a:r>
            <a:r>
              <a:rPr lang="fr-FR" b="1" dirty="0"/>
              <a:t>PCA</a:t>
            </a:r>
            <a:r>
              <a:rPr lang="fr-FR" dirty="0"/>
              <a:t> est lui-même responsable de la </a:t>
            </a:r>
            <a:r>
              <a:rPr lang="fr-FR" b="1" dirty="0"/>
              <a:t>réduction de dimensionnalité</a:t>
            </a:r>
            <a:r>
              <a:rPr lang="fr-FR" dirty="0"/>
              <a:t>. Et est appliqué sur </a:t>
            </a:r>
            <a:r>
              <a:rPr lang="fr-FR" b="1" dirty="0"/>
              <a:t>"les données résultant de l'extraction de </a:t>
            </a:r>
            <a:r>
              <a:rPr lang="fr-FR" b="1" dirty="0" err="1"/>
              <a:t>features</a:t>
            </a:r>
            <a:r>
              <a:rPr lang="fr-FR" b="1" dirty="0"/>
              <a:t>"</a:t>
            </a:r>
            <a:r>
              <a:rPr lang="fr-FR" dirty="0"/>
              <a:t> (comme les vecteurs de MobileNetV2).</a:t>
            </a:r>
          </a:p>
          <a:p>
            <a:pPr marL="158750" indent="0">
              <a:buFont typeface="Arial" panose="020B0604020202020204" pitchFamily="34" charset="0"/>
              <a:buNone/>
            </a:pPr>
            <a:r>
              <a:rPr lang="fr-FR" dirty="0"/>
              <a:t>Donc </a:t>
            </a:r>
            <a:r>
              <a:rPr lang="fr-FR" b="1" dirty="0"/>
              <a:t>le PCA</a:t>
            </a:r>
            <a:r>
              <a:rPr lang="fr-FR" dirty="0"/>
              <a:t> s'applique directement sur les </a:t>
            </a:r>
            <a:r>
              <a:rPr lang="fr-FR" b="1" dirty="0" err="1"/>
              <a:t>features</a:t>
            </a:r>
            <a:r>
              <a:rPr lang="fr-FR" b="1" dirty="0"/>
              <a:t> complètes</a:t>
            </a:r>
            <a:r>
              <a:rPr lang="fr-FR" dirty="0"/>
              <a:t> extraites par MobileNetV2.</a:t>
            </a:r>
          </a:p>
          <a:p>
            <a:endParaRPr lang="fr-FR" dirty="0"/>
          </a:p>
          <a:p>
            <a:endParaRPr lang="fr-FR" dirty="0"/>
          </a:p>
          <a:p>
            <a:endParaRPr lang="fr-FR" dirty="0"/>
          </a:p>
          <a:p>
            <a:pPr marL="158750" indent="0" algn="l">
              <a:spcAft>
                <a:spcPts val="750"/>
              </a:spcAft>
              <a:buNone/>
            </a:pPr>
            <a:endParaRPr lang="fr-FR" b="0" i="0" dirty="0">
              <a:solidFill>
                <a:srgbClr val="000000"/>
              </a:solidFill>
              <a:effectLst/>
              <a:latin typeface="var(--jp-content-font-family)"/>
            </a:endParaRPr>
          </a:p>
          <a:p>
            <a:pPr marL="158750" indent="0" algn="l">
              <a:spcAft>
                <a:spcPts val="750"/>
              </a:spcAft>
              <a:buNone/>
            </a:pPr>
            <a:r>
              <a:rPr lang="fr-FR" b="0" i="0" dirty="0">
                <a:solidFill>
                  <a:srgbClr val="000000"/>
                </a:solidFill>
                <a:effectLst/>
                <a:latin typeface="var(--jp-content-font-family)"/>
              </a:rPr>
              <a:t>L'idée est de comparer les performances de l'application en utilisant un nombre différent de nœuds.</a:t>
            </a:r>
          </a:p>
          <a:p>
            <a:pPr marL="158750" indent="0" algn="l">
              <a:spcAft>
                <a:spcPts val="750"/>
              </a:spcAft>
              <a:buNone/>
            </a:pPr>
            <a:r>
              <a:rPr lang="fr-FR" b="0" i="0" dirty="0">
                <a:solidFill>
                  <a:srgbClr val="000000"/>
                </a:solidFill>
                <a:effectLst/>
                <a:latin typeface="var(--jp-content-font-family)"/>
              </a:rPr>
              <a:t>Plus il y a de nœuds, plus les ressources de calcul sont disponibles, ce qui peut accélérer le traitement des données, surtout pour de grands </a:t>
            </a:r>
            <a:r>
              <a:rPr lang="fr-FR" b="0" i="0" dirty="0" err="1">
                <a:solidFill>
                  <a:srgbClr val="000000"/>
                </a:solidFill>
                <a:effectLst/>
                <a:latin typeface="var(--jp-content-font-family)"/>
              </a:rPr>
              <a:t>datasets</a:t>
            </a:r>
            <a:r>
              <a:rPr lang="fr-FR" b="0" i="0" dirty="0">
                <a:solidFill>
                  <a:srgbClr val="000000"/>
                </a:solidFill>
                <a:effectLst/>
                <a:latin typeface="var(--jp-content-font-family)"/>
              </a:rPr>
              <a:t>.</a:t>
            </a:r>
          </a:p>
          <a:p>
            <a:endParaRPr lang="fr-FR" dirty="0"/>
          </a:p>
        </p:txBody>
      </p:sp>
    </p:spTree>
    <p:extLst>
      <p:ext uri="{BB962C8B-B14F-4D97-AF65-F5344CB8AC3E}">
        <p14:creationId xmlns:p14="http://schemas.microsoft.com/office/powerpoint/2010/main" val="3781341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DDDB7-0F1A-7405-F598-F46F030C12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B1D67FE-6A72-6D46-15BB-207339BC8DE3}"/>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A85644C4-2628-AD11-03BA-766B5B7C0F1E}"/>
              </a:ext>
            </a:extLst>
          </p:cNvPr>
          <p:cNvSpPr>
            <a:spLocks noGrp="1"/>
          </p:cNvSpPr>
          <p:nvPr>
            <p:ph type="body" idx="1"/>
          </p:nvPr>
        </p:nvSpPr>
        <p:spPr/>
        <p:txBody>
          <a:bodyPr/>
          <a:lstStyle/>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fr-FR" dirty="0">
                <a:effectLst/>
                <a:latin typeface="Menlo" panose="020B0609030804020204" pitchFamily="49" charset="0"/>
              </a:rPr>
              <a:t>• • </a:t>
            </a:r>
            <a:r>
              <a:rPr lang="fr-FR" dirty="0">
                <a:effectLst/>
                <a:latin typeface="Helvetica Neue" panose="02000503000000020004" pitchFamily="2" charset="0"/>
              </a:rPr>
              <a:t>les données sont stockées, et les traitements sont réalisés, sur des serveurs situés sur le territoire européen</a:t>
            </a:r>
          </a:p>
          <a:p>
            <a:pPr marL="158750" indent="0" algn="l">
              <a:buNone/>
            </a:pPr>
            <a:endParaRPr lang="fr-FR" b="1" i="0" dirty="0">
              <a:solidFill>
                <a:srgbClr val="000000"/>
              </a:solidFill>
              <a:effectLst/>
              <a:latin typeface="system-ui"/>
            </a:endParaRPr>
          </a:p>
          <a:p>
            <a:pPr marL="158750" indent="0" algn="l">
              <a:buNone/>
            </a:pPr>
            <a:endParaRPr lang="fr-FR" b="1" i="0" dirty="0">
              <a:solidFill>
                <a:srgbClr val="000000"/>
              </a:solidFill>
              <a:effectLst/>
              <a:latin typeface="system-ui"/>
            </a:endParaRPr>
          </a:p>
          <a:p>
            <a:pPr marL="158750" indent="0" algn="l">
              <a:buNone/>
            </a:pPr>
            <a:r>
              <a:rPr lang="fr-FR" b="1" i="0" dirty="0">
                <a:solidFill>
                  <a:srgbClr val="000000"/>
                </a:solidFill>
                <a:effectLst/>
                <a:latin typeface="system-ui"/>
              </a:rPr>
              <a:t>Compatibilité EMR/Local : Le code détecte automatiquement l'environnement et adapte les paramètres. Pour un cluster EMR, l'accès aux fichiers sera souvent via S3 (s3a://), tandis qu'en local, les fichiers sont lus depuis le système de fichiers local. </a:t>
            </a:r>
          </a:p>
          <a:p>
            <a:pPr marL="158750" indent="0" algn="l">
              <a:buNone/>
            </a:pPr>
            <a:endParaRPr lang="fr-FR" b="1" i="0" dirty="0">
              <a:solidFill>
                <a:srgbClr val="000000"/>
              </a:solidFill>
              <a:effectLst/>
              <a:latin typeface="system-ui"/>
            </a:endParaRPr>
          </a:p>
          <a:p>
            <a:pPr marL="158750" indent="0" algn="l">
              <a:buNone/>
            </a:pPr>
            <a:r>
              <a:rPr lang="fr-FR" b="1" i="0" dirty="0">
                <a:solidFill>
                  <a:srgbClr val="000000"/>
                </a:solidFill>
                <a:effectLst/>
                <a:latin typeface="system-ui"/>
              </a:rPr>
              <a:t>Diffusion des poids avec Broadcast :</a:t>
            </a:r>
          </a:p>
          <a:p>
            <a:pPr marL="158750" indent="0" algn="l">
              <a:buNone/>
            </a:pPr>
            <a:r>
              <a:rPr lang="fr-FR" b="1" i="0" dirty="0">
                <a:solidFill>
                  <a:srgbClr val="000000"/>
                </a:solidFill>
                <a:effectLst/>
                <a:latin typeface="system-ui"/>
              </a:rPr>
              <a:t>Les poids du modèle MobileNetV2 sont diffusés aux </a:t>
            </a:r>
            <a:r>
              <a:rPr lang="fr-FR" b="1" i="0" dirty="0" err="1">
                <a:solidFill>
                  <a:srgbClr val="000000"/>
                </a:solidFill>
                <a:effectLst/>
                <a:latin typeface="system-ui"/>
              </a:rPr>
              <a:t>workers</a:t>
            </a:r>
            <a:r>
              <a:rPr lang="fr-FR" b="1" i="0" dirty="0">
                <a:solidFill>
                  <a:srgbClr val="000000"/>
                </a:solidFill>
                <a:effectLst/>
                <a:latin typeface="system-ui"/>
              </a:rPr>
              <a:t> à l'aide de broadcast, permettant à chaque </a:t>
            </a:r>
            <a:r>
              <a:rPr lang="fr-FR" b="1" i="0" dirty="0" err="1">
                <a:solidFill>
                  <a:srgbClr val="000000"/>
                </a:solidFill>
                <a:effectLst/>
                <a:latin typeface="system-ui"/>
              </a:rPr>
              <a:t>worker</a:t>
            </a:r>
            <a:r>
              <a:rPr lang="fr-FR" b="1" i="0" dirty="0">
                <a:solidFill>
                  <a:srgbClr val="000000"/>
                </a:solidFill>
                <a:effectLst/>
                <a:latin typeface="system-ui"/>
              </a:rPr>
              <a:t> de les utiliser sans les recharger à chaque appel. Pandas UDF :</a:t>
            </a:r>
          </a:p>
          <a:p>
            <a:pPr marL="158750" indent="0" algn="l">
              <a:buNone/>
            </a:pPr>
            <a:r>
              <a:rPr lang="fr-FR" b="1" i="0" dirty="0">
                <a:solidFill>
                  <a:srgbClr val="000000"/>
                </a:solidFill>
                <a:effectLst/>
                <a:latin typeface="system-ui"/>
              </a:rPr>
              <a:t>Les </a:t>
            </a:r>
            <a:r>
              <a:rPr lang="fr-FR" b="1" i="0" dirty="0" err="1">
                <a:solidFill>
                  <a:srgbClr val="000000"/>
                </a:solidFill>
                <a:effectLst/>
                <a:latin typeface="system-ui"/>
              </a:rPr>
              <a:t>pandas_udf</a:t>
            </a:r>
            <a:r>
              <a:rPr lang="fr-FR" b="1" i="0" dirty="0">
                <a:solidFill>
                  <a:srgbClr val="000000"/>
                </a:solidFill>
                <a:effectLst/>
                <a:latin typeface="system-ui"/>
              </a:rPr>
              <a:t> permettent de traiter les images par lots, améliorant ainsi la performance en réduisant le nombre d'appels au modèle. </a:t>
            </a:r>
          </a:p>
          <a:p>
            <a:pPr marL="158750" indent="0" algn="l">
              <a:buNone/>
            </a:pPr>
            <a:endParaRPr lang="fr-FR" b="1" i="0" dirty="0">
              <a:solidFill>
                <a:srgbClr val="000000"/>
              </a:solidFill>
              <a:effectLst/>
              <a:latin typeface="system-ui"/>
            </a:endParaRPr>
          </a:p>
          <a:p>
            <a:pPr marL="158750" indent="0" algn="l">
              <a:buNone/>
            </a:pPr>
            <a:r>
              <a:rPr lang="fr-FR" b="1" i="0" dirty="0" err="1">
                <a:solidFill>
                  <a:srgbClr val="000000"/>
                </a:solidFill>
                <a:effectLst/>
                <a:latin typeface="system-ui"/>
              </a:rPr>
              <a:t>Repartition</a:t>
            </a:r>
            <a:r>
              <a:rPr lang="fr-FR" b="1" i="0" dirty="0">
                <a:solidFill>
                  <a:srgbClr val="000000"/>
                </a:solidFill>
                <a:effectLst/>
                <a:latin typeface="system-ui"/>
              </a:rPr>
              <a:t> et Parquet :</a:t>
            </a:r>
          </a:p>
          <a:p>
            <a:pPr marL="158750" indent="0" algn="l">
              <a:buNone/>
            </a:pPr>
            <a:r>
              <a:rPr lang="fr-FR" b="1" i="0" dirty="0">
                <a:solidFill>
                  <a:srgbClr val="000000"/>
                </a:solidFill>
                <a:effectLst/>
                <a:latin typeface="system-ui"/>
              </a:rPr>
              <a:t>L'option </a:t>
            </a:r>
            <a:r>
              <a:rPr lang="fr-FR" b="1" i="0" dirty="0" err="1">
                <a:solidFill>
                  <a:srgbClr val="000000"/>
                </a:solidFill>
                <a:effectLst/>
                <a:latin typeface="system-ui"/>
              </a:rPr>
              <a:t>repartition</a:t>
            </a:r>
            <a:r>
              <a:rPr lang="fr-FR" b="1" i="0" dirty="0">
                <a:solidFill>
                  <a:srgbClr val="000000"/>
                </a:solidFill>
                <a:effectLst/>
                <a:latin typeface="system-ui"/>
              </a:rPr>
              <a:t> optimise la répartition des données avant les calculs. Le format Parquet est utilisé pour sauvegarder les résultats intermédiaires, car il est plus performant que CSV pour les tâches Spark.</a:t>
            </a:r>
          </a:p>
          <a:p>
            <a:pPr marL="158750" indent="0" algn="l">
              <a:buNone/>
            </a:pPr>
            <a:endParaRPr lang="fr-FR" b="1" i="0" dirty="0">
              <a:solidFill>
                <a:srgbClr val="000000"/>
              </a:solidFill>
              <a:effectLst/>
              <a:latin typeface="system-ui"/>
            </a:endParaRPr>
          </a:p>
          <a:p>
            <a:pPr marL="158750" indent="0" algn="l">
              <a:buNone/>
            </a:pPr>
            <a:br>
              <a:rPr lang="fr-FR" b="0" i="1" dirty="0">
                <a:effectLst/>
                <a:latin typeface="inherit"/>
              </a:rPr>
            </a:br>
            <a:r>
              <a:rPr lang="fr-FR" b="0" i="1" dirty="0">
                <a:effectLst/>
                <a:latin typeface="inherit"/>
              </a:rPr>
              <a:t>#!</a:t>
            </a:r>
            <a:r>
              <a:rPr lang="fr-FR" b="0" i="1" dirty="0" err="1">
                <a:effectLst/>
                <a:latin typeface="inherit"/>
              </a:rPr>
              <a:t>pip</a:t>
            </a:r>
            <a:r>
              <a:rPr lang="fr-FR" b="0" i="1" dirty="0">
                <a:effectLst/>
                <a:latin typeface="inherit"/>
              </a:rPr>
              <a:t> </a:t>
            </a:r>
            <a:r>
              <a:rPr lang="fr-FR" b="0" i="1" dirty="0" err="1">
                <a:effectLst/>
                <a:latin typeface="inherit"/>
              </a:rPr>
              <a:t>install</a:t>
            </a:r>
            <a:r>
              <a:rPr lang="fr-FR" b="0" i="1" dirty="0">
                <a:effectLst/>
                <a:latin typeface="inherit"/>
              </a:rPr>
              <a:t> Pandas </a:t>
            </a:r>
            <a:r>
              <a:rPr lang="fr-FR" b="0" i="1" dirty="0" err="1">
                <a:effectLst/>
                <a:latin typeface="inherit"/>
              </a:rPr>
              <a:t>pillow</a:t>
            </a:r>
            <a:r>
              <a:rPr lang="fr-FR" b="0" i="1" dirty="0">
                <a:effectLst/>
                <a:latin typeface="inherit"/>
              </a:rPr>
              <a:t> </a:t>
            </a:r>
            <a:r>
              <a:rPr lang="fr-FR" b="0" i="1" dirty="0" err="1">
                <a:effectLst/>
                <a:latin typeface="inherit"/>
              </a:rPr>
              <a:t>tensorflow</a:t>
            </a:r>
            <a:r>
              <a:rPr lang="fr-FR" b="0" i="1" dirty="0">
                <a:effectLst/>
                <a:latin typeface="inherit"/>
              </a:rPr>
              <a:t> </a:t>
            </a:r>
            <a:r>
              <a:rPr lang="fr-FR" b="0" i="1" dirty="0" err="1">
                <a:effectLst/>
                <a:latin typeface="inherit"/>
              </a:rPr>
              <a:t>pyspark</a:t>
            </a:r>
            <a:r>
              <a:rPr lang="fr-FR" b="0" i="1" dirty="0">
                <a:effectLst/>
                <a:latin typeface="inherit"/>
              </a:rPr>
              <a:t> </a:t>
            </a:r>
            <a:r>
              <a:rPr lang="fr-FR" b="0" i="1" dirty="0" err="1">
                <a:effectLst/>
                <a:latin typeface="inherit"/>
              </a:rPr>
              <a:t>pyarrow</a:t>
            </a:r>
            <a:endParaRPr lang="fr-FR" b="0" i="0" dirty="0">
              <a:effectLst/>
              <a:latin typeface="inherit"/>
            </a:endParaRPr>
          </a:p>
          <a:p>
            <a:pPr marL="158750" indent="0" algn="l">
              <a:spcAft>
                <a:spcPts val="750"/>
              </a:spcAft>
              <a:buNone/>
            </a:pPr>
            <a:r>
              <a:rPr lang="fr-FR" b="0" i="0" dirty="0">
                <a:solidFill>
                  <a:srgbClr val="000000"/>
                </a:solidFill>
                <a:effectLst/>
                <a:latin typeface="var(--jp-content-font-family)"/>
              </a:rPr>
              <a:t>Un cluster est un ensemble de machines (nœuds) qui travaillent ensemble.</a:t>
            </a:r>
            <a:br>
              <a:rPr lang="fr-FR" b="0" i="0" dirty="0">
                <a:solidFill>
                  <a:srgbClr val="000000"/>
                </a:solidFill>
                <a:effectLst/>
                <a:latin typeface="var(--jp-content-font-family)"/>
              </a:rPr>
            </a:br>
            <a:br>
              <a:rPr lang="fr-FR" b="0" i="0" dirty="0">
                <a:solidFill>
                  <a:srgbClr val="000000"/>
                </a:solidFill>
                <a:effectLst/>
                <a:latin typeface="var(--jp-content-font-family)"/>
              </a:rPr>
            </a:br>
            <a:r>
              <a:rPr lang="fr-FR" b="0" i="0" dirty="0">
                <a:solidFill>
                  <a:srgbClr val="000000"/>
                </a:solidFill>
                <a:effectLst/>
                <a:latin typeface="var(--jp-content-font-family)"/>
              </a:rPr>
              <a:t>Un nœud est une machine individuelle qui fait partie du cluster.</a:t>
            </a:r>
            <a:br>
              <a:rPr lang="fr-FR" b="0" i="0" dirty="0">
                <a:solidFill>
                  <a:srgbClr val="000000"/>
                </a:solidFill>
                <a:effectLst/>
                <a:latin typeface="var(--jp-content-font-family)"/>
              </a:rPr>
            </a:br>
            <a:br>
              <a:rPr lang="fr-FR" b="0" i="0" dirty="0">
                <a:solidFill>
                  <a:srgbClr val="000000"/>
                </a:solidFill>
                <a:effectLst/>
                <a:latin typeface="var(--jp-content-font-family)"/>
              </a:rPr>
            </a:br>
            <a:r>
              <a:rPr lang="fr-FR" b="0" i="0" dirty="0">
                <a:solidFill>
                  <a:srgbClr val="000000"/>
                </a:solidFill>
                <a:effectLst/>
                <a:latin typeface="var(--jp-content-font-family)"/>
              </a:rPr>
              <a:t>Un cœur est une unité de traitement à l'intérieur de chaque nœud.</a:t>
            </a:r>
          </a:p>
          <a:p>
            <a:pPr marL="158750" indent="0" algn="l">
              <a:spcAft>
                <a:spcPts val="750"/>
              </a:spcAft>
              <a:buNone/>
            </a:pPr>
            <a:r>
              <a:rPr lang="fr-FR" b="0" i="0" dirty="0">
                <a:solidFill>
                  <a:srgbClr val="000000"/>
                </a:solidFill>
                <a:effectLst/>
                <a:latin typeface="var(--jp-content-font-family)"/>
              </a:rPr>
              <a:t>Les Instances EC2 sur EMR : EC2 est le service d'AWS qui permet de créer des machines virtuelles.</a:t>
            </a:r>
          </a:p>
          <a:p>
            <a:pPr marL="158750" indent="0" algn="l">
              <a:spcAft>
                <a:spcPts val="750"/>
              </a:spcAft>
              <a:buNone/>
            </a:pPr>
            <a:r>
              <a:rPr lang="fr-FR" b="0" i="0" dirty="0">
                <a:solidFill>
                  <a:srgbClr val="000000"/>
                </a:solidFill>
                <a:effectLst/>
                <a:latin typeface="var(--jp-content-font-family)"/>
              </a:rPr>
              <a:t>En créant un cluster EMR, ce sont en fait des instances EC2 qui sont utilisées comme nœuds pour le cluster. On va tester avec 2 configurations différentes (2 EC2, puis 4 EC2) pour exécuter Spark job avec différentes tailles de clusters.</a:t>
            </a:r>
          </a:p>
          <a:p>
            <a:pPr marL="158750" indent="0" algn="l">
              <a:spcAft>
                <a:spcPts val="750"/>
              </a:spcAft>
              <a:buNone/>
            </a:pPr>
            <a:r>
              <a:rPr lang="fr-FR" b="0" i="0" dirty="0">
                <a:solidFill>
                  <a:srgbClr val="000000"/>
                </a:solidFill>
                <a:effectLst/>
                <a:latin typeface="var(--jp-content-font-family)"/>
              </a:rPr>
              <a:t>2 Instances EC2 : Le cluster est composé de 2 nœuds de calcul.</a:t>
            </a:r>
          </a:p>
          <a:p>
            <a:pPr marL="158750" indent="0" algn="l">
              <a:spcAft>
                <a:spcPts val="750"/>
              </a:spcAft>
              <a:buNone/>
            </a:pPr>
            <a:r>
              <a:rPr lang="fr-FR" b="0" i="0" dirty="0">
                <a:solidFill>
                  <a:srgbClr val="000000"/>
                </a:solidFill>
                <a:effectLst/>
                <a:latin typeface="var(--jp-content-font-family)"/>
              </a:rPr>
              <a:t>4 Instances EC2 : Le cluster est composé de 4 nœuds de calcul.</a:t>
            </a:r>
            <a:endParaRPr lang="fr-FR" b="1" i="0" dirty="0">
              <a:solidFill>
                <a:srgbClr val="000000"/>
              </a:solidFill>
              <a:effectLst/>
              <a:latin typeface="system-ui"/>
            </a:endParaRPr>
          </a:p>
          <a:p>
            <a:endParaRPr lang="fr-FR" dirty="0"/>
          </a:p>
        </p:txBody>
      </p:sp>
    </p:spTree>
    <p:extLst>
      <p:ext uri="{BB962C8B-B14F-4D97-AF65-F5344CB8AC3E}">
        <p14:creationId xmlns:p14="http://schemas.microsoft.com/office/powerpoint/2010/main" val="115618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endParaRPr lang="fr-FR" dirty="0">
              <a:effectLst/>
              <a:latin typeface="Helvetica Neue" panose="02000503000000020004" pitchFamily="2" charset="0"/>
            </a:endParaRPr>
          </a:p>
        </p:txBody>
      </p:sp>
    </p:spTree>
    <p:extLst>
      <p:ext uri="{BB962C8B-B14F-4D97-AF65-F5344CB8AC3E}">
        <p14:creationId xmlns:p14="http://schemas.microsoft.com/office/powerpoint/2010/main" val="10169754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dirty="0"/>
              <a:t>Un </a:t>
            </a:r>
            <a:r>
              <a:rPr lang="fr-FR" b="1" dirty="0"/>
              <a:t>fichier </a:t>
            </a:r>
            <a:r>
              <a:rPr lang="fr-FR" b="1" dirty="0" err="1"/>
              <a:t>bootstrap</a:t>
            </a:r>
            <a:r>
              <a:rPr lang="fr-FR" dirty="0"/>
              <a:t> dans le contexte d'</a:t>
            </a:r>
            <a:r>
              <a:rPr lang="fr-FR" b="1" dirty="0"/>
              <a:t>AWS EMR (</a:t>
            </a:r>
            <a:r>
              <a:rPr lang="fr-FR" b="1" dirty="0" err="1"/>
              <a:t>Elastic</a:t>
            </a:r>
            <a:r>
              <a:rPr lang="fr-FR" b="1" dirty="0"/>
              <a:t> MapReduce)</a:t>
            </a:r>
            <a:r>
              <a:rPr lang="fr-FR" dirty="0"/>
              <a:t> sert à </a:t>
            </a:r>
            <a:r>
              <a:rPr lang="fr-FR" b="1" dirty="0"/>
              <a:t>automatiser des tâches de configuration et d'installation</a:t>
            </a:r>
            <a:r>
              <a:rPr lang="fr-FR" dirty="0"/>
              <a:t> qui doivent être effectuées avant le démarrage des traitements sur les nœuds du cluster</a:t>
            </a:r>
          </a:p>
          <a:p>
            <a:endParaRPr lang="fr-FR" dirty="0"/>
          </a:p>
          <a:p>
            <a:pPr marL="158750" indent="0">
              <a:buNone/>
            </a:pPr>
            <a:r>
              <a:rPr lang="fr-FR" dirty="0"/>
              <a:t>Un </a:t>
            </a:r>
            <a:r>
              <a:rPr lang="fr-FR" b="1" dirty="0" err="1"/>
              <a:t>bootstrap</a:t>
            </a:r>
            <a:r>
              <a:rPr lang="fr-FR" b="1" dirty="0"/>
              <a:t> script</a:t>
            </a:r>
            <a:r>
              <a:rPr lang="fr-FR" dirty="0"/>
              <a:t> permet :</a:t>
            </a:r>
          </a:p>
          <a:p>
            <a:pPr marL="158750" indent="0">
              <a:buNone/>
            </a:pPr>
            <a:r>
              <a:rPr lang="fr-FR" b="1" dirty="0"/>
              <a:t>Installer des logiciels supplémentaires</a:t>
            </a:r>
            <a:r>
              <a:rPr lang="fr-FR" dirty="0"/>
              <a:t> nécessaires pour le projet sur les nœuds (driver ou </a:t>
            </a:r>
            <a:r>
              <a:rPr lang="fr-FR" dirty="0" err="1"/>
              <a:t>workers</a:t>
            </a:r>
            <a:r>
              <a:rPr lang="fr-FR" dirty="0"/>
              <a:t>).</a:t>
            </a:r>
          </a:p>
          <a:p>
            <a:pPr marL="457200" lvl="1" indent="0">
              <a:buNone/>
            </a:pPr>
            <a:r>
              <a:rPr lang="fr-FR" dirty="0"/>
              <a:t>Exemple : installer </a:t>
            </a:r>
            <a:r>
              <a:rPr lang="fr-FR" dirty="0" err="1"/>
              <a:t>TensorFlow</a:t>
            </a:r>
            <a:r>
              <a:rPr lang="fr-FR" dirty="0"/>
              <a:t>, </a:t>
            </a:r>
            <a:r>
              <a:rPr lang="fr-FR" dirty="0" err="1"/>
              <a:t>Keras</a:t>
            </a:r>
            <a:r>
              <a:rPr lang="fr-FR" dirty="0"/>
              <a:t>, </a:t>
            </a:r>
            <a:r>
              <a:rPr lang="fr-FR" dirty="0" err="1"/>
              <a:t>OpenCV</a:t>
            </a:r>
            <a:r>
              <a:rPr lang="fr-FR" dirty="0"/>
              <a:t>, etc., qui ne sont pas inclus par défaut dans EMR.</a:t>
            </a:r>
          </a:p>
          <a:p>
            <a:pPr marL="158750" indent="0">
              <a:buNone/>
            </a:pPr>
            <a:r>
              <a:rPr lang="fr-FR" b="1" dirty="0"/>
              <a:t>Configurer des paramètres spécifiques</a:t>
            </a:r>
            <a:r>
              <a:rPr lang="fr-FR" dirty="0"/>
              <a:t> pour ton environnement.</a:t>
            </a:r>
          </a:p>
          <a:p>
            <a:pPr marL="457200" lvl="1" indent="0">
              <a:buNone/>
            </a:pPr>
            <a:r>
              <a:rPr lang="fr-FR" dirty="0"/>
              <a:t>Exemple : paramétrer des variables d'environnement comme PYSPARK_PYTHON pour utiliser un environnement </a:t>
            </a:r>
            <a:r>
              <a:rPr lang="fr-FR" dirty="0" err="1"/>
              <a:t>conda</a:t>
            </a:r>
            <a:r>
              <a:rPr lang="fr-FR" dirty="0"/>
              <a:t>.</a:t>
            </a:r>
          </a:p>
          <a:p>
            <a:pPr marL="158750" indent="0">
              <a:buNone/>
            </a:pPr>
            <a:r>
              <a:rPr lang="fr-FR" b="1" dirty="0"/>
              <a:t>Télécharger des fichiers ou dépendances</a:t>
            </a:r>
            <a:r>
              <a:rPr lang="fr-FR" dirty="0"/>
              <a:t>.</a:t>
            </a:r>
          </a:p>
          <a:p>
            <a:pPr marL="457200" lvl="1" indent="0">
              <a:buNone/>
            </a:pPr>
            <a:r>
              <a:rPr lang="fr-FR" dirty="0"/>
              <a:t>Exemple : récupérer des modèles pré-entraînés, des librairies ou des données depuis S3.</a:t>
            </a:r>
          </a:p>
          <a:p>
            <a:pPr marL="158750" indent="0">
              <a:buNone/>
            </a:pPr>
            <a:r>
              <a:rPr lang="fr-FR" b="1" dirty="0"/>
              <a:t>Personnaliser Spark</a:t>
            </a:r>
            <a:r>
              <a:rPr lang="fr-FR" dirty="0"/>
              <a:t> (ou d'autres services) en modifiant des fichiers de configuration.</a:t>
            </a:r>
          </a:p>
          <a:p>
            <a:pPr marL="457200" lvl="1" indent="0">
              <a:buNone/>
            </a:pPr>
            <a:r>
              <a:rPr lang="fr-FR" dirty="0"/>
              <a:t>Exemple : ajuster les paramètres mémoire des nœuds </a:t>
            </a:r>
            <a:r>
              <a:rPr lang="fr-FR" dirty="0" err="1"/>
              <a:t>workers</a:t>
            </a:r>
            <a:r>
              <a:rPr lang="fr-FR" dirty="0"/>
              <a:t> ou activer des optimisations.</a:t>
            </a:r>
          </a:p>
          <a:p>
            <a:endParaRPr lang="fr-FR" dirty="0"/>
          </a:p>
          <a:p>
            <a:endParaRPr lang="fr-FR" dirty="0"/>
          </a:p>
          <a:p>
            <a:r>
              <a:rPr lang="fr-FR" dirty="0"/>
              <a:t>Le </a:t>
            </a:r>
            <a:r>
              <a:rPr lang="fr-FR" b="1" dirty="0" err="1"/>
              <a:t>bootstrap</a:t>
            </a:r>
            <a:r>
              <a:rPr lang="fr-FR" b="1" dirty="0"/>
              <a:t> script</a:t>
            </a:r>
            <a:r>
              <a:rPr lang="fr-FR" dirty="0"/>
              <a:t> est exécuté </a:t>
            </a:r>
            <a:r>
              <a:rPr lang="fr-FR" b="1" dirty="0"/>
              <a:t>automatiquement</a:t>
            </a:r>
            <a:r>
              <a:rPr lang="fr-FR" dirty="0"/>
              <a:t> </a:t>
            </a:r>
            <a:r>
              <a:rPr lang="fr-FR" b="1" dirty="0"/>
              <a:t>avant</a:t>
            </a:r>
            <a:r>
              <a:rPr lang="fr-FR" dirty="0"/>
              <a:t> que le cluster EMR ne commence à exécuter des traitements Spark.</a:t>
            </a:r>
          </a:p>
          <a:p>
            <a:r>
              <a:rPr lang="fr-FR" dirty="0"/>
              <a:t>En résumé, le </a:t>
            </a:r>
            <a:r>
              <a:rPr lang="fr-FR" b="1" dirty="0" err="1"/>
              <a:t>bootstrap</a:t>
            </a:r>
            <a:r>
              <a:rPr lang="fr-FR" dirty="0"/>
              <a:t> permet de préparer les nœuds </a:t>
            </a:r>
            <a:r>
              <a:rPr lang="fr-FR" b="1" dirty="0"/>
              <a:t>avant</a:t>
            </a:r>
            <a:r>
              <a:rPr lang="fr-FR" dirty="0"/>
              <a:t> l'exécution des jobs Spark pour qu'ils soient prêts à exécuter le projet sans intervention manuelle, il assure que chaque </a:t>
            </a:r>
            <a:r>
              <a:rPr lang="fr-FR" dirty="0" err="1"/>
              <a:t>worker</a:t>
            </a:r>
            <a:r>
              <a:rPr lang="fr-FR" dirty="0"/>
              <a:t> possède les mêmes configurations pour garantir un traitement </a:t>
            </a:r>
            <a:r>
              <a:rPr lang="fr-FR" b="1" dirty="0"/>
              <a:t>cohérent et reproductible</a:t>
            </a:r>
            <a:r>
              <a:rPr lang="fr-FR" dirty="0"/>
              <a:t>.</a:t>
            </a:r>
          </a:p>
        </p:txBody>
      </p:sp>
    </p:spTree>
    <p:extLst>
      <p:ext uri="{BB962C8B-B14F-4D97-AF65-F5344CB8AC3E}">
        <p14:creationId xmlns:p14="http://schemas.microsoft.com/office/powerpoint/2010/main" val="939129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6262672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marL="158750" indent="0">
              <a:buNone/>
            </a:pPr>
            <a:r>
              <a:rPr lang="fr-FR" dirty="0"/>
              <a:t>Le </a:t>
            </a:r>
            <a:r>
              <a:rPr lang="fr-FR" b="1" dirty="0"/>
              <a:t>driver</a:t>
            </a:r>
            <a:r>
              <a:rPr lang="fr-FR" dirty="0"/>
              <a:t> est l'instance </a:t>
            </a:r>
            <a:r>
              <a:rPr lang="fr-FR" b="1" dirty="0"/>
              <a:t>principale</a:t>
            </a:r>
            <a:r>
              <a:rPr lang="fr-FR" dirty="0"/>
              <a:t> qui orchestre l'exécution des tâches Spark.</a:t>
            </a:r>
          </a:p>
          <a:p>
            <a:pPr marL="158750" indent="0">
              <a:buFont typeface="Arial" panose="020B0604020202020204" pitchFamily="34" charset="0"/>
              <a:buNone/>
            </a:pPr>
            <a:r>
              <a:rPr lang="fr-FR" b="1" dirty="0"/>
              <a:t>Rôle :</a:t>
            </a:r>
            <a:endParaRPr lang="fr-FR" dirty="0"/>
          </a:p>
          <a:p>
            <a:pPr marL="457200" lvl="1" indent="0">
              <a:buFont typeface="Arial" panose="020B0604020202020204" pitchFamily="34" charset="0"/>
              <a:buNone/>
            </a:pPr>
            <a:r>
              <a:rPr lang="fr-FR" dirty="0"/>
              <a:t>Il soumet le </a:t>
            </a:r>
            <a:r>
              <a:rPr lang="fr-FR" b="1" dirty="0"/>
              <a:t>plan d'exécution</a:t>
            </a:r>
            <a:r>
              <a:rPr lang="fr-FR" dirty="0"/>
              <a:t> des traitements </a:t>
            </a:r>
            <a:r>
              <a:rPr lang="fr-FR" dirty="0" err="1"/>
              <a:t>PySpark</a:t>
            </a:r>
            <a:r>
              <a:rPr lang="fr-FR" dirty="0"/>
              <a:t>.</a:t>
            </a:r>
          </a:p>
          <a:p>
            <a:pPr marL="457200" lvl="1" indent="0">
              <a:buFont typeface="Arial" panose="020B0604020202020204" pitchFamily="34" charset="0"/>
              <a:buNone/>
            </a:pPr>
            <a:r>
              <a:rPr lang="fr-FR" dirty="0"/>
              <a:t>Il </a:t>
            </a:r>
            <a:r>
              <a:rPr lang="fr-FR" b="1" dirty="0"/>
              <a:t>coordonne</a:t>
            </a:r>
            <a:r>
              <a:rPr lang="fr-FR" dirty="0"/>
              <a:t> la distribution des tâches entre les </a:t>
            </a:r>
            <a:r>
              <a:rPr lang="fr-FR" b="1" dirty="0" err="1"/>
              <a:t>workers</a:t>
            </a:r>
            <a:r>
              <a:rPr lang="fr-FR" dirty="0"/>
              <a:t>.</a:t>
            </a:r>
          </a:p>
          <a:p>
            <a:pPr marL="457200" lvl="1" indent="0">
              <a:buFont typeface="Arial" panose="020B0604020202020204" pitchFamily="34" charset="0"/>
              <a:buNone/>
            </a:pPr>
            <a:r>
              <a:rPr lang="fr-FR" dirty="0"/>
              <a:t>Il gère la </a:t>
            </a:r>
            <a:r>
              <a:rPr lang="fr-FR" b="1" dirty="0"/>
              <a:t>communication</a:t>
            </a:r>
            <a:r>
              <a:rPr lang="fr-FR" dirty="0"/>
              <a:t> avec le client (par exemple ton notebook ou ton script).</a:t>
            </a:r>
          </a:p>
          <a:p>
            <a:pPr marL="158750" indent="0">
              <a:buFont typeface="Arial" panose="020B0604020202020204" pitchFamily="34" charset="0"/>
              <a:buNone/>
            </a:pPr>
            <a:r>
              <a:rPr lang="fr-FR" b="1" dirty="0"/>
              <a:t>Pourquoi "instance primaire" ?</a:t>
            </a:r>
            <a:endParaRPr lang="fr-FR" dirty="0"/>
          </a:p>
          <a:p>
            <a:pPr marL="457200" lvl="1" indent="0">
              <a:buFont typeface="Arial" panose="020B0604020202020204" pitchFamily="34" charset="0"/>
              <a:buNone/>
            </a:pPr>
            <a:r>
              <a:rPr lang="fr-FR" dirty="0"/>
              <a:t>Sur EMR, le </a:t>
            </a:r>
            <a:r>
              <a:rPr lang="fr-FR" b="1" dirty="0"/>
              <a:t>driver</a:t>
            </a:r>
            <a:r>
              <a:rPr lang="fr-FR" dirty="0"/>
              <a:t> est souvent appelé </a:t>
            </a:r>
            <a:r>
              <a:rPr lang="fr-FR" b="1" dirty="0"/>
              <a:t>instance primaire (Master Node)</a:t>
            </a:r>
            <a:r>
              <a:rPr lang="fr-FR" dirty="0"/>
              <a:t>.</a:t>
            </a:r>
          </a:p>
          <a:p>
            <a:pPr marL="457200" lvl="1" indent="0">
              <a:buFont typeface="Arial" panose="020B0604020202020204" pitchFamily="34" charset="0"/>
              <a:buNone/>
            </a:pPr>
            <a:r>
              <a:rPr lang="fr-FR" dirty="0"/>
              <a:t>C'est le </a:t>
            </a:r>
            <a:r>
              <a:rPr lang="fr-FR" b="1" dirty="0"/>
              <a:t>cerveau</a:t>
            </a:r>
            <a:r>
              <a:rPr lang="fr-FR" dirty="0"/>
              <a:t> du cluster : il ne fait pas directement de calcul, mais il planifie et surveille les tâches.</a:t>
            </a:r>
          </a:p>
          <a:p>
            <a:pPr marL="457200" lvl="1" indent="0">
              <a:buFont typeface="Arial" panose="020B0604020202020204" pitchFamily="34" charset="0"/>
              <a:buNone/>
            </a:pPr>
            <a:endParaRPr lang="fr-FR" dirty="0"/>
          </a:p>
          <a:p>
            <a:pPr marL="158750" indent="0">
              <a:buNone/>
            </a:pPr>
            <a:r>
              <a:rPr lang="fr-FR" b="1" dirty="0" err="1"/>
              <a:t>Workers</a:t>
            </a:r>
            <a:r>
              <a:rPr lang="fr-FR" b="1" dirty="0"/>
              <a:t> (Instances Secondaires)</a:t>
            </a:r>
          </a:p>
          <a:p>
            <a:pPr marL="158750" indent="0">
              <a:buNone/>
            </a:pPr>
            <a:r>
              <a:rPr lang="fr-FR" dirty="0"/>
              <a:t>Les </a:t>
            </a:r>
            <a:r>
              <a:rPr lang="fr-FR" b="1" dirty="0" err="1"/>
              <a:t>workers</a:t>
            </a:r>
            <a:r>
              <a:rPr lang="fr-FR" dirty="0"/>
              <a:t> sont les instances responsables de l'exécution des calculs distribués.</a:t>
            </a:r>
          </a:p>
          <a:p>
            <a:pPr marL="158750" indent="0">
              <a:buFont typeface="Arial" panose="020B0604020202020204" pitchFamily="34" charset="0"/>
              <a:buNone/>
            </a:pPr>
            <a:r>
              <a:rPr lang="fr-FR" b="1" dirty="0"/>
              <a:t>Rôle :</a:t>
            </a:r>
            <a:endParaRPr lang="fr-FR" dirty="0"/>
          </a:p>
          <a:p>
            <a:pPr marL="457200" lvl="1" indent="0">
              <a:buFont typeface="Arial" panose="020B0604020202020204" pitchFamily="34" charset="0"/>
              <a:buNone/>
            </a:pPr>
            <a:r>
              <a:rPr lang="fr-FR" dirty="0"/>
              <a:t>Chaque </a:t>
            </a:r>
            <a:r>
              <a:rPr lang="fr-FR" dirty="0" err="1"/>
              <a:t>worker</a:t>
            </a:r>
            <a:r>
              <a:rPr lang="fr-FR" dirty="0"/>
              <a:t> exécute les </a:t>
            </a:r>
            <a:r>
              <a:rPr lang="fr-FR" b="1" dirty="0"/>
              <a:t>tâches parallélisées</a:t>
            </a:r>
            <a:r>
              <a:rPr lang="fr-FR" dirty="0"/>
              <a:t> du traitement Spark (par exemple, extraction de caractéristiques, application du PCA, etc.).</a:t>
            </a:r>
          </a:p>
          <a:p>
            <a:pPr marL="457200" lvl="1" indent="0">
              <a:buFont typeface="Arial" panose="020B0604020202020204" pitchFamily="34" charset="0"/>
              <a:buNone/>
            </a:pPr>
            <a:r>
              <a:rPr lang="fr-FR" dirty="0"/>
              <a:t>Ils </a:t>
            </a:r>
            <a:r>
              <a:rPr lang="fr-FR" b="1" dirty="0"/>
              <a:t>stockent temporairement</a:t>
            </a:r>
            <a:r>
              <a:rPr lang="fr-FR" dirty="0"/>
              <a:t> les données intermédiaires (cache Spark) si nécessaire.</a:t>
            </a:r>
          </a:p>
          <a:p>
            <a:pPr marL="457200" lvl="1" indent="0">
              <a:buFont typeface="Arial" panose="020B0604020202020204" pitchFamily="34" charset="0"/>
              <a:buNone/>
            </a:pPr>
            <a:r>
              <a:rPr lang="fr-FR" dirty="0"/>
              <a:t>Ils </a:t>
            </a:r>
            <a:r>
              <a:rPr lang="fr-FR" b="1" dirty="0"/>
              <a:t>renvoient</a:t>
            </a:r>
            <a:r>
              <a:rPr lang="fr-FR" dirty="0"/>
              <a:t> les résultats partiels au </a:t>
            </a:r>
            <a:r>
              <a:rPr lang="fr-FR" b="1" dirty="0"/>
              <a:t>driver</a:t>
            </a:r>
            <a:r>
              <a:rPr lang="fr-FR" dirty="0"/>
              <a:t>.</a:t>
            </a:r>
          </a:p>
          <a:p>
            <a:pPr marL="158750" indent="0">
              <a:buFont typeface="Arial" panose="020B0604020202020204" pitchFamily="34" charset="0"/>
              <a:buNone/>
            </a:pPr>
            <a:r>
              <a:rPr lang="fr-FR" b="1" dirty="0"/>
              <a:t>Pourquoi "instances principales" ?</a:t>
            </a:r>
            <a:endParaRPr lang="fr-FR" dirty="0"/>
          </a:p>
          <a:p>
            <a:pPr marL="457200" lvl="1" indent="0">
              <a:buFont typeface="Arial" panose="020B0604020202020204" pitchFamily="34" charset="0"/>
              <a:buNone/>
            </a:pPr>
            <a:r>
              <a:rPr lang="fr-FR" dirty="0"/>
              <a:t>Sur EMR, ces instances sont souvent appelées </a:t>
            </a:r>
            <a:r>
              <a:rPr lang="fr-FR" b="1" dirty="0"/>
              <a:t>instances principales (</a:t>
            </a:r>
            <a:r>
              <a:rPr lang="fr-FR" b="1" dirty="0" err="1"/>
              <a:t>Core</a:t>
            </a:r>
            <a:r>
              <a:rPr lang="fr-FR" b="1" dirty="0"/>
              <a:t> </a:t>
            </a:r>
            <a:r>
              <a:rPr lang="fr-FR" b="1" dirty="0" err="1"/>
              <a:t>Nodes</a:t>
            </a:r>
            <a:r>
              <a:rPr lang="fr-FR" b="1" dirty="0"/>
              <a:t>)</a:t>
            </a:r>
            <a:r>
              <a:rPr lang="fr-FR" dirty="0"/>
              <a:t>.</a:t>
            </a:r>
          </a:p>
          <a:p>
            <a:pPr marL="457200" lvl="1" indent="0">
              <a:buFont typeface="Arial" panose="020B0604020202020204" pitchFamily="34" charset="0"/>
              <a:buNone/>
            </a:pPr>
            <a:r>
              <a:rPr lang="fr-FR" dirty="0"/>
              <a:t>Elles effectuent réellement les </a:t>
            </a:r>
            <a:r>
              <a:rPr lang="fr-FR" b="1" dirty="0"/>
              <a:t>calculs distribués</a:t>
            </a:r>
            <a:r>
              <a:rPr lang="fr-FR" dirty="0"/>
              <a:t>.</a:t>
            </a:r>
          </a:p>
          <a:p>
            <a:pPr marL="457200" lvl="1" indent="0">
              <a:buFont typeface="Arial" panose="020B0604020202020204" pitchFamily="34" charset="0"/>
              <a:buNone/>
            </a:pPr>
            <a:endParaRPr lang="fr-FR" dirty="0"/>
          </a:p>
          <a:p>
            <a:pPr marL="158750" indent="0">
              <a:buFont typeface="Arial" panose="020B0604020202020204" pitchFamily="34" charset="0"/>
              <a:buNone/>
            </a:pPr>
            <a:endParaRPr lang="fr-FR" b="1" dirty="0"/>
          </a:p>
          <a:p>
            <a:pPr marL="158750" indent="0">
              <a:buFont typeface="Arial" panose="020B0604020202020204" pitchFamily="34" charset="0"/>
              <a:buNone/>
            </a:pPr>
            <a:r>
              <a:rPr lang="fr-FR" b="1" dirty="0"/>
              <a:t>---------</a:t>
            </a:r>
          </a:p>
          <a:p>
            <a:pPr marL="158750" indent="0">
              <a:buFont typeface="Arial" panose="020B0604020202020204" pitchFamily="34" charset="0"/>
              <a:buNone/>
            </a:pPr>
            <a:r>
              <a:rPr lang="fr-FR" b="1" dirty="0"/>
              <a:t>IAM</a:t>
            </a:r>
            <a:r>
              <a:rPr lang="fr-FR" dirty="0"/>
              <a:t> : Gère les rôles et permissions pour permettre à Spark (sur EMR ou EC2) d'accéder aux données dans </a:t>
            </a:r>
            <a:r>
              <a:rPr lang="fr-FR" b="1" dirty="0"/>
              <a:t>S3</a:t>
            </a:r>
            <a:r>
              <a:rPr lang="fr-FR" dirty="0"/>
              <a:t>.</a:t>
            </a:r>
          </a:p>
          <a:p>
            <a:pPr marL="158750" indent="0">
              <a:buFont typeface="Arial" panose="020B0604020202020204" pitchFamily="34" charset="0"/>
              <a:buNone/>
            </a:pPr>
            <a:r>
              <a:rPr lang="fr-FR" b="1" dirty="0"/>
              <a:t>Groupes de sécurité EC2</a:t>
            </a:r>
            <a:r>
              <a:rPr lang="fr-FR" dirty="0"/>
              <a:t> : Contrôlent le trafic réseau pour autoriser les connexions nécessaires entre </a:t>
            </a:r>
            <a:r>
              <a:rPr lang="fr-FR" b="1" dirty="0"/>
              <a:t>EC2</a:t>
            </a:r>
            <a:r>
              <a:rPr lang="fr-FR" dirty="0"/>
              <a:t> et </a:t>
            </a:r>
            <a:r>
              <a:rPr lang="fr-FR" b="1" dirty="0"/>
              <a:t>S3</a:t>
            </a:r>
            <a:r>
              <a:rPr lang="fr-FR" dirty="0"/>
              <a:t>, ainsi que pour l'administration (SSH et Spark UI).</a:t>
            </a:r>
          </a:p>
          <a:p>
            <a:pPr marL="158750" indent="0">
              <a:buNone/>
            </a:pPr>
            <a:r>
              <a:rPr lang="fr-FR" dirty="0"/>
              <a:t>Ces configurations assurent à la fois </a:t>
            </a:r>
            <a:r>
              <a:rPr lang="fr-FR" b="1" dirty="0"/>
              <a:t>sécurité</a:t>
            </a:r>
            <a:r>
              <a:rPr lang="fr-FR" dirty="0"/>
              <a:t> et </a:t>
            </a:r>
            <a:r>
              <a:rPr lang="fr-FR" b="1" dirty="0"/>
              <a:t>fonctionnalité</a:t>
            </a:r>
            <a:r>
              <a:rPr lang="fr-FR" dirty="0"/>
              <a:t> dans ton pipeline de traitement </a:t>
            </a:r>
            <a:r>
              <a:rPr lang="fr-FR" dirty="0" err="1"/>
              <a:t>PySpark</a:t>
            </a:r>
            <a:r>
              <a:rPr lang="fr-FR" dirty="0"/>
              <a:t> sur AWS.</a:t>
            </a:r>
          </a:p>
          <a:p>
            <a:endParaRPr lang="fr-FR" dirty="0"/>
          </a:p>
        </p:txBody>
      </p:sp>
    </p:spTree>
    <p:extLst>
      <p:ext uri="{BB962C8B-B14F-4D97-AF65-F5344CB8AC3E}">
        <p14:creationId xmlns:p14="http://schemas.microsoft.com/office/powerpoint/2010/main" val="3419111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804995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589873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6233529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51b1a71d3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51b1a71d3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fr-FR" b="1" i="0" dirty="0">
                <a:effectLst/>
                <a:latin typeface="system-ui"/>
              </a:rPr>
              <a:t>7. 5. Conclusion</a:t>
            </a:r>
          </a:p>
          <a:p>
            <a:pPr algn="l"/>
            <a:r>
              <a:rPr lang="fr-FR" b="0" i="0" dirty="0">
                <a:effectLst/>
                <a:latin typeface="system-ui"/>
              </a:rPr>
              <a:t>Nous avons réalisé ce projet </a:t>
            </a:r>
            <a:r>
              <a:rPr lang="fr-FR" b="1" i="0" dirty="0">
                <a:effectLst/>
                <a:latin typeface="system-ui"/>
              </a:rPr>
              <a:t>en deux temps</a:t>
            </a:r>
            <a:r>
              <a:rPr lang="fr-FR" b="0" i="0" dirty="0">
                <a:effectLst/>
                <a:latin typeface="system-ui"/>
              </a:rPr>
              <a:t> en tenant</a:t>
            </a:r>
            <a:br>
              <a:rPr lang="fr-FR" b="0" i="0" dirty="0">
                <a:effectLst/>
                <a:latin typeface="system-ui"/>
              </a:rPr>
            </a:br>
            <a:r>
              <a:rPr lang="fr-FR" b="0" i="0" dirty="0">
                <a:effectLst/>
                <a:latin typeface="system-ui"/>
              </a:rPr>
              <a:t>compte des contraintes qui nous ont été imposées.</a:t>
            </a:r>
          </a:p>
          <a:p>
            <a:pPr algn="l"/>
            <a:r>
              <a:rPr lang="fr-FR" b="0" i="0" dirty="0">
                <a:effectLst/>
                <a:latin typeface="system-ui"/>
              </a:rPr>
              <a:t>Nous avons </a:t>
            </a:r>
            <a:r>
              <a:rPr lang="fr-FR" b="1" i="0" dirty="0">
                <a:effectLst/>
                <a:latin typeface="system-ui"/>
              </a:rPr>
              <a:t>dans un premier temps développé notre solution en local</a:t>
            </a:r>
            <a:br>
              <a:rPr lang="fr-FR" b="0" i="0" dirty="0">
                <a:effectLst/>
                <a:latin typeface="system-ui"/>
              </a:rPr>
            </a:br>
            <a:r>
              <a:rPr lang="fr-FR" b="0" i="0" dirty="0">
                <a:effectLst/>
                <a:latin typeface="system-ui"/>
              </a:rPr>
              <a:t>sur une machine virtuelle dans un environnement Linux Ubuntu.</a:t>
            </a:r>
          </a:p>
          <a:p>
            <a:pPr algn="l"/>
            <a:r>
              <a:rPr lang="fr-FR" b="0" i="0" dirty="0">
                <a:effectLst/>
                <a:latin typeface="system-ui"/>
              </a:rPr>
              <a:t>La </a:t>
            </a:r>
            <a:r>
              <a:rPr lang="fr-FR" b="0" i="0" u="sng" dirty="0">
                <a:effectLst/>
                <a:latin typeface="system-ui"/>
              </a:rPr>
              <a:t>première phase</a:t>
            </a:r>
            <a:r>
              <a:rPr lang="fr-FR" b="0" i="0" dirty="0">
                <a:effectLst/>
                <a:latin typeface="system-ui"/>
              </a:rPr>
              <a:t> a consisté à </a:t>
            </a:r>
            <a:r>
              <a:rPr lang="fr-FR" b="1" i="0" dirty="0">
                <a:effectLst/>
                <a:latin typeface="system-ui"/>
              </a:rPr>
              <a:t>installer l'environnement de travail Spark</a:t>
            </a:r>
            <a:r>
              <a:rPr lang="fr-FR" b="0" i="0" dirty="0">
                <a:effectLst/>
                <a:latin typeface="system-ui"/>
              </a:rPr>
              <a:t>.</a:t>
            </a:r>
            <a:br>
              <a:rPr lang="fr-FR" b="0" i="0" dirty="0">
                <a:effectLst/>
                <a:latin typeface="system-ui"/>
              </a:rPr>
            </a:br>
            <a:r>
              <a:rPr lang="fr-FR" b="1" i="0" dirty="0">
                <a:effectLst/>
                <a:latin typeface="system-ui"/>
              </a:rPr>
              <a:t>Spark</a:t>
            </a:r>
            <a:r>
              <a:rPr lang="fr-FR" b="0" i="0" dirty="0">
                <a:effectLst/>
                <a:latin typeface="system-ui"/>
              </a:rPr>
              <a:t> a un paramètre qui nous permet de travaillé en local et nous permet</a:t>
            </a:r>
            <a:br>
              <a:rPr lang="fr-FR" b="0" i="0" dirty="0">
                <a:effectLst/>
                <a:latin typeface="system-ui"/>
              </a:rPr>
            </a:br>
            <a:r>
              <a:rPr lang="fr-FR" b="0" i="0" dirty="0">
                <a:effectLst/>
                <a:latin typeface="system-ui"/>
              </a:rPr>
              <a:t>ainsi de </a:t>
            </a:r>
            <a:r>
              <a:rPr lang="fr-FR" b="1" i="0" dirty="0">
                <a:effectLst/>
                <a:latin typeface="system-ui"/>
              </a:rPr>
              <a:t>simuler du calcul partagé</a:t>
            </a:r>
            <a:r>
              <a:rPr lang="fr-FR" b="0" i="0" dirty="0">
                <a:effectLst/>
                <a:latin typeface="system-ui"/>
              </a:rPr>
              <a:t> en considérant</a:t>
            </a:r>
            <a:br>
              <a:rPr lang="fr-FR" b="0" i="0" dirty="0">
                <a:effectLst/>
                <a:latin typeface="system-ui"/>
              </a:rPr>
            </a:br>
            <a:r>
              <a:rPr lang="fr-FR" b="1" i="0" dirty="0">
                <a:effectLst/>
                <a:latin typeface="system-ui"/>
              </a:rPr>
              <a:t>chaque cœur d'un processeur comme un </a:t>
            </a:r>
            <a:r>
              <a:rPr lang="fr-FR" b="1" i="0" dirty="0" err="1">
                <a:effectLst/>
                <a:latin typeface="system-ui"/>
              </a:rPr>
              <a:t>worker</a:t>
            </a:r>
            <a:r>
              <a:rPr lang="fr-FR" b="1" i="0" dirty="0">
                <a:effectLst/>
                <a:latin typeface="system-ui"/>
              </a:rPr>
              <a:t> indépendant</a:t>
            </a:r>
            <a:r>
              <a:rPr lang="fr-FR" b="0" i="0" dirty="0">
                <a:effectLst/>
                <a:latin typeface="system-ui"/>
              </a:rPr>
              <a:t>.</a:t>
            </a:r>
            <a:br>
              <a:rPr lang="fr-FR" b="0" i="0" dirty="0">
                <a:effectLst/>
                <a:latin typeface="system-ui"/>
              </a:rPr>
            </a:br>
            <a:r>
              <a:rPr lang="fr-FR" b="0" i="0" dirty="0">
                <a:effectLst/>
                <a:latin typeface="system-ui"/>
              </a:rPr>
              <a:t>Nous avons travaillé sur un plus </a:t>
            </a:r>
            <a:r>
              <a:rPr lang="fr-FR" b="1" i="0" dirty="0">
                <a:effectLst/>
                <a:latin typeface="system-ui"/>
              </a:rPr>
              <a:t>petit jeu de donnée</a:t>
            </a:r>
            <a:r>
              <a:rPr lang="fr-FR" b="0" i="0" dirty="0">
                <a:effectLst/>
                <a:latin typeface="system-ui"/>
              </a:rPr>
              <a:t>, l'idée était</a:t>
            </a:r>
            <a:br>
              <a:rPr lang="fr-FR" b="0" i="0" dirty="0">
                <a:effectLst/>
                <a:latin typeface="system-ui"/>
              </a:rPr>
            </a:br>
            <a:r>
              <a:rPr lang="fr-FR" b="0" i="0" dirty="0">
                <a:effectLst/>
                <a:latin typeface="system-ui"/>
              </a:rPr>
              <a:t>simplement de </a:t>
            </a:r>
            <a:r>
              <a:rPr lang="fr-FR" b="1" i="0" dirty="0">
                <a:effectLst/>
                <a:latin typeface="system-ui"/>
              </a:rPr>
              <a:t>valider le bon fonctionnement de la solution</a:t>
            </a:r>
            <a:r>
              <a:rPr lang="fr-FR" b="0" i="0" dirty="0">
                <a:effectLst/>
                <a:latin typeface="system-ui"/>
              </a:rPr>
              <a:t>.</a:t>
            </a:r>
          </a:p>
          <a:p>
            <a:pPr algn="l"/>
            <a:r>
              <a:rPr lang="fr-FR" b="0" i="0" dirty="0">
                <a:effectLst/>
                <a:latin typeface="system-ui"/>
              </a:rPr>
              <a:t>Nous avons fait le choix de réaliser du </a:t>
            </a:r>
            <a:r>
              <a:rPr lang="fr-FR" b="1" i="0" dirty="0">
                <a:effectLst/>
                <a:latin typeface="system-ui"/>
              </a:rPr>
              <a:t>transfert </a:t>
            </a:r>
            <a:r>
              <a:rPr lang="fr-FR" b="1" i="0" dirty="0" err="1">
                <a:effectLst/>
                <a:latin typeface="system-ui"/>
              </a:rPr>
              <a:t>learning</a:t>
            </a:r>
            <a:br>
              <a:rPr lang="fr-FR" b="0" i="0" dirty="0">
                <a:effectLst/>
                <a:latin typeface="system-ui"/>
              </a:rPr>
            </a:br>
            <a:r>
              <a:rPr lang="fr-FR" b="0" i="0" dirty="0">
                <a:effectLst/>
                <a:latin typeface="system-ui"/>
              </a:rPr>
              <a:t>à partir du model </a:t>
            </a:r>
            <a:r>
              <a:rPr lang="fr-FR" b="1" i="0" dirty="0">
                <a:effectLst/>
                <a:latin typeface="system-ui"/>
              </a:rPr>
              <a:t>MobileNetV2</a:t>
            </a:r>
            <a:r>
              <a:rPr lang="fr-FR" b="0" i="0" dirty="0">
                <a:effectLst/>
                <a:latin typeface="system-ui"/>
              </a:rPr>
              <a:t>.</a:t>
            </a:r>
            <a:br>
              <a:rPr lang="fr-FR" b="0" i="0" dirty="0">
                <a:effectLst/>
                <a:latin typeface="system-ui"/>
              </a:rPr>
            </a:br>
            <a:r>
              <a:rPr lang="fr-FR" b="0" i="0" dirty="0">
                <a:effectLst/>
                <a:latin typeface="system-ui"/>
              </a:rPr>
              <a:t>Ce modèle a été retenu pour sa </a:t>
            </a:r>
            <a:r>
              <a:rPr lang="fr-FR" b="1" i="0" dirty="0">
                <a:effectLst/>
                <a:latin typeface="system-ui"/>
              </a:rPr>
              <a:t>légèreté</a:t>
            </a:r>
            <a:r>
              <a:rPr lang="fr-FR" b="0" i="0" dirty="0">
                <a:effectLst/>
                <a:latin typeface="system-ui"/>
              </a:rPr>
              <a:t> et sa </a:t>
            </a:r>
            <a:r>
              <a:rPr lang="fr-FR" b="1" i="0" dirty="0">
                <a:effectLst/>
                <a:latin typeface="system-ui"/>
              </a:rPr>
              <a:t>rapidité d'exécution</a:t>
            </a:r>
            <a:br>
              <a:rPr lang="fr-FR" b="0" i="0" dirty="0">
                <a:effectLst/>
                <a:latin typeface="system-ui"/>
              </a:rPr>
            </a:br>
            <a:r>
              <a:rPr lang="fr-FR" b="0" i="0" dirty="0">
                <a:effectLst/>
                <a:latin typeface="system-ui"/>
              </a:rPr>
              <a:t>ainsi que pour la </a:t>
            </a:r>
            <a:r>
              <a:rPr lang="fr-FR" b="1" i="0" dirty="0">
                <a:effectLst/>
                <a:latin typeface="system-ui"/>
              </a:rPr>
              <a:t>faible dimension de son vecteur en sortie</a:t>
            </a:r>
            <a:r>
              <a:rPr lang="fr-FR" b="0" i="0" dirty="0">
                <a:effectLst/>
                <a:latin typeface="system-ui"/>
              </a:rPr>
              <a:t>.</a:t>
            </a:r>
          </a:p>
          <a:p>
            <a:pPr algn="l"/>
            <a:r>
              <a:rPr lang="fr-FR" b="0" i="0" dirty="0">
                <a:effectLst/>
                <a:latin typeface="system-ui"/>
              </a:rPr>
              <a:t>Les résultats ont été enregistrés sur disque en plusieurs</a:t>
            </a:r>
            <a:br>
              <a:rPr lang="fr-FR" b="0" i="0" dirty="0">
                <a:effectLst/>
                <a:latin typeface="system-ui"/>
              </a:rPr>
            </a:br>
            <a:r>
              <a:rPr lang="fr-FR" b="0" i="0" dirty="0">
                <a:effectLst/>
                <a:latin typeface="system-ui"/>
              </a:rPr>
              <a:t>partitions au format "</a:t>
            </a:r>
            <a:r>
              <a:rPr lang="fr-FR" b="1" i="0" dirty="0">
                <a:effectLst/>
                <a:latin typeface="system-ui"/>
              </a:rPr>
              <a:t>parquet</a:t>
            </a:r>
            <a:r>
              <a:rPr lang="fr-FR" b="0" i="0" dirty="0">
                <a:effectLst/>
                <a:latin typeface="system-ui"/>
              </a:rPr>
              <a:t>".</a:t>
            </a:r>
          </a:p>
          <a:p>
            <a:pPr algn="l"/>
            <a:r>
              <a:rPr lang="fr-FR" b="1" i="0" u="sng" dirty="0">
                <a:effectLst/>
                <a:latin typeface="system-ui"/>
              </a:rPr>
              <a:t>La solution a parfaitement fonctionné en mode local</a:t>
            </a:r>
            <a:r>
              <a:rPr lang="fr-FR" b="0" i="0" dirty="0">
                <a:effectLst/>
                <a:latin typeface="system-ui"/>
              </a:rPr>
              <a:t>.</a:t>
            </a:r>
          </a:p>
          <a:p>
            <a:pPr algn="l"/>
            <a:r>
              <a:rPr lang="fr-FR" b="0" i="0" dirty="0">
                <a:effectLst/>
                <a:latin typeface="system-ui"/>
              </a:rPr>
              <a:t>La </a:t>
            </a:r>
            <a:r>
              <a:rPr lang="fr-FR" b="0" i="0" u="sng" dirty="0">
                <a:effectLst/>
                <a:latin typeface="system-ui"/>
              </a:rPr>
              <a:t>deuxième phase</a:t>
            </a:r>
            <a:r>
              <a:rPr lang="fr-FR" b="0" i="0" dirty="0">
                <a:effectLst/>
                <a:latin typeface="system-ui"/>
              </a:rPr>
              <a:t> a consisté à créer un </a:t>
            </a:r>
            <a:r>
              <a:rPr lang="fr-FR" b="1" i="0" dirty="0">
                <a:effectLst/>
                <a:latin typeface="system-ui"/>
              </a:rPr>
              <a:t>réel cluster de calculs</a:t>
            </a:r>
            <a:r>
              <a:rPr lang="fr-FR" b="0" i="0" dirty="0">
                <a:effectLst/>
                <a:latin typeface="system-ui"/>
              </a:rPr>
              <a:t>.</a:t>
            </a:r>
            <a:br>
              <a:rPr lang="fr-FR" b="0" i="0" dirty="0">
                <a:effectLst/>
                <a:latin typeface="system-ui"/>
              </a:rPr>
            </a:br>
            <a:r>
              <a:rPr lang="fr-FR" b="0" i="0" dirty="0">
                <a:effectLst/>
                <a:latin typeface="system-ui"/>
              </a:rPr>
              <a:t>L'objectif était de pouvoir </a:t>
            </a:r>
            <a:r>
              <a:rPr lang="fr-FR" b="1" i="0" dirty="0">
                <a:effectLst/>
                <a:latin typeface="system-ui"/>
              </a:rPr>
              <a:t>anticiper une future augmentation de la charge de travail</a:t>
            </a:r>
            <a:r>
              <a:rPr lang="fr-FR" b="0" i="0" dirty="0">
                <a:effectLst/>
                <a:latin typeface="system-ui"/>
              </a:rPr>
              <a:t>.</a:t>
            </a:r>
          </a:p>
          <a:p>
            <a:pPr algn="l"/>
            <a:r>
              <a:rPr lang="fr-FR" b="0" i="0" dirty="0">
                <a:effectLst/>
                <a:latin typeface="system-ui"/>
              </a:rPr>
              <a:t>Le meilleur choix retenu a été l'utilisation du prestataire de services </a:t>
            </a:r>
            <a:r>
              <a:rPr lang="fr-FR" b="1" i="0" dirty="0">
                <a:effectLst/>
                <a:latin typeface="system-ui"/>
              </a:rPr>
              <a:t>Amazon Web Services</a:t>
            </a:r>
            <a:br>
              <a:rPr lang="fr-FR" b="0" i="0" dirty="0">
                <a:effectLst/>
                <a:latin typeface="system-ui"/>
              </a:rPr>
            </a:br>
            <a:r>
              <a:rPr lang="fr-FR" b="0" i="0" dirty="0">
                <a:effectLst/>
                <a:latin typeface="system-ui"/>
              </a:rPr>
              <a:t>qui nous permet de </a:t>
            </a:r>
            <a:r>
              <a:rPr lang="fr-FR" b="1" i="0" dirty="0">
                <a:effectLst/>
                <a:latin typeface="system-ui"/>
              </a:rPr>
              <a:t>louer à la demande de la puissance de calculs</a:t>
            </a:r>
            <a:r>
              <a:rPr lang="fr-FR" b="0" i="0" dirty="0">
                <a:effectLst/>
                <a:latin typeface="system-ui"/>
              </a:rPr>
              <a:t>,</a:t>
            </a:r>
            <a:br>
              <a:rPr lang="fr-FR" b="0" i="0" dirty="0">
                <a:effectLst/>
                <a:latin typeface="system-ui"/>
              </a:rPr>
            </a:br>
            <a:r>
              <a:rPr lang="fr-FR" b="0" i="0" dirty="0">
                <a:effectLst/>
                <a:latin typeface="system-ui"/>
              </a:rPr>
              <a:t>pour un </a:t>
            </a:r>
            <a:r>
              <a:rPr lang="fr-FR" b="1" i="0" dirty="0">
                <a:effectLst/>
                <a:latin typeface="system-ui"/>
              </a:rPr>
              <a:t>coût tout à fait acceptable</a:t>
            </a:r>
            <a:r>
              <a:rPr lang="fr-FR" b="0" i="0" dirty="0">
                <a:effectLst/>
                <a:latin typeface="system-ui"/>
              </a:rPr>
              <a:t>.</a:t>
            </a:r>
            <a:br>
              <a:rPr lang="fr-FR" b="0" i="0" dirty="0">
                <a:effectLst/>
                <a:latin typeface="system-ui"/>
              </a:rPr>
            </a:br>
            <a:r>
              <a:rPr lang="fr-FR" b="0" i="0" dirty="0">
                <a:effectLst/>
                <a:latin typeface="system-ui"/>
              </a:rPr>
              <a:t>Ce service se nomme </a:t>
            </a:r>
            <a:r>
              <a:rPr lang="fr-FR" b="1" i="0" dirty="0">
                <a:effectLst/>
                <a:latin typeface="system-ui"/>
              </a:rPr>
              <a:t>EC2</a:t>
            </a:r>
            <a:r>
              <a:rPr lang="fr-FR" b="0" i="0" dirty="0">
                <a:effectLst/>
                <a:latin typeface="system-ui"/>
              </a:rPr>
              <a:t> et se classe parmi les offres </a:t>
            </a:r>
            <a:r>
              <a:rPr lang="fr-FR" b="1" i="0" dirty="0">
                <a:effectLst/>
                <a:latin typeface="system-ui"/>
              </a:rPr>
              <a:t>Infrastructure As A Service</a:t>
            </a:r>
            <a:r>
              <a:rPr lang="fr-FR" b="0" i="0" dirty="0">
                <a:effectLst/>
                <a:latin typeface="system-ui"/>
              </a:rPr>
              <a:t> (IAAS).</a:t>
            </a:r>
          </a:p>
          <a:p>
            <a:pPr algn="l"/>
            <a:r>
              <a:rPr lang="fr-FR" b="0" i="0" dirty="0">
                <a:effectLst/>
                <a:latin typeface="system-ui"/>
              </a:rPr>
              <a:t>Nous sommes allez plus loin en utilisant un service de plus</a:t>
            </a:r>
            <a:br>
              <a:rPr lang="fr-FR" b="0" i="0" dirty="0">
                <a:effectLst/>
                <a:latin typeface="system-ui"/>
              </a:rPr>
            </a:br>
            <a:r>
              <a:rPr lang="fr-FR" b="0" i="0" dirty="0">
                <a:effectLst/>
                <a:latin typeface="system-ui"/>
              </a:rPr>
              <a:t>haut niveau (</a:t>
            </a:r>
            <a:r>
              <a:rPr lang="fr-FR" b="1" i="0" dirty="0">
                <a:effectLst/>
                <a:latin typeface="system-ui"/>
              </a:rPr>
              <a:t>Plateforme As A Service</a:t>
            </a:r>
            <a:r>
              <a:rPr lang="fr-FR" b="0" i="0" dirty="0">
                <a:effectLst/>
                <a:latin typeface="system-ui"/>
              </a:rPr>
              <a:t> PAAS)</a:t>
            </a:r>
            <a:br>
              <a:rPr lang="fr-FR" b="0" i="0" dirty="0">
                <a:effectLst/>
                <a:latin typeface="system-ui"/>
              </a:rPr>
            </a:br>
            <a:r>
              <a:rPr lang="fr-FR" b="0" i="0" dirty="0">
                <a:effectLst/>
                <a:latin typeface="system-ui"/>
              </a:rPr>
              <a:t>en utilisant le service </a:t>
            </a:r>
            <a:r>
              <a:rPr lang="fr-FR" b="1" i="0" dirty="0">
                <a:effectLst/>
                <a:latin typeface="system-ui"/>
              </a:rPr>
              <a:t>EMR</a:t>
            </a:r>
            <a:r>
              <a:rPr lang="fr-FR" b="0" i="0" dirty="0">
                <a:effectLst/>
                <a:latin typeface="system-ui"/>
              </a:rPr>
              <a:t> qui nous permet d'un seul coup</a:t>
            </a:r>
            <a:br>
              <a:rPr lang="fr-FR" b="0" i="0" dirty="0">
                <a:effectLst/>
                <a:latin typeface="system-ui"/>
              </a:rPr>
            </a:br>
            <a:r>
              <a:rPr lang="fr-FR" b="0" i="0" dirty="0">
                <a:effectLst/>
                <a:latin typeface="system-ui"/>
              </a:rPr>
              <a:t>d'</a:t>
            </a:r>
            <a:r>
              <a:rPr lang="fr-FR" b="1" i="0" dirty="0">
                <a:effectLst/>
                <a:latin typeface="system-ui"/>
              </a:rPr>
              <a:t>instancier plusieurs serveur (un cluster)</a:t>
            </a:r>
            <a:r>
              <a:rPr lang="fr-FR" b="0" i="0" dirty="0">
                <a:effectLst/>
                <a:latin typeface="system-ui"/>
              </a:rPr>
              <a:t> sur lesquels</a:t>
            </a:r>
            <a:br>
              <a:rPr lang="fr-FR" b="0" i="0" dirty="0">
                <a:effectLst/>
                <a:latin typeface="system-ui"/>
              </a:rPr>
            </a:br>
            <a:r>
              <a:rPr lang="fr-FR" b="0" i="0" dirty="0">
                <a:effectLst/>
                <a:latin typeface="system-ui"/>
              </a:rPr>
              <a:t>nous avons pu demander l'installation et la configuration de plusieurs</a:t>
            </a:r>
            <a:br>
              <a:rPr lang="fr-FR" b="0" i="0" dirty="0">
                <a:effectLst/>
                <a:latin typeface="system-ui"/>
              </a:rPr>
            </a:br>
            <a:r>
              <a:rPr lang="fr-FR" b="0" i="0" dirty="0">
                <a:effectLst/>
                <a:latin typeface="system-ui"/>
              </a:rPr>
              <a:t>programmes et librairies nécessaires à notre projet comme </a:t>
            </a:r>
            <a:r>
              <a:rPr lang="fr-FR" b="1" i="0" dirty="0">
                <a:effectLst/>
                <a:latin typeface="system-ui"/>
              </a:rPr>
              <a:t>Spark</a:t>
            </a:r>
            <a:r>
              <a:rPr lang="fr-FR" b="0" i="0" dirty="0">
                <a:effectLst/>
                <a:latin typeface="system-ui"/>
              </a:rPr>
              <a:t>,</a:t>
            </a:r>
            <a:br>
              <a:rPr lang="fr-FR" b="0" i="0" dirty="0">
                <a:effectLst/>
                <a:latin typeface="system-ui"/>
              </a:rPr>
            </a:br>
            <a:r>
              <a:rPr lang="fr-FR" b="1" i="0" dirty="0">
                <a:effectLst/>
                <a:latin typeface="system-ui"/>
              </a:rPr>
              <a:t>Hadoop</a:t>
            </a:r>
            <a:r>
              <a:rPr lang="fr-FR" b="0" i="0" dirty="0">
                <a:effectLst/>
                <a:latin typeface="system-ui"/>
              </a:rPr>
              <a:t>, </a:t>
            </a:r>
            <a:r>
              <a:rPr lang="fr-FR" b="1" i="0" dirty="0" err="1">
                <a:effectLst/>
                <a:latin typeface="system-ui"/>
              </a:rPr>
              <a:t>JupyterHub</a:t>
            </a:r>
            <a:r>
              <a:rPr lang="fr-FR" b="0" i="0" dirty="0">
                <a:effectLst/>
                <a:latin typeface="system-ui"/>
              </a:rPr>
              <a:t> ainsi que la librairie </a:t>
            </a:r>
            <a:r>
              <a:rPr lang="fr-FR" b="1" i="0" dirty="0" err="1">
                <a:effectLst/>
                <a:latin typeface="system-ui"/>
              </a:rPr>
              <a:t>TensorFlow</a:t>
            </a:r>
            <a:r>
              <a:rPr lang="fr-FR" b="0" i="0" dirty="0">
                <a:effectLst/>
                <a:latin typeface="system-ui"/>
              </a:rPr>
              <a:t>.</a:t>
            </a:r>
          </a:p>
          <a:p>
            <a:pPr algn="l"/>
            <a:r>
              <a:rPr lang="fr-FR" b="0" i="0" dirty="0">
                <a:effectLst/>
                <a:latin typeface="system-ui"/>
              </a:rPr>
              <a:t>En plus d'être plus </a:t>
            </a:r>
            <a:r>
              <a:rPr lang="fr-FR" b="1" i="0" dirty="0">
                <a:effectLst/>
                <a:latin typeface="system-ui"/>
              </a:rPr>
              <a:t>rapide et efficace à mettre en place</a:t>
            </a:r>
            <a:r>
              <a:rPr lang="fr-FR" b="0" i="0" dirty="0">
                <a:effectLst/>
                <a:latin typeface="system-ui"/>
              </a:rPr>
              <a:t>, nous avons</a:t>
            </a:r>
            <a:br>
              <a:rPr lang="fr-FR" b="0" i="0" dirty="0">
                <a:effectLst/>
                <a:latin typeface="system-ui"/>
              </a:rPr>
            </a:br>
            <a:r>
              <a:rPr lang="fr-FR" b="0" i="0" dirty="0">
                <a:effectLst/>
                <a:latin typeface="system-ui"/>
              </a:rPr>
              <a:t>la </a:t>
            </a:r>
            <a:r>
              <a:rPr lang="fr-FR" b="1" i="0" dirty="0">
                <a:effectLst/>
                <a:latin typeface="system-ui"/>
              </a:rPr>
              <a:t>certitude du bon fonctionnement de la solution</a:t>
            </a:r>
            <a:r>
              <a:rPr lang="fr-FR" b="0" i="0" dirty="0">
                <a:effectLst/>
                <a:latin typeface="system-ui"/>
              </a:rPr>
              <a:t>, celle-ci ayant été</a:t>
            </a:r>
            <a:br>
              <a:rPr lang="fr-FR" b="0" i="0" dirty="0">
                <a:effectLst/>
                <a:latin typeface="system-ui"/>
              </a:rPr>
            </a:br>
            <a:r>
              <a:rPr lang="fr-FR" b="0" i="0" dirty="0">
                <a:effectLst/>
                <a:latin typeface="system-ui"/>
              </a:rPr>
              <a:t>préalablement validé par les ingénieurs d'Amazon.</a:t>
            </a:r>
          </a:p>
          <a:p>
            <a:pPr algn="l"/>
            <a:r>
              <a:rPr lang="fr-FR" b="0" i="0" dirty="0">
                <a:effectLst/>
                <a:latin typeface="system-ui"/>
              </a:rPr>
              <a:t>Nous avons également pu installer, sans difficulté, </a:t>
            </a:r>
            <a:r>
              <a:rPr lang="fr-FR" b="1" i="0" dirty="0">
                <a:effectLst/>
                <a:latin typeface="system-ui"/>
              </a:rPr>
              <a:t>les packages</a:t>
            </a:r>
            <a:br>
              <a:rPr lang="fr-FR" b="1" i="0" dirty="0">
                <a:effectLst/>
                <a:latin typeface="system-ui"/>
              </a:rPr>
            </a:br>
            <a:r>
              <a:rPr lang="fr-FR" b="1" i="0" dirty="0">
                <a:effectLst/>
                <a:latin typeface="system-ui"/>
              </a:rPr>
              <a:t>nécessaires sur l'ensembles des machines du cluster</a:t>
            </a:r>
            <a:r>
              <a:rPr lang="fr-FR" b="0" i="0" dirty="0">
                <a:effectLst/>
                <a:latin typeface="system-ui"/>
              </a:rPr>
              <a:t>.</a:t>
            </a:r>
          </a:p>
          <a:p>
            <a:pPr algn="l"/>
            <a:r>
              <a:rPr lang="fr-FR" b="0" i="0" dirty="0">
                <a:effectLst/>
                <a:latin typeface="system-ui"/>
              </a:rPr>
              <a:t>Enfin, avec très peu de modification, et plus simplement encore,</a:t>
            </a:r>
            <a:br>
              <a:rPr lang="fr-FR" b="0" i="0" dirty="0">
                <a:effectLst/>
                <a:latin typeface="system-ui"/>
              </a:rPr>
            </a:br>
            <a:r>
              <a:rPr lang="fr-FR" b="0" i="0" dirty="0">
                <a:effectLst/>
                <a:latin typeface="system-ui"/>
              </a:rPr>
              <a:t>nous avons pu </a:t>
            </a:r>
            <a:r>
              <a:rPr lang="fr-FR" b="1" i="0" dirty="0">
                <a:effectLst/>
                <a:latin typeface="system-ui"/>
              </a:rPr>
              <a:t>exécuter notre notebook comme nous l'avions fait localement</a:t>
            </a:r>
            <a:r>
              <a:rPr lang="fr-FR" b="0" i="0" dirty="0">
                <a:effectLst/>
                <a:latin typeface="system-ui"/>
              </a:rPr>
              <a:t>.</a:t>
            </a:r>
            <a:br>
              <a:rPr lang="fr-FR" b="0" i="0" dirty="0">
                <a:effectLst/>
                <a:latin typeface="system-ui"/>
              </a:rPr>
            </a:br>
            <a:r>
              <a:rPr lang="fr-FR" b="0" i="0" dirty="0">
                <a:effectLst/>
                <a:latin typeface="system-ui"/>
              </a:rPr>
              <a:t>Nous avons cette fois-ci exécuté le traitement sur </a:t>
            </a:r>
            <a:r>
              <a:rPr lang="fr-FR" b="1" i="0" dirty="0">
                <a:effectLst/>
                <a:latin typeface="system-ui"/>
              </a:rPr>
              <a:t>l'ensemble des images de notre dossier "Test"</a:t>
            </a:r>
            <a:r>
              <a:rPr lang="fr-FR" b="0" i="0" dirty="0">
                <a:effectLst/>
                <a:latin typeface="system-ui"/>
              </a:rPr>
              <a:t>.</a:t>
            </a:r>
          </a:p>
          <a:p>
            <a:pPr algn="l"/>
            <a:r>
              <a:rPr lang="fr-FR" b="0" i="0" dirty="0">
                <a:effectLst/>
                <a:latin typeface="system-ui"/>
              </a:rPr>
              <a:t>Nous avons opté pour le service </a:t>
            </a:r>
            <a:r>
              <a:rPr lang="fr-FR" b="1" i="0" dirty="0">
                <a:effectLst/>
                <a:latin typeface="system-ui"/>
              </a:rPr>
              <a:t>Amazon S3</a:t>
            </a:r>
            <a:r>
              <a:rPr lang="fr-FR" b="0" i="0" dirty="0">
                <a:effectLst/>
                <a:latin typeface="system-ui"/>
              </a:rPr>
              <a:t> pour </a:t>
            </a:r>
            <a:r>
              <a:rPr lang="fr-FR" b="1" i="0" dirty="0">
                <a:effectLst/>
                <a:latin typeface="system-ui"/>
              </a:rPr>
              <a:t>stocker les données de notre projet</a:t>
            </a:r>
            <a:r>
              <a:rPr lang="fr-FR" b="0" i="0" dirty="0">
                <a:effectLst/>
                <a:latin typeface="system-ui"/>
              </a:rPr>
              <a:t>.</a:t>
            </a:r>
            <a:br>
              <a:rPr lang="fr-FR" b="0" i="0" dirty="0">
                <a:effectLst/>
                <a:latin typeface="system-ui"/>
              </a:rPr>
            </a:br>
            <a:r>
              <a:rPr lang="fr-FR" b="0" i="0" dirty="0">
                <a:effectLst/>
                <a:latin typeface="system-ui"/>
              </a:rPr>
              <a:t>S3 offre, pour un faible coût, toutes les conditions dont nous avons besoin pour stocker</a:t>
            </a:r>
            <a:br>
              <a:rPr lang="fr-FR" b="0" i="0" dirty="0">
                <a:effectLst/>
                <a:latin typeface="system-ui"/>
              </a:rPr>
            </a:br>
            <a:r>
              <a:rPr lang="fr-FR" b="0" i="0" dirty="0">
                <a:effectLst/>
                <a:latin typeface="system-ui"/>
              </a:rPr>
              <a:t>et exploiter de manière efficace nos données.</a:t>
            </a:r>
            <a:br>
              <a:rPr lang="fr-FR" b="0" i="0" dirty="0">
                <a:effectLst/>
                <a:latin typeface="system-ui"/>
              </a:rPr>
            </a:br>
            <a:r>
              <a:rPr lang="fr-FR" b="0" i="0" dirty="0">
                <a:effectLst/>
                <a:latin typeface="system-ui"/>
              </a:rPr>
              <a:t>L'espace alloué est potentiellement </a:t>
            </a:r>
            <a:r>
              <a:rPr lang="fr-FR" b="1" i="0" dirty="0">
                <a:effectLst/>
                <a:latin typeface="system-ui"/>
              </a:rPr>
              <a:t>illimité</a:t>
            </a:r>
            <a:r>
              <a:rPr lang="fr-FR" b="0" i="0" dirty="0">
                <a:effectLst/>
                <a:latin typeface="system-ui"/>
              </a:rPr>
              <a:t>, mais les coûts seront fonction de l'espace utilisé.</a:t>
            </a:r>
          </a:p>
          <a:p>
            <a:pPr algn="l"/>
            <a:r>
              <a:rPr lang="fr-FR" b="0" i="0" dirty="0">
                <a:effectLst/>
                <a:latin typeface="system-ui"/>
              </a:rPr>
              <a:t>Il nous sera </a:t>
            </a:r>
            <a:r>
              <a:rPr lang="fr-FR" b="1" i="0" dirty="0">
                <a:effectLst/>
                <a:latin typeface="system-ui"/>
              </a:rPr>
              <a:t>facile de faire face à une monté de la charge de travail</a:t>
            </a:r>
            <a:r>
              <a:rPr lang="fr-FR" b="0" i="0" dirty="0">
                <a:effectLst/>
                <a:latin typeface="system-ui"/>
              </a:rPr>
              <a:t> en </a:t>
            </a:r>
            <a:r>
              <a:rPr lang="fr-FR" b="1" i="0" dirty="0">
                <a:effectLst/>
                <a:latin typeface="system-ui"/>
              </a:rPr>
              <a:t>redimensionnant</a:t>
            </a:r>
            <a:br>
              <a:rPr lang="fr-FR" b="0" i="0" dirty="0">
                <a:effectLst/>
                <a:latin typeface="system-ui"/>
              </a:rPr>
            </a:br>
            <a:r>
              <a:rPr lang="fr-FR" b="0" i="0" dirty="0">
                <a:effectLst/>
                <a:latin typeface="system-ui"/>
              </a:rPr>
              <a:t>simplement notre cluster de machines (horizontalement et/ou verticalement au besoin),</a:t>
            </a:r>
            <a:br>
              <a:rPr lang="fr-FR" b="0" i="0" dirty="0">
                <a:effectLst/>
                <a:latin typeface="system-ui"/>
              </a:rPr>
            </a:br>
            <a:r>
              <a:rPr lang="fr-FR" b="0" i="0" dirty="0">
                <a:effectLst/>
                <a:latin typeface="system-ui"/>
              </a:rPr>
              <a:t>les coûts augmenteront en conséquence mais resteront nettement inférieurs aux coûts engendrés</a:t>
            </a:r>
            <a:br>
              <a:rPr lang="fr-FR" b="0" i="0" dirty="0">
                <a:effectLst/>
                <a:latin typeface="system-ui"/>
              </a:rPr>
            </a:br>
            <a:r>
              <a:rPr lang="fr-FR" b="0" i="0" dirty="0">
                <a:effectLst/>
                <a:latin typeface="system-ui"/>
              </a:rPr>
              <a:t>par l'achat de matériels ou par la location de serveurs dédiés.</a:t>
            </a:r>
          </a:p>
          <a:p>
            <a:pPr algn="l"/>
            <a:endParaRPr lang="fr-FR" b="0" i="0" dirty="0">
              <a:effectLst/>
              <a:latin typeface="system-ui"/>
            </a:endParaRPr>
          </a:p>
          <a:p>
            <a:pPr algn="l"/>
            <a:endParaRPr lang="fr-FR" b="0" i="0" dirty="0">
              <a:effectLst/>
              <a:latin typeface="system-ui"/>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fr-FR" dirty="0">
                <a:effectLst/>
                <a:latin typeface="Menlo" panose="020B0609030804020204" pitchFamily="49" charset="0"/>
              </a:rPr>
              <a:t>• • </a:t>
            </a:r>
            <a:r>
              <a:rPr lang="fr-FR" dirty="0">
                <a:effectLst/>
                <a:latin typeface="Helvetica Neue" panose="02000503000000020004" pitchFamily="2" charset="0"/>
              </a:rPr>
              <a:t>Votre retour critique de cette solution sera également précieuse, avant de décider de la généraliser</a:t>
            </a:r>
          </a:p>
          <a:p>
            <a:pPr algn="l"/>
            <a:endParaRPr lang="fr-FR" b="0" i="0" dirty="0">
              <a:effectLst/>
              <a:latin typeface="system-ui"/>
            </a:endParaRPr>
          </a:p>
          <a:p>
            <a:r>
              <a:rPr lang="fr-FR" b="1" dirty="0"/>
              <a:t>Prochaine phase : Passer à la classification</a:t>
            </a:r>
          </a:p>
          <a:p>
            <a:pPr>
              <a:buFont typeface="+mj-lt"/>
              <a:buAutoNum type="arabicPeriod"/>
            </a:pPr>
            <a:r>
              <a:rPr lang="fr-FR" b="1" dirty="0"/>
              <a:t>Entraîner un modèle de classification</a:t>
            </a:r>
            <a:r>
              <a:rPr lang="fr-FR" dirty="0"/>
              <a:t> :</a:t>
            </a:r>
          </a:p>
          <a:p>
            <a:pPr marL="742950" lvl="1" indent="-285750">
              <a:buFont typeface="+mj-lt"/>
              <a:buAutoNum type="arabicPeriod"/>
            </a:pPr>
            <a:r>
              <a:rPr lang="fr-FR" dirty="0"/>
              <a:t>Utiliser les </a:t>
            </a:r>
            <a:r>
              <a:rPr lang="fr-FR" b="1" dirty="0" err="1"/>
              <a:t>features</a:t>
            </a:r>
            <a:r>
              <a:rPr lang="fr-FR" b="1" dirty="0"/>
              <a:t> réduites par PCA</a:t>
            </a:r>
            <a:r>
              <a:rPr lang="fr-FR" dirty="0"/>
              <a:t> comme entrées pour un modèle de classification (ex : </a:t>
            </a:r>
            <a:r>
              <a:rPr lang="fr-FR" dirty="0" err="1"/>
              <a:t>Logistic</a:t>
            </a:r>
            <a:r>
              <a:rPr lang="fr-FR" dirty="0"/>
              <a:t> </a:t>
            </a:r>
            <a:r>
              <a:rPr lang="fr-FR" dirty="0" err="1"/>
              <a:t>Regression</a:t>
            </a:r>
            <a:r>
              <a:rPr lang="fr-FR" dirty="0"/>
              <a:t>, </a:t>
            </a:r>
            <a:r>
              <a:rPr lang="fr-FR" dirty="0" err="1"/>
              <a:t>Random</a:t>
            </a:r>
            <a:r>
              <a:rPr lang="fr-FR" dirty="0"/>
              <a:t> Forest, SVM, ou même un réseau de neurones).</a:t>
            </a:r>
          </a:p>
          <a:p>
            <a:pPr marL="742950" lvl="1" indent="-285750">
              <a:buFont typeface="+mj-lt"/>
              <a:buAutoNum type="arabicPeriod"/>
            </a:pPr>
            <a:r>
              <a:rPr lang="fr-FR" dirty="0"/>
              <a:t>Labels (</a:t>
            </a:r>
            <a:r>
              <a:rPr lang="fr-FR" dirty="0" err="1"/>
              <a:t>path</a:t>
            </a:r>
            <a:r>
              <a:rPr lang="fr-FR" dirty="0"/>
              <a:t> et label) permettent de construire un jeu de données supervisé.</a:t>
            </a:r>
          </a:p>
          <a:p>
            <a:pPr>
              <a:buFont typeface="+mj-lt"/>
              <a:buAutoNum type="arabicPeriod"/>
            </a:pPr>
            <a:r>
              <a:rPr lang="fr-FR" b="1" dirty="0"/>
              <a:t>Pipeline de reconnaissance d'images</a:t>
            </a:r>
            <a:r>
              <a:rPr lang="fr-FR" dirty="0"/>
              <a:t> :</a:t>
            </a:r>
          </a:p>
          <a:p>
            <a:pPr marL="742950" lvl="1" indent="-285750">
              <a:buFont typeface="+mj-lt"/>
              <a:buAutoNum type="arabicPeriod"/>
            </a:pPr>
            <a:r>
              <a:rPr lang="fr-FR" dirty="0"/>
              <a:t>En phase </a:t>
            </a:r>
            <a:r>
              <a:rPr lang="fr-FR" b="1" dirty="0"/>
              <a:t>d'inférence</a:t>
            </a:r>
            <a:r>
              <a:rPr lang="fr-FR" dirty="0"/>
              <a:t>, prendre une image réelle :</a:t>
            </a:r>
          </a:p>
          <a:p>
            <a:pPr marL="1143000" lvl="2" indent="-228600">
              <a:buFont typeface="+mj-lt"/>
              <a:buAutoNum type="arabicPeriod"/>
            </a:pPr>
            <a:r>
              <a:rPr lang="fr-FR" dirty="0"/>
              <a:t>Appliquer le même </a:t>
            </a:r>
            <a:r>
              <a:rPr lang="fr-FR" b="1" dirty="0"/>
              <a:t>prétraitement</a:t>
            </a:r>
            <a:r>
              <a:rPr lang="fr-FR" dirty="0"/>
              <a:t>.</a:t>
            </a:r>
          </a:p>
          <a:p>
            <a:pPr marL="1143000" lvl="2" indent="-228600">
              <a:buFont typeface="+mj-lt"/>
              <a:buAutoNum type="arabicPeriod"/>
            </a:pPr>
            <a:r>
              <a:rPr lang="fr-FR" dirty="0"/>
              <a:t>Extraire les </a:t>
            </a:r>
            <a:r>
              <a:rPr lang="fr-FR" b="1" dirty="0" err="1"/>
              <a:t>features</a:t>
            </a:r>
            <a:r>
              <a:rPr lang="fr-FR" dirty="0"/>
              <a:t> avec MobileNetV2.</a:t>
            </a:r>
          </a:p>
          <a:p>
            <a:pPr marL="1143000" lvl="2" indent="-228600">
              <a:buFont typeface="+mj-lt"/>
              <a:buAutoNum type="arabicPeriod"/>
            </a:pPr>
            <a:r>
              <a:rPr lang="fr-FR" dirty="0"/>
              <a:t>Appliquer </a:t>
            </a:r>
            <a:r>
              <a:rPr lang="fr-FR" b="1" dirty="0"/>
              <a:t>PCA</a:t>
            </a:r>
            <a:r>
              <a:rPr lang="fr-FR" dirty="0"/>
              <a:t> pour projeter dans les 50 dimensions.</a:t>
            </a:r>
          </a:p>
          <a:p>
            <a:pPr marL="1143000" lvl="2" indent="-228600">
              <a:buFont typeface="+mj-lt"/>
              <a:buAutoNum type="arabicPeriod"/>
            </a:pPr>
            <a:r>
              <a:rPr lang="fr-FR" dirty="0"/>
              <a:t>Utiliser le modèle entraîné pour prédire la </a:t>
            </a:r>
            <a:r>
              <a:rPr lang="fr-FR" b="1" dirty="0"/>
              <a:t>classe</a:t>
            </a:r>
            <a:r>
              <a:rPr lang="fr-FR" dirty="0"/>
              <a:t> de l'image.</a:t>
            </a:r>
          </a:p>
          <a:p>
            <a:r>
              <a:rPr lang="fr-FR" b="1" dirty="0"/>
              <a:t>Pourquoi cette étape est cruciale ?</a:t>
            </a:r>
          </a:p>
          <a:p>
            <a:pPr>
              <a:buFont typeface="Arial" panose="020B0604020202020204" pitchFamily="34" charset="0"/>
              <a:buChar char="•"/>
            </a:pPr>
            <a:r>
              <a:rPr lang="fr-FR" b="1" dirty="0" err="1"/>
              <a:t>Feature</a:t>
            </a:r>
            <a:r>
              <a:rPr lang="fr-FR" b="1" dirty="0"/>
              <a:t> Extraction</a:t>
            </a:r>
            <a:r>
              <a:rPr lang="fr-FR" dirty="0"/>
              <a:t> : La </a:t>
            </a:r>
            <a:r>
              <a:rPr lang="fr-FR" b="1" dirty="0"/>
              <a:t>qualité</a:t>
            </a:r>
            <a:r>
              <a:rPr lang="fr-FR" dirty="0"/>
              <a:t> des </a:t>
            </a:r>
            <a:r>
              <a:rPr lang="fr-FR" dirty="0" err="1"/>
              <a:t>features</a:t>
            </a:r>
            <a:r>
              <a:rPr lang="fr-FR" dirty="0"/>
              <a:t> détermine les performances du modèle final.</a:t>
            </a:r>
          </a:p>
          <a:p>
            <a:pPr>
              <a:buFont typeface="Arial" panose="020B0604020202020204" pitchFamily="34" charset="0"/>
              <a:buChar char="•"/>
            </a:pPr>
            <a:r>
              <a:rPr lang="fr-FR" b="1" dirty="0"/>
              <a:t>Scalabilité</a:t>
            </a:r>
            <a:r>
              <a:rPr lang="fr-FR" dirty="0"/>
              <a:t> : Spark permet d'extraire des </a:t>
            </a:r>
            <a:r>
              <a:rPr lang="fr-FR" dirty="0" err="1"/>
              <a:t>features</a:t>
            </a:r>
            <a:r>
              <a:rPr lang="fr-FR" dirty="0"/>
              <a:t> pour </a:t>
            </a:r>
            <a:r>
              <a:rPr lang="fr-FR" b="1" dirty="0"/>
              <a:t>des milliers d'images</a:t>
            </a:r>
            <a:r>
              <a:rPr lang="fr-FR" dirty="0"/>
              <a:t>.</a:t>
            </a:r>
          </a:p>
          <a:p>
            <a:pPr>
              <a:buFont typeface="Arial" panose="020B0604020202020204" pitchFamily="34" charset="0"/>
              <a:buChar char="•"/>
            </a:pPr>
            <a:r>
              <a:rPr lang="fr-FR" b="1" dirty="0"/>
              <a:t>Base solide</a:t>
            </a:r>
            <a:r>
              <a:rPr lang="fr-FR" dirty="0"/>
              <a:t> : Les </a:t>
            </a:r>
            <a:r>
              <a:rPr lang="fr-FR" b="1" dirty="0" err="1"/>
              <a:t>features</a:t>
            </a:r>
            <a:r>
              <a:rPr lang="fr-FR" b="1" dirty="0"/>
              <a:t> PCA</a:t>
            </a:r>
            <a:r>
              <a:rPr lang="fr-FR" dirty="0"/>
              <a:t> sont la base sur laquelle un modèle de classification peut être construit.</a:t>
            </a:r>
          </a:p>
          <a:p>
            <a:pPr>
              <a:buFont typeface="Arial" panose="020B0604020202020204" pitchFamily="34" charset="0"/>
              <a:buChar char="•"/>
            </a:pPr>
            <a:endParaRPr lang="fr-FR" dirty="0"/>
          </a:p>
          <a:p>
            <a:pPr>
              <a:buFont typeface="Arial" panose="020B0604020202020204" pitchFamily="34" charset="0"/>
              <a:buChar char="•"/>
            </a:pPr>
            <a:endParaRPr lang="fr-FR" dirty="0"/>
          </a:p>
          <a:p>
            <a:r>
              <a:rPr lang="fr-FR" b="1" dirty="0"/>
              <a:t>Conclusion :</a:t>
            </a:r>
          </a:p>
          <a:p>
            <a:r>
              <a:rPr lang="fr-FR" dirty="0"/>
              <a:t>Ce code pose les </a:t>
            </a:r>
            <a:r>
              <a:rPr lang="fr-FR" b="1" dirty="0"/>
              <a:t>fondations</a:t>
            </a:r>
            <a:r>
              <a:rPr lang="fr-FR" dirty="0"/>
              <a:t> pour un pipeline complet de </a:t>
            </a:r>
            <a:r>
              <a:rPr lang="fr-FR" b="1" dirty="0"/>
              <a:t>classification d'images</a:t>
            </a:r>
            <a:r>
              <a:rPr lang="fr-FR" dirty="0"/>
              <a:t>. La prochaine étape consistera à entraîner un modèle sur les </a:t>
            </a:r>
            <a:r>
              <a:rPr lang="fr-FR" b="1" dirty="0" err="1"/>
              <a:t>features</a:t>
            </a:r>
            <a:r>
              <a:rPr lang="fr-FR" b="1" dirty="0"/>
              <a:t> PCA</a:t>
            </a:r>
            <a:r>
              <a:rPr lang="fr-FR" dirty="0"/>
              <a:t> extraites et réduites, puis appliquer ce modèle sur de nouvelles images pour les </a:t>
            </a:r>
            <a:r>
              <a:rPr lang="fr-FR" b="1" dirty="0"/>
              <a:t>reconnaître automatiquement</a:t>
            </a:r>
            <a:r>
              <a:rPr lang="fr-FR" dirty="0"/>
              <a:t>. 🚀</a:t>
            </a:r>
          </a:p>
          <a:p>
            <a:pPr>
              <a:buFont typeface="Arial" panose="020B0604020202020204" pitchFamily="34" charset="0"/>
              <a:buChar char="•"/>
            </a:pPr>
            <a:endParaRPr lang="fr-FR" dirty="0"/>
          </a:p>
          <a:p>
            <a:pPr algn="l"/>
            <a:endParaRPr lang="fr-FR" b="0" i="0" dirty="0">
              <a:effectLst/>
              <a:latin typeface="system-ui"/>
            </a:endParaRP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135e18421cc_13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135e18421cc_13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fr-FR" dirty="0"/>
              <a:t>Dans le contexte </a:t>
            </a:r>
            <a:r>
              <a:rPr lang="fr-FR" b="1" dirty="0"/>
              <a:t>Big Data et Spark</a:t>
            </a:r>
            <a:r>
              <a:rPr lang="fr-FR" dirty="0"/>
              <a:t>, </a:t>
            </a:r>
            <a:r>
              <a:rPr lang="fr-FR" b="1" dirty="0"/>
              <a:t>"scalabilité horizontale"</a:t>
            </a:r>
            <a:r>
              <a:rPr lang="fr-FR" dirty="0"/>
              <a:t> et </a:t>
            </a:r>
            <a:r>
              <a:rPr lang="fr-FR" b="1" dirty="0"/>
              <a:t>"scalabilité verticale"</a:t>
            </a:r>
            <a:r>
              <a:rPr lang="fr-FR" dirty="0"/>
              <a:t> se réfèrent à deux manières d'augmenter la capacité de traitement d’un cluster.</a:t>
            </a:r>
          </a:p>
          <a:p>
            <a:r>
              <a:rPr lang="fr-FR" b="1" dirty="0"/>
              <a:t>Scalabilité verticale (scale-up) :</a:t>
            </a:r>
          </a:p>
          <a:p>
            <a:pPr>
              <a:buFont typeface="Arial" panose="020B0604020202020204" pitchFamily="34" charset="0"/>
              <a:buChar char="•"/>
            </a:pPr>
            <a:r>
              <a:rPr lang="fr-FR" b="1" dirty="0"/>
              <a:t>Définition</a:t>
            </a:r>
            <a:r>
              <a:rPr lang="fr-FR" dirty="0"/>
              <a:t> : Ajouter </a:t>
            </a:r>
            <a:r>
              <a:rPr lang="fr-FR" b="1" dirty="0"/>
              <a:t>plus de ressources</a:t>
            </a:r>
            <a:r>
              <a:rPr lang="fr-FR" dirty="0"/>
              <a:t> (CPU, RAM, disque) à une machine existante (par exemple, les </a:t>
            </a:r>
            <a:r>
              <a:rPr lang="fr-FR" dirty="0" err="1"/>
              <a:t>workers</a:t>
            </a:r>
            <a:r>
              <a:rPr lang="fr-FR" dirty="0"/>
              <a:t> ou le driver).</a:t>
            </a:r>
          </a:p>
          <a:p>
            <a:pPr>
              <a:buFont typeface="Arial" panose="020B0604020202020204" pitchFamily="34" charset="0"/>
              <a:buChar char="•"/>
            </a:pPr>
            <a:r>
              <a:rPr lang="fr-FR" b="1" dirty="0"/>
              <a:t>Exemple concret</a:t>
            </a:r>
            <a:r>
              <a:rPr lang="fr-FR" dirty="0"/>
              <a:t> :</a:t>
            </a:r>
          </a:p>
          <a:p>
            <a:pPr marL="742950" lvl="1" indent="-285750">
              <a:buFont typeface="Arial" panose="020B0604020202020204" pitchFamily="34" charset="0"/>
              <a:buChar char="•"/>
            </a:pPr>
            <a:r>
              <a:rPr lang="fr-FR" dirty="0"/>
              <a:t>Passer d’une machine </a:t>
            </a:r>
            <a:r>
              <a:rPr lang="fr-FR" b="1" dirty="0"/>
              <a:t>t2.medium</a:t>
            </a:r>
            <a:r>
              <a:rPr lang="fr-FR" dirty="0"/>
              <a:t> (2 CPU, 4 Go RAM) à une </a:t>
            </a:r>
            <a:r>
              <a:rPr lang="fr-FR" b="1" dirty="0"/>
              <a:t>m5.large</a:t>
            </a:r>
            <a:r>
              <a:rPr lang="fr-FR" dirty="0"/>
              <a:t> (4 CPU, 16 Go RAM).</a:t>
            </a:r>
          </a:p>
          <a:p>
            <a:pPr marL="742950" lvl="1" indent="-285750">
              <a:buFont typeface="Arial" panose="020B0604020202020204" pitchFamily="34" charset="0"/>
              <a:buChar char="•"/>
            </a:pPr>
            <a:r>
              <a:rPr lang="fr-FR" dirty="0"/>
              <a:t>Augmenter la mémoire disponible pour le </a:t>
            </a:r>
            <a:r>
              <a:rPr lang="fr-FR" b="1" dirty="0"/>
              <a:t>driver</a:t>
            </a:r>
            <a:r>
              <a:rPr lang="fr-FR" dirty="0"/>
              <a:t> ou les </a:t>
            </a:r>
            <a:r>
              <a:rPr lang="fr-FR" b="1" dirty="0" err="1"/>
              <a:t>executors</a:t>
            </a:r>
            <a:r>
              <a:rPr lang="fr-FR" dirty="0"/>
              <a:t>.</a:t>
            </a:r>
          </a:p>
          <a:p>
            <a:pPr>
              <a:buFont typeface="Arial" panose="020B0604020202020204" pitchFamily="34" charset="0"/>
              <a:buChar char="•"/>
            </a:pPr>
            <a:r>
              <a:rPr lang="fr-FR" b="1" dirty="0"/>
              <a:t>Avantages</a:t>
            </a:r>
            <a:r>
              <a:rPr lang="fr-FR" dirty="0"/>
              <a:t> :</a:t>
            </a:r>
          </a:p>
          <a:p>
            <a:pPr marL="742950" lvl="1" indent="-285750">
              <a:buFont typeface="Arial" panose="020B0604020202020204" pitchFamily="34" charset="0"/>
              <a:buChar char="•"/>
            </a:pPr>
            <a:r>
              <a:rPr lang="fr-FR" dirty="0"/>
              <a:t>Simple à mettre en place.</a:t>
            </a:r>
          </a:p>
          <a:p>
            <a:pPr marL="742950" lvl="1" indent="-285750">
              <a:buFont typeface="Arial" panose="020B0604020202020204" pitchFamily="34" charset="0"/>
              <a:buChar char="•"/>
            </a:pPr>
            <a:r>
              <a:rPr lang="fr-FR" dirty="0"/>
              <a:t>Idéal pour des applications non distribuées ou des </a:t>
            </a:r>
            <a:r>
              <a:rPr lang="fr-FR" dirty="0" err="1"/>
              <a:t>workloads</a:t>
            </a:r>
            <a:r>
              <a:rPr lang="fr-FR" dirty="0"/>
              <a:t> peu complexes.</a:t>
            </a:r>
          </a:p>
          <a:p>
            <a:pPr>
              <a:buFont typeface="Arial" panose="020B0604020202020204" pitchFamily="34" charset="0"/>
              <a:buChar char="•"/>
            </a:pPr>
            <a:r>
              <a:rPr lang="fr-FR" b="1" dirty="0"/>
              <a:t>Limites</a:t>
            </a:r>
            <a:r>
              <a:rPr lang="fr-FR" dirty="0"/>
              <a:t> :</a:t>
            </a:r>
          </a:p>
          <a:p>
            <a:pPr marL="742950" lvl="1" indent="-285750">
              <a:buFont typeface="Arial" panose="020B0604020202020204" pitchFamily="34" charset="0"/>
              <a:buChar char="•"/>
            </a:pPr>
            <a:r>
              <a:rPr lang="fr-FR" dirty="0"/>
              <a:t>La capacité de </a:t>
            </a:r>
            <a:r>
              <a:rPr lang="fr-FR" b="1" dirty="0"/>
              <a:t>mise à l’échelle</a:t>
            </a:r>
            <a:r>
              <a:rPr lang="fr-FR" dirty="0"/>
              <a:t> est limitée par les machines disponibles.</a:t>
            </a:r>
          </a:p>
          <a:p>
            <a:pPr marL="742950" lvl="1" indent="-285750">
              <a:buFont typeface="Arial" panose="020B0604020202020204" pitchFamily="34" charset="0"/>
              <a:buChar char="•"/>
            </a:pPr>
            <a:r>
              <a:rPr lang="fr-FR" dirty="0"/>
              <a:t>Une seule machine reste un </a:t>
            </a:r>
            <a:r>
              <a:rPr lang="fr-FR" b="1" dirty="0"/>
              <a:t>goulet d’étranglement</a:t>
            </a:r>
            <a:r>
              <a:rPr lang="fr-FR" dirty="0"/>
              <a:t>.</a:t>
            </a:r>
          </a:p>
          <a:p>
            <a:r>
              <a:rPr lang="fr-FR" b="1" dirty="0"/>
              <a:t>Scalabilité horizontale (scale-out) :</a:t>
            </a:r>
          </a:p>
          <a:p>
            <a:pPr>
              <a:buFont typeface="Arial" panose="020B0604020202020204" pitchFamily="34" charset="0"/>
              <a:buChar char="•"/>
            </a:pPr>
            <a:r>
              <a:rPr lang="fr-FR" b="1" dirty="0"/>
              <a:t>Définition</a:t>
            </a:r>
            <a:r>
              <a:rPr lang="fr-FR" dirty="0"/>
              <a:t> : Ajouter </a:t>
            </a:r>
            <a:r>
              <a:rPr lang="fr-FR" b="1" dirty="0"/>
              <a:t>plus de machines</a:t>
            </a:r>
            <a:r>
              <a:rPr lang="fr-FR" dirty="0"/>
              <a:t> (</a:t>
            </a:r>
            <a:r>
              <a:rPr lang="fr-FR" dirty="0" err="1"/>
              <a:t>workers</a:t>
            </a:r>
            <a:r>
              <a:rPr lang="fr-FR" dirty="0"/>
              <a:t>) dans un cluster pour répartir la charge de travail.</a:t>
            </a:r>
          </a:p>
          <a:p>
            <a:pPr>
              <a:buFont typeface="Arial" panose="020B0604020202020204" pitchFamily="34" charset="0"/>
              <a:buChar char="•"/>
            </a:pPr>
            <a:r>
              <a:rPr lang="fr-FR" b="1" dirty="0"/>
              <a:t>Exemple concret</a:t>
            </a:r>
            <a:r>
              <a:rPr lang="fr-FR" dirty="0"/>
              <a:t> :</a:t>
            </a:r>
          </a:p>
          <a:p>
            <a:pPr marL="742950" lvl="1" indent="-285750">
              <a:buFont typeface="Arial" panose="020B0604020202020204" pitchFamily="34" charset="0"/>
              <a:buChar char="•"/>
            </a:pPr>
            <a:r>
              <a:rPr lang="fr-FR" dirty="0"/>
              <a:t>Passer de </a:t>
            </a:r>
            <a:r>
              <a:rPr lang="fr-FR" b="1" dirty="0"/>
              <a:t>2 nœuds </a:t>
            </a:r>
            <a:r>
              <a:rPr lang="fr-FR" b="1" dirty="0" err="1"/>
              <a:t>workers</a:t>
            </a:r>
            <a:r>
              <a:rPr lang="fr-FR" dirty="0"/>
              <a:t> à </a:t>
            </a:r>
            <a:r>
              <a:rPr lang="fr-FR" b="1" dirty="0"/>
              <a:t>10 nœuds </a:t>
            </a:r>
            <a:r>
              <a:rPr lang="fr-FR" b="1" dirty="0" err="1"/>
              <a:t>workers</a:t>
            </a:r>
            <a:r>
              <a:rPr lang="fr-FR" dirty="0"/>
              <a:t> dans votre cluster EMR.</a:t>
            </a:r>
          </a:p>
          <a:p>
            <a:pPr marL="742950" lvl="1" indent="-285750">
              <a:buFont typeface="Arial" panose="020B0604020202020204" pitchFamily="34" charset="0"/>
              <a:buChar char="•"/>
            </a:pPr>
            <a:r>
              <a:rPr lang="fr-FR" dirty="0"/>
              <a:t>Chaque </a:t>
            </a:r>
            <a:r>
              <a:rPr lang="fr-FR" dirty="0" err="1"/>
              <a:t>worker</a:t>
            </a:r>
            <a:r>
              <a:rPr lang="fr-FR" dirty="0"/>
              <a:t> exécutera une partie du travail (parallélisation des partitions).</a:t>
            </a:r>
          </a:p>
          <a:p>
            <a:pPr>
              <a:buFont typeface="Arial" panose="020B0604020202020204" pitchFamily="34" charset="0"/>
              <a:buChar char="•"/>
            </a:pPr>
            <a:r>
              <a:rPr lang="fr-FR" b="1" dirty="0"/>
              <a:t>Avantages</a:t>
            </a:r>
            <a:r>
              <a:rPr lang="fr-FR" dirty="0"/>
              <a:t> :</a:t>
            </a:r>
          </a:p>
          <a:p>
            <a:pPr marL="742950" lvl="1" indent="-285750">
              <a:buFont typeface="Arial" panose="020B0604020202020204" pitchFamily="34" charset="0"/>
              <a:buChar char="•"/>
            </a:pPr>
            <a:r>
              <a:rPr lang="fr-FR" dirty="0"/>
              <a:t>Permet de traiter des </a:t>
            </a:r>
            <a:r>
              <a:rPr lang="fr-FR" b="1" dirty="0"/>
              <a:t>volumes de données énormes</a:t>
            </a:r>
            <a:r>
              <a:rPr lang="fr-FR" dirty="0"/>
              <a:t> en répartissant les tâches.</a:t>
            </a:r>
          </a:p>
          <a:p>
            <a:pPr marL="742950" lvl="1" indent="-285750">
              <a:buFont typeface="Arial" panose="020B0604020202020204" pitchFamily="34" charset="0"/>
              <a:buChar char="•"/>
            </a:pPr>
            <a:r>
              <a:rPr lang="fr-FR" dirty="0"/>
              <a:t>Plus adapté aux </a:t>
            </a:r>
            <a:r>
              <a:rPr lang="fr-FR" b="1" dirty="0" err="1"/>
              <a:t>workloads</a:t>
            </a:r>
            <a:r>
              <a:rPr lang="fr-FR" b="1" dirty="0"/>
              <a:t> distribués</a:t>
            </a:r>
            <a:r>
              <a:rPr lang="fr-FR" dirty="0"/>
              <a:t> comme Spark, où les partitions sont envoyées aux différents </a:t>
            </a:r>
            <a:r>
              <a:rPr lang="fr-FR" dirty="0" err="1"/>
              <a:t>workers</a:t>
            </a:r>
            <a:r>
              <a:rPr lang="fr-FR" dirty="0"/>
              <a:t>.</a:t>
            </a:r>
          </a:p>
          <a:p>
            <a:pPr>
              <a:buFont typeface="Arial" panose="020B0604020202020204" pitchFamily="34" charset="0"/>
              <a:buChar char="•"/>
            </a:pPr>
            <a:r>
              <a:rPr lang="fr-FR" b="1" dirty="0"/>
              <a:t>Limites</a:t>
            </a:r>
            <a:r>
              <a:rPr lang="fr-FR" dirty="0"/>
              <a:t> :</a:t>
            </a:r>
          </a:p>
          <a:p>
            <a:pPr marL="742950" lvl="1" indent="-285750">
              <a:buFont typeface="Arial" panose="020B0604020202020204" pitchFamily="34" charset="0"/>
              <a:buChar char="•"/>
            </a:pPr>
            <a:r>
              <a:rPr lang="fr-FR" b="1" dirty="0"/>
              <a:t>Coûts réseau</a:t>
            </a:r>
            <a:r>
              <a:rPr lang="fr-FR" dirty="0"/>
              <a:t> : Plus de machines entraînent une </a:t>
            </a:r>
            <a:r>
              <a:rPr lang="fr-FR" b="1" dirty="0"/>
              <a:t>communication accrue</a:t>
            </a:r>
            <a:r>
              <a:rPr lang="fr-FR" dirty="0"/>
              <a:t> entre les </a:t>
            </a:r>
            <a:r>
              <a:rPr lang="fr-FR" dirty="0" err="1"/>
              <a:t>workers</a:t>
            </a:r>
            <a:r>
              <a:rPr lang="fr-FR" dirty="0"/>
              <a:t>.</a:t>
            </a:r>
          </a:p>
          <a:p>
            <a:pPr marL="742950" lvl="1" indent="-285750">
              <a:buFont typeface="Arial" panose="020B0604020202020204" pitchFamily="34" charset="0"/>
              <a:buChar char="•"/>
            </a:pPr>
            <a:r>
              <a:rPr lang="fr-FR" dirty="0"/>
              <a:t>Nécessite de bien gérer le </a:t>
            </a:r>
            <a:r>
              <a:rPr lang="fr-FR" b="1" dirty="0"/>
              <a:t>partitionnement</a:t>
            </a:r>
            <a:r>
              <a:rPr lang="fr-FR" dirty="0"/>
              <a:t> pour équilibrer la charge.</a:t>
            </a:r>
          </a:p>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5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0" name="Google Shape;50;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1"/>
        <p:cNvGrpSpPr/>
        <p:nvPr/>
      </p:nvGrpSpPr>
      <p:grpSpPr>
        <a:xfrm>
          <a:off x="0" y="0"/>
          <a:ext cx="0" cy="0"/>
          <a:chOff x="0" y="0"/>
          <a:chExt cx="0" cy="0"/>
        </a:xfrm>
      </p:grpSpPr>
      <p:sp>
        <p:nvSpPr>
          <p:cNvPr id="52" name="Google Shape;52;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5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71"/>
        <p:cNvGrpSpPr/>
        <p:nvPr/>
      </p:nvGrpSpPr>
      <p:grpSpPr>
        <a:xfrm>
          <a:off x="0" y="0"/>
          <a:ext cx="0" cy="0"/>
          <a:chOff x="0" y="0"/>
          <a:chExt cx="0" cy="0"/>
        </a:xfrm>
      </p:grpSpPr>
      <p:sp>
        <p:nvSpPr>
          <p:cNvPr id="172" name="Google Shape;172;p24"/>
          <p:cNvSpPr/>
          <p:nvPr/>
        </p:nvSpPr>
        <p:spPr>
          <a:xfrm rot="10800000">
            <a:off x="7181825" y="1722750"/>
            <a:ext cx="1698000" cy="1698000"/>
          </a:xfrm>
          <a:prstGeom prst="pie">
            <a:avLst>
              <a:gd name="adj1" fmla="val 5412192"/>
              <a:gd name="adj2" fmla="val 1620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4"/>
          <p:cNvSpPr/>
          <p:nvPr/>
        </p:nvSpPr>
        <p:spPr>
          <a:xfrm>
            <a:off x="8388600" y="2610575"/>
            <a:ext cx="755400" cy="2532900"/>
          </a:xfrm>
          <a:prstGeom prst="round2SameRect">
            <a:avLst>
              <a:gd name="adj1" fmla="val 50000"/>
              <a:gd name="adj2" fmla="val 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4"/>
          <p:cNvSpPr/>
          <p:nvPr/>
        </p:nvSpPr>
        <p:spPr>
          <a:xfrm rot="-5400000">
            <a:off x="149825" y="-304750"/>
            <a:ext cx="1126800" cy="11268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4"/>
          <p:cNvSpPr/>
          <p:nvPr/>
        </p:nvSpPr>
        <p:spPr>
          <a:xfrm>
            <a:off x="-1551725" y="386250"/>
            <a:ext cx="2738700" cy="27387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76"/>
        <p:cNvGrpSpPr/>
        <p:nvPr/>
      </p:nvGrpSpPr>
      <p:grpSpPr>
        <a:xfrm>
          <a:off x="0" y="0"/>
          <a:ext cx="0" cy="0"/>
          <a:chOff x="0" y="0"/>
          <a:chExt cx="0" cy="0"/>
        </a:xfrm>
      </p:grpSpPr>
      <p:sp>
        <p:nvSpPr>
          <p:cNvPr id="177" name="Google Shape;177;p25"/>
          <p:cNvSpPr/>
          <p:nvPr/>
        </p:nvSpPr>
        <p:spPr>
          <a:xfrm rot="5400000" flipH="1">
            <a:off x="1049250" y="3473750"/>
            <a:ext cx="616500" cy="27150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5"/>
          <p:cNvSpPr/>
          <p:nvPr/>
        </p:nvSpPr>
        <p:spPr>
          <a:xfrm>
            <a:off x="201725" y="3848275"/>
            <a:ext cx="895200" cy="8952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5"/>
          <p:cNvSpPr/>
          <p:nvPr/>
        </p:nvSpPr>
        <p:spPr>
          <a:xfrm>
            <a:off x="713225" y="3587925"/>
            <a:ext cx="409200" cy="409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5"/>
          <p:cNvSpPr/>
          <p:nvPr/>
        </p:nvSpPr>
        <p:spPr>
          <a:xfrm rot="-5400000" flipH="1">
            <a:off x="7478250" y="-1049250"/>
            <a:ext cx="616500" cy="2715000"/>
          </a:xfrm>
          <a:prstGeom prst="round1Rect">
            <a:avLst>
              <a:gd name="adj" fmla="val 5000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5"/>
          <p:cNvSpPr/>
          <p:nvPr/>
        </p:nvSpPr>
        <p:spPr>
          <a:xfrm>
            <a:off x="8194600" y="280950"/>
            <a:ext cx="1418700" cy="141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p:nvPr/>
        </p:nvSpPr>
        <p:spPr>
          <a:xfrm>
            <a:off x="8257550" y="1395950"/>
            <a:ext cx="564600" cy="564300"/>
          </a:xfrm>
          <a:prstGeom prst="ellipse">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inimalist Geometric Shapes Style Pitch Deck by Slidesgo" type="title">
  <p:cSld name="Minimalist Geometric Shapes Style Pitch Deck by Slidesgo">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435025" y="747412"/>
            <a:ext cx="4273800" cy="2925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6000" b="0"/>
            </a:lvl1pPr>
            <a:lvl2pPr lvl="1" algn="ctr">
              <a:spcBef>
                <a:spcPts val="20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4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extLst>
      <p:ext uri="{BB962C8B-B14F-4D97-AF65-F5344CB8AC3E}">
        <p14:creationId xmlns:p14="http://schemas.microsoft.com/office/powerpoint/2010/main" val="295700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1" name="Google Shape;21;p4"/>
          <p:cNvSpPr txBox="1">
            <a:spLocks noGrp="1"/>
          </p:cNvSpPr>
          <p:nvPr>
            <p:ph type="body" idx="1"/>
          </p:nvPr>
        </p:nvSpPr>
        <p:spPr>
          <a:xfrm>
            <a:off x="720000" y="1119138"/>
            <a:ext cx="7704000" cy="368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22" name="Google Shape;22;p4"/>
          <p:cNvSpPr/>
          <p:nvPr/>
        </p:nvSpPr>
        <p:spPr>
          <a:xfrm rot="10800000">
            <a:off x="8608500" y="0"/>
            <a:ext cx="535500" cy="1805400"/>
          </a:xfrm>
          <a:prstGeom prst="round1Rect">
            <a:avLst>
              <a:gd name="adj" fmla="val 5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rot="5400000">
            <a:off x="267750" y="4608817"/>
            <a:ext cx="1086300" cy="10863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1503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3" name="Google Shape;33;p6"/>
          <p:cNvSpPr/>
          <p:nvPr/>
        </p:nvSpPr>
        <p:spPr>
          <a:xfrm rot="2700000">
            <a:off x="8453676" y="465901"/>
            <a:ext cx="1514623" cy="1514199"/>
          </a:xfrm>
          <a:prstGeom prst="roundRect">
            <a:avLst>
              <a:gd name="adj" fmla="val 26624"/>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p:nvPr/>
        </p:nvSpPr>
        <p:spPr>
          <a:xfrm rot="2700000">
            <a:off x="8331073" y="78952"/>
            <a:ext cx="921077" cy="921077"/>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3338100"/>
            <a:ext cx="535500" cy="1805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p:nvPr/>
        </p:nvSpPr>
        <p:spPr>
          <a:xfrm>
            <a:off x="351175" y="4524200"/>
            <a:ext cx="527700" cy="5277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6"/>
          <p:cNvSpPr/>
          <p:nvPr/>
        </p:nvSpPr>
        <p:spPr>
          <a:xfrm rot="5400000">
            <a:off x="143325" y="-212950"/>
            <a:ext cx="689100" cy="1590600"/>
          </a:xfrm>
          <a:prstGeom prst="round2Same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6"/>
          <p:cNvSpPr/>
          <p:nvPr/>
        </p:nvSpPr>
        <p:spPr>
          <a:xfrm>
            <a:off x="1012575" y="174425"/>
            <a:ext cx="270600" cy="2706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032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extLst>
      <p:ext uri="{BB962C8B-B14F-4D97-AF65-F5344CB8AC3E}">
        <p14:creationId xmlns:p14="http://schemas.microsoft.com/office/powerpoint/2010/main" val="3191625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51"/>
        <p:cNvGrpSpPr/>
        <p:nvPr/>
      </p:nvGrpSpPr>
      <p:grpSpPr>
        <a:xfrm>
          <a:off x="0" y="0"/>
          <a:ext cx="0" cy="0"/>
          <a:chOff x="0" y="0"/>
          <a:chExt cx="0" cy="0"/>
        </a:xfrm>
      </p:grpSpPr>
      <p:sp>
        <p:nvSpPr>
          <p:cNvPr id="152" name="Google Shape;15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53" name="Google Shape;153;p21"/>
          <p:cNvSpPr/>
          <p:nvPr/>
        </p:nvSpPr>
        <p:spPr>
          <a:xfrm>
            <a:off x="8425975" y="3308650"/>
            <a:ext cx="5439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a:off x="8697225" y="3126350"/>
            <a:ext cx="341100" cy="341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1"/>
          <p:cNvSpPr/>
          <p:nvPr/>
        </p:nvSpPr>
        <p:spPr>
          <a:xfrm rot="10800000">
            <a:off x="-27575" y="0"/>
            <a:ext cx="543900" cy="1852200"/>
          </a:xfrm>
          <a:prstGeom prst="round2SameRect">
            <a:avLst>
              <a:gd name="adj1" fmla="val 50000"/>
              <a:gd name="adj2" fmla="val 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1"/>
          <p:cNvSpPr/>
          <p:nvPr/>
        </p:nvSpPr>
        <p:spPr>
          <a:xfrm rot="-5400000">
            <a:off x="50525" y="-542925"/>
            <a:ext cx="1325400" cy="13254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94933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85"/>
        <p:cNvGrpSpPr/>
        <p:nvPr/>
      </p:nvGrpSpPr>
      <p:grpSpPr>
        <a:xfrm>
          <a:off x="0" y="0"/>
          <a:ext cx="0" cy="0"/>
          <a:chOff x="0" y="0"/>
          <a:chExt cx="0" cy="0"/>
        </a:xfrm>
      </p:grpSpPr>
      <p:sp>
        <p:nvSpPr>
          <p:cNvPr id="86" name="Google Shape;86;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3200" b="0">
                <a:latin typeface="Poppins Medium"/>
                <a:ea typeface="Poppins Medium"/>
                <a:cs typeface="Poppins Medium"/>
                <a:sym typeface="Poppins Medium"/>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 name="Google Shape;87;p14"/>
          <p:cNvSpPr txBox="1">
            <a:spLocks noGrp="1"/>
          </p:cNvSpPr>
          <p:nvPr>
            <p:ph type="body" idx="1"/>
          </p:nvPr>
        </p:nvSpPr>
        <p:spPr>
          <a:xfrm>
            <a:off x="720000" y="1119199"/>
            <a:ext cx="7704000" cy="2337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sp>
        <p:nvSpPr>
          <p:cNvPr id="88" name="Google Shape;88;p14"/>
          <p:cNvSpPr/>
          <p:nvPr/>
        </p:nvSpPr>
        <p:spPr>
          <a:xfrm rot="10800000">
            <a:off x="8608500" y="0"/>
            <a:ext cx="535500" cy="1805400"/>
          </a:xfrm>
          <a:prstGeom prst="round1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4"/>
          <p:cNvSpPr/>
          <p:nvPr/>
        </p:nvSpPr>
        <p:spPr>
          <a:xfrm>
            <a:off x="0" y="2904150"/>
            <a:ext cx="535500" cy="2395500"/>
          </a:xfrm>
          <a:prstGeom prst="round1Rect">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4"/>
          <p:cNvSpPr/>
          <p:nvPr/>
        </p:nvSpPr>
        <p:spPr>
          <a:xfrm rot="5400000">
            <a:off x="269925" y="4401450"/>
            <a:ext cx="1086300" cy="1086300"/>
          </a:xfrm>
          <a:prstGeom prst="pie">
            <a:avLst>
              <a:gd name="adj1" fmla="val 5412192"/>
              <a:gd name="adj2" fmla="val 1620000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85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sz="8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65" name="Google Shape;165;p23"/>
          <p:cNvSpPr txBox="1">
            <a:spLocks noGrp="1"/>
          </p:cNvSpPr>
          <p:nvPr>
            <p:ph type="subTitle" idx="1"/>
          </p:nvPr>
        </p:nvSpPr>
        <p:spPr>
          <a:xfrm>
            <a:off x="1206750" y="2652000"/>
            <a:ext cx="4209900" cy="99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
        <p:nvSpPr>
          <p:cNvPr id="166" name="Google Shape;166;p23"/>
          <p:cNvSpPr/>
          <p:nvPr/>
        </p:nvSpPr>
        <p:spPr>
          <a:xfrm>
            <a:off x="345625" y="4354125"/>
            <a:ext cx="713100" cy="7131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3"/>
          <p:cNvSpPr/>
          <p:nvPr/>
        </p:nvSpPr>
        <p:spPr>
          <a:xfrm>
            <a:off x="8204425" y="3329950"/>
            <a:ext cx="755400" cy="1852200"/>
          </a:xfrm>
          <a:prstGeom prst="round2SameRect">
            <a:avLst>
              <a:gd name="adj1" fmla="val 50000"/>
              <a:gd name="adj2" fmla="val 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3"/>
          <p:cNvSpPr/>
          <p:nvPr/>
        </p:nvSpPr>
        <p:spPr>
          <a:xfrm>
            <a:off x="7836850" y="4473975"/>
            <a:ext cx="543600" cy="5436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3"/>
          <p:cNvSpPr/>
          <p:nvPr/>
        </p:nvSpPr>
        <p:spPr>
          <a:xfrm rot="2700000">
            <a:off x="-612875" y="3395628"/>
            <a:ext cx="1384798" cy="1384798"/>
          </a:xfrm>
          <a:prstGeom prst="roundRect">
            <a:avLst>
              <a:gd name="adj" fmla="val 26624"/>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280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1pPr>
            <a:lvl2pPr lvl="1"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2pPr>
            <a:lvl3pPr lvl="2"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3pPr>
            <a:lvl4pPr lvl="3"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4pPr>
            <a:lvl5pPr lvl="4"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5pPr>
            <a:lvl6pPr lvl="5"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6pPr>
            <a:lvl7pPr lvl="6"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7pPr>
            <a:lvl8pPr lvl="7"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8pPr>
            <a:lvl9pPr lvl="8" rtl="0">
              <a:spcBef>
                <a:spcPts val="0"/>
              </a:spcBef>
              <a:spcAft>
                <a:spcPts val="0"/>
              </a:spcAft>
              <a:buClr>
                <a:schemeClr val="dk1"/>
              </a:buClr>
              <a:buSzPts val="3500"/>
              <a:buFont typeface="Poppins Medium"/>
              <a:buNone/>
              <a:defRPr sz="3500">
                <a:solidFill>
                  <a:schemeClr val="dk1"/>
                </a:solidFill>
                <a:latin typeface="Poppins Medium"/>
                <a:ea typeface="Poppins Medium"/>
                <a:cs typeface="Poppins Medium"/>
                <a:sym typeface="Poppins Medium"/>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1pPr>
            <a:lvl2pPr marL="914400" lvl="1"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2pPr>
            <a:lvl3pPr marL="1371600" lvl="2"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3pPr>
            <a:lvl4pPr marL="1828800" lvl="3"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4pPr>
            <a:lvl5pPr marL="2286000" lvl="4"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5pPr>
            <a:lvl6pPr marL="2743200" lvl="5"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6pPr>
            <a:lvl7pPr marL="3200400" lvl="6"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7pPr>
            <a:lvl8pPr marL="3657600" lvl="7" indent="-304800">
              <a:lnSpc>
                <a:spcPct val="100000"/>
              </a:lnSpc>
              <a:spcBef>
                <a:spcPts val="1600"/>
              </a:spcBef>
              <a:spcAft>
                <a:spcPts val="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8pPr>
            <a:lvl9pPr marL="4114800" lvl="8" indent="-304800">
              <a:lnSpc>
                <a:spcPct val="100000"/>
              </a:lnSpc>
              <a:spcBef>
                <a:spcPts val="1600"/>
              </a:spcBef>
              <a:spcAft>
                <a:spcPts val="1600"/>
              </a:spcAft>
              <a:buClr>
                <a:schemeClr val="dk1"/>
              </a:buClr>
              <a:buSzPts val="1200"/>
              <a:buFont typeface="Quicksand Medium"/>
              <a:buChar char="■"/>
              <a:defRPr sz="1200">
                <a:solidFill>
                  <a:schemeClr val="dk1"/>
                </a:solidFill>
                <a:latin typeface="Quicksand Medium"/>
                <a:ea typeface="Quicksand Medium"/>
                <a:cs typeface="Quicksand Medium"/>
                <a:sym typeface="Quicksand Medium"/>
              </a:defRPr>
            </a:lvl9pPr>
          </a:lstStyle>
          <a:p>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70" r:id="rId3"/>
    <p:sldLayoutId id="2147483671" r:id="rId4"/>
    <p:sldLayoutId id="2147483675" r:id="rId5"/>
    <p:sldLayoutId id="2147483676" r:id="rId6"/>
    <p:sldLayoutId id="2147483677" r:id="rId7"/>
    <p:sldLayoutId id="2147483680" r:id="rId8"/>
    <p:sldLayoutId id="2147483681" r:id="rId9"/>
    <p:sldLayoutId id="2147483682" r:id="rId10"/>
    <p:sldLayoutId id="2147483683"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9.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9.xml"/><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9"/>
          <p:cNvSpPr txBox="1">
            <a:spLocks noGrp="1"/>
          </p:cNvSpPr>
          <p:nvPr>
            <p:ph type="ctrTitle"/>
          </p:nvPr>
        </p:nvSpPr>
        <p:spPr>
          <a:xfrm>
            <a:off x="2245839" y="747412"/>
            <a:ext cx="4974768" cy="2925300"/>
          </a:xfrm>
          <a:prstGeom prst="rect">
            <a:avLst/>
          </a:prstGeom>
        </p:spPr>
        <p:txBody>
          <a:bodyPr spcFirstLastPara="1" wrap="square" lIns="91425" tIns="91425" rIns="91425" bIns="91425" anchor="b" anchorCtr="0">
            <a:noAutofit/>
          </a:bodyPr>
          <a:lstStyle/>
          <a:p>
            <a:pPr marL="0" lvl="0" indent="0" algn="ctr" rtl="0">
              <a:spcBef>
                <a:spcPts val="0"/>
              </a:spcBef>
              <a:spcAft>
                <a:spcPts val="200"/>
              </a:spcAft>
              <a:buNone/>
            </a:pPr>
            <a:r>
              <a:rPr lang="fr-FR" sz="3600" i="0" dirty="0"/>
              <a:t>Fruits:</a:t>
            </a:r>
            <a:br>
              <a:rPr lang="fr-FR" sz="3600" i="0" dirty="0"/>
            </a:br>
            <a:r>
              <a:rPr lang="fr-FR" sz="3600" i="0" dirty="0"/>
              <a:t>Déployer un modèle dans le Cloud</a:t>
            </a:r>
            <a:endParaRPr sz="3600" dirty="0"/>
          </a:p>
        </p:txBody>
      </p:sp>
      <p:sp>
        <p:nvSpPr>
          <p:cNvPr id="194" name="Google Shape;194;p29"/>
          <p:cNvSpPr txBox="1">
            <a:spLocks noGrp="1"/>
          </p:cNvSpPr>
          <p:nvPr>
            <p:ph type="subTitle" idx="1"/>
          </p:nvPr>
        </p:nvSpPr>
        <p:spPr>
          <a:xfrm>
            <a:off x="2435175" y="4015088"/>
            <a:ext cx="4273800" cy="381000"/>
          </a:xfrm>
          <a:prstGeom prst="rect">
            <a:avLst/>
          </a:prstGeom>
        </p:spPr>
        <p:txBody>
          <a:bodyPr spcFirstLastPara="1" wrap="square" lIns="91425" tIns="91425" rIns="91425" bIns="91425" anchor="t" anchorCtr="0">
            <a:noAutofit/>
          </a:bodyPr>
          <a:lstStyle/>
          <a:p>
            <a:r>
              <a:rPr lang="fr-FR" dirty="0">
                <a:solidFill>
                  <a:schemeClr val="tx1">
                    <a:lumMod val="50000"/>
                    <a:lumOff val="50000"/>
                  </a:schemeClr>
                </a:solidFill>
              </a:rPr>
              <a:t>Laure </a:t>
            </a:r>
            <a:r>
              <a:rPr lang="fr-FR">
                <a:solidFill>
                  <a:schemeClr val="tx1">
                    <a:lumMod val="50000"/>
                    <a:lumOff val="50000"/>
                  </a:schemeClr>
                </a:solidFill>
              </a:rPr>
              <a:t>Agrech P8</a:t>
            </a:r>
            <a:endParaRPr lang="fr-FR" dirty="0">
              <a:solidFill>
                <a:schemeClr val="tx1">
                  <a:lumMod val="50000"/>
                  <a:lumOff val="50000"/>
                </a:schemeClr>
              </a:solidFill>
            </a:endParaRPr>
          </a:p>
        </p:txBody>
      </p:sp>
      <p:sp>
        <p:nvSpPr>
          <p:cNvPr id="195" name="Google Shape;195;p29"/>
          <p:cNvSpPr/>
          <p:nvPr/>
        </p:nvSpPr>
        <p:spPr>
          <a:xfrm>
            <a:off x="3767694" y="3794250"/>
            <a:ext cx="16086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9"/>
          <p:cNvSpPr/>
          <p:nvPr/>
        </p:nvSpPr>
        <p:spPr>
          <a:xfrm>
            <a:off x="584875" y="2841075"/>
            <a:ext cx="1327800" cy="2391600"/>
          </a:xfrm>
          <a:prstGeom prst="round2SameRect">
            <a:avLst>
              <a:gd name="adj1" fmla="val 50000"/>
              <a:gd name="adj2" fmla="val 0"/>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9"/>
          <p:cNvSpPr/>
          <p:nvPr/>
        </p:nvSpPr>
        <p:spPr>
          <a:xfrm>
            <a:off x="584875" y="2710400"/>
            <a:ext cx="475800" cy="475800"/>
          </a:xfrm>
          <a:prstGeom prst="ellipse">
            <a:avLst/>
          </a:pr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9"/>
          <p:cNvSpPr/>
          <p:nvPr/>
        </p:nvSpPr>
        <p:spPr>
          <a:xfrm>
            <a:off x="7786975" y="314675"/>
            <a:ext cx="2130900" cy="2130900"/>
          </a:xfrm>
          <a:prstGeom prst="ellipse">
            <a:avLst/>
          </a:pr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9"/>
          <p:cNvSpPr/>
          <p:nvPr/>
        </p:nvSpPr>
        <p:spPr>
          <a:xfrm rot="-5400000">
            <a:off x="7032742" y="-76500"/>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56CA7F-A714-8808-BDD9-6B12517A695A}"/>
              </a:ext>
            </a:extLst>
          </p:cNvPr>
          <p:cNvSpPr>
            <a:spLocks noGrp="1"/>
          </p:cNvSpPr>
          <p:nvPr>
            <p:ph type="title"/>
          </p:nvPr>
        </p:nvSpPr>
        <p:spPr>
          <a:xfrm>
            <a:off x="720000" y="86209"/>
            <a:ext cx="7704000" cy="572700"/>
          </a:xfrm>
        </p:spPr>
        <p:txBody>
          <a:bodyPr/>
          <a:lstStyle/>
          <a:p>
            <a:r>
              <a:rPr lang="fr-FR" dirty="0"/>
              <a:t>Introduction</a:t>
            </a:r>
          </a:p>
        </p:txBody>
      </p:sp>
      <p:sp>
        <p:nvSpPr>
          <p:cNvPr id="3" name="Titre 1">
            <a:extLst>
              <a:ext uri="{FF2B5EF4-FFF2-40B4-BE49-F238E27FC236}">
                <a16:creationId xmlns:a16="http://schemas.microsoft.com/office/drawing/2014/main" id="{4104DDBA-43CC-7939-AC4A-946C6378DF1F}"/>
              </a:ext>
            </a:extLst>
          </p:cNvPr>
          <p:cNvSpPr txBox="1">
            <a:spLocks/>
          </p:cNvSpPr>
          <p:nvPr/>
        </p:nvSpPr>
        <p:spPr>
          <a:xfrm>
            <a:off x="609641" y="952247"/>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Poppins Medium"/>
              <a:buNone/>
              <a:defRPr sz="3200" b="0" i="0" u="none" strike="noStrike" cap="none">
                <a:solidFill>
                  <a:schemeClr val="dk1"/>
                </a:solidFill>
                <a:latin typeface="Poppins Medium"/>
                <a:ea typeface="Poppins Medium"/>
                <a:cs typeface="Poppins Medium"/>
                <a:sym typeface="Poppins Medium"/>
              </a:defRPr>
            </a:lvl1pPr>
            <a:lvl2pPr marR="0" lvl="1"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2pPr>
            <a:lvl3pPr marR="0" lvl="2"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3pPr>
            <a:lvl4pPr marR="0" lvl="3"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4pPr>
            <a:lvl5pPr marR="0" lvl="4"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5pPr>
            <a:lvl6pPr marR="0" lvl="5"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6pPr>
            <a:lvl7pPr marR="0" lvl="6"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7pPr>
            <a:lvl8pPr marR="0" lvl="7"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8pPr>
            <a:lvl9pPr marR="0" lvl="8" algn="l" rtl="0">
              <a:lnSpc>
                <a:spcPct val="100000"/>
              </a:lnSpc>
              <a:spcBef>
                <a:spcPts val="0"/>
              </a:spcBef>
              <a:spcAft>
                <a:spcPts val="0"/>
              </a:spcAft>
              <a:buClr>
                <a:schemeClr val="dk1"/>
              </a:buClr>
              <a:buSzPts val="3500"/>
              <a:buFont typeface="Poppins Medium"/>
              <a:buNone/>
              <a:defRPr sz="3500" b="0" i="0" u="none" strike="noStrike" cap="none">
                <a:solidFill>
                  <a:schemeClr val="dk1"/>
                </a:solidFill>
                <a:latin typeface="Poppins Medium"/>
                <a:ea typeface="Poppins Medium"/>
                <a:cs typeface="Poppins Medium"/>
                <a:sym typeface="Poppins Medium"/>
              </a:defRPr>
            </a:lvl9pPr>
          </a:lstStyle>
          <a:p>
            <a:r>
              <a:rPr lang="fr-FR" sz="1600" dirty="0"/>
              <a:t>Problématique :</a:t>
            </a:r>
          </a:p>
        </p:txBody>
      </p:sp>
      <p:sp>
        <p:nvSpPr>
          <p:cNvPr id="4" name="Espace réservé du texte 2">
            <a:extLst>
              <a:ext uri="{FF2B5EF4-FFF2-40B4-BE49-F238E27FC236}">
                <a16:creationId xmlns:a16="http://schemas.microsoft.com/office/drawing/2014/main" id="{57ABD8AB-640D-F4ED-3B83-768E5CBC2D13}"/>
              </a:ext>
            </a:extLst>
          </p:cNvPr>
          <p:cNvSpPr txBox="1">
            <a:spLocks/>
          </p:cNvSpPr>
          <p:nvPr/>
        </p:nvSpPr>
        <p:spPr>
          <a:xfrm>
            <a:off x="720000" y="1367291"/>
            <a:ext cx="7704000" cy="209360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1pPr>
            <a:lvl2pPr marL="914400" marR="0" lvl="1"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2pPr>
            <a:lvl3pPr marL="1371600" marR="0" lvl="2"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3pPr>
            <a:lvl4pPr marL="1828800" marR="0" lvl="3"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4pPr>
            <a:lvl5pPr marL="2286000" marR="0" lvl="4"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5pPr>
            <a:lvl6pPr marL="2743200" marR="0" lvl="5"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6pPr>
            <a:lvl7pPr marL="3200400" marR="0" lvl="6"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7pPr>
            <a:lvl8pPr marL="3657600" marR="0" lvl="7"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8pPr>
            <a:lvl9pPr marL="4114800" marR="0" lvl="8"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Quicksand Medium"/>
                <a:ea typeface="Quicksand Medium"/>
                <a:cs typeface="Quicksand Medium"/>
                <a:sym typeface="Quicksand Medium"/>
              </a:defRPr>
            </a:lvl9pPr>
          </a:lstStyle>
          <a:p>
            <a:r>
              <a:rPr lang="fr-FR" sz="1600" dirty="0">
                <a:latin typeface="Poppins Medium"/>
                <a:cs typeface="Poppins Medium"/>
                <a:sym typeface="Poppins Medium"/>
              </a:rPr>
              <a:t>Objectif : </a:t>
            </a:r>
            <a:r>
              <a:rPr lang="fr-FR" dirty="0">
                <a:solidFill>
                  <a:schemeClr val="tx2">
                    <a:lumMod val="10000"/>
                  </a:schemeClr>
                </a:solidFill>
              </a:rPr>
              <a:t>développer une chaîne de traitement des données pour une application mobile de reconnaissance de fruits, incluant le </a:t>
            </a:r>
            <a:r>
              <a:rPr lang="fr-FR" dirty="0" err="1">
                <a:solidFill>
                  <a:schemeClr val="tx2">
                    <a:lumMod val="10000"/>
                  </a:schemeClr>
                </a:solidFill>
              </a:rPr>
              <a:t>preprocessing</a:t>
            </a:r>
            <a:r>
              <a:rPr lang="fr-FR" dirty="0">
                <a:solidFill>
                  <a:schemeClr val="tx2">
                    <a:lumMod val="10000"/>
                  </a:schemeClr>
                </a:solidFill>
              </a:rPr>
              <a:t> et la réduction de dimension, en utilisant un jeu de données existant</a:t>
            </a:r>
          </a:p>
          <a:p>
            <a:pPr>
              <a:spcBef>
                <a:spcPts val="1000"/>
              </a:spcBef>
              <a:buClr>
                <a:schemeClr val="dk2"/>
              </a:buClr>
            </a:pPr>
            <a:endParaRPr lang="fr-FR" dirty="0">
              <a:solidFill>
                <a:srgbClr val="271A38"/>
              </a:solidFill>
              <a:latin typeface="Inter"/>
            </a:endParaRPr>
          </a:p>
          <a:p>
            <a:r>
              <a:rPr lang="fr-FR" sz="1600" dirty="0">
                <a:latin typeface="Poppins Medium"/>
                <a:cs typeface="Poppins Medium"/>
              </a:rPr>
              <a:t>Méthodologie : </a:t>
            </a:r>
            <a:r>
              <a:rPr lang="fr-FR" dirty="0">
                <a:solidFill>
                  <a:schemeClr val="tx2">
                    <a:lumMod val="10000"/>
                  </a:schemeClr>
                </a:solidFill>
              </a:rPr>
              <a:t>déploiement d'un modèle de classification d'images de fruits dans le cloud AWS en utilisant </a:t>
            </a:r>
            <a:r>
              <a:rPr lang="fr-FR" dirty="0" err="1">
                <a:solidFill>
                  <a:schemeClr val="tx2">
                    <a:lumMod val="10000"/>
                  </a:schemeClr>
                </a:solidFill>
              </a:rPr>
              <a:t>PySpark</a:t>
            </a:r>
            <a:r>
              <a:rPr lang="fr-FR" dirty="0">
                <a:solidFill>
                  <a:schemeClr val="tx2">
                    <a:lumMod val="10000"/>
                  </a:schemeClr>
                </a:solidFill>
              </a:rPr>
              <a:t> et des techniques de machine </a:t>
            </a:r>
            <a:r>
              <a:rPr lang="fr-FR" dirty="0" err="1">
                <a:solidFill>
                  <a:schemeClr val="tx2">
                    <a:lumMod val="10000"/>
                  </a:schemeClr>
                </a:solidFill>
              </a:rPr>
              <a:t>learning</a:t>
            </a:r>
            <a:endParaRPr lang="fr-FR" dirty="0">
              <a:solidFill>
                <a:schemeClr val="tx2">
                  <a:lumMod val="10000"/>
                </a:schemeClr>
              </a:solidFill>
            </a:endParaRPr>
          </a:p>
          <a:p>
            <a:endParaRPr lang="fr-FR" dirty="0">
              <a:solidFill>
                <a:schemeClr val="tx2">
                  <a:lumMod val="10000"/>
                </a:schemeClr>
              </a:solidFill>
            </a:endParaRPr>
          </a:p>
          <a:p>
            <a:pPr>
              <a:spcBef>
                <a:spcPts val="1000"/>
              </a:spcBef>
              <a:buClr>
                <a:schemeClr val="dk2"/>
              </a:buClr>
            </a:pPr>
            <a:r>
              <a:rPr lang="fr-FR" sz="1600" dirty="0">
                <a:latin typeface="Poppins Medium"/>
                <a:cs typeface="Poppins Medium"/>
              </a:rPr>
              <a:t>Etapes : </a:t>
            </a:r>
            <a:r>
              <a:rPr lang="fr-FR" dirty="0">
                <a:solidFill>
                  <a:schemeClr val="tx2">
                    <a:lumMod val="10000"/>
                  </a:schemeClr>
                </a:solidFill>
              </a:rPr>
              <a:t>La mission principale du projet est de développer une première chaîne de traitement des données dans un environnement Big Data. ​ Cette chaîne de traitement comprendra le </a:t>
            </a:r>
            <a:r>
              <a:rPr lang="fr-FR" dirty="0" err="1">
                <a:solidFill>
                  <a:schemeClr val="tx2">
                    <a:lumMod val="10000"/>
                  </a:schemeClr>
                </a:solidFill>
              </a:rPr>
              <a:t>préprocessing</a:t>
            </a:r>
            <a:r>
              <a:rPr lang="fr-FR" dirty="0">
                <a:solidFill>
                  <a:schemeClr val="tx2">
                    <a:lumMod val="10000"/>
                  </a:schemeClr>
                </a:solidFill>
              </a:rPr>
              <a:t> des images et une étape de réduction de dimension. ​ L'objectif est de permettre à la start-up Fruits de mettre à disposition du grand public une application mobile qui permettrait aux utilisateurs de prendre en photo un fruit et d'obtenir des informations sur ce fruit, tout en sensibilisant le public à la biodiversité des fruits et en construisant une première version du moteur de classification des images de fruits</a:t>
            </a:r>
          </a:p>
          <a:p>
            <a:pPr>
              <a:spcBef>
                <a:spcPts val="1000"/>
              </a:spcBef>
              <a:buClr>
                <a:schemeClr val="dk2"/>
              </a:buClr>
            </a:pPr>
            <a:endParaRPr lang="fr-FR" dirty="0">
              <a:solidFill>
                <a:schemeClr val="tx2">
                  <a:lumMod val="10000"/>
                </a:schemeClr>
              </a:solidFill>
            </a:endParaRPr>
          </a:p>
        </p:txBody>
      </p:sp>
    </p:spTree>
    <p:extLst>
      <p:ext uri="{BB962C8B-B14F-4D97-AF65-F5344CB8AC3E}">
        <p14:creationId xmlns:p14="http://schemas.microsoft.com/office/powerpoint/2010/main" val="422402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 name="Google Shape;583;p53">
            <a:extLst>
              <a:ext uri="{FF2B5EF4-FFF2-40B4-BE49-F238E27FC236}">
                <a16:creationId xmlns:a16="http://schemas.microsoft.com/office/drawing/2014/main" id="{C7892B76-B00D-A676-7830-0835D16DB08E}"/>
              </a:ext>
            </a:extLst>
          </p:cNvPr>
          <p:cNvSpPr/>
          <p:nvPr/>
        </p:nvSpPr>
        <p:spPr>
          <a:xfrm>
            <a:off x="2951683" y="4281051"/>
            <a:ext cx="3151405" cy="452550"/>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583;p53">
            <a:extLst>
              <a:ext uri="{FF2B5EF4-FFF2-40B4-BE49-F238E27FC236}">
                <a16:creationId xmlns:a16="http://schemas.microsoft.com/office/drawing/2014/main" id="{C29BE02D-DA4F-5249-25D7-C4DCC19CB04F}"/>
              </a:ext>
            </a:extLst>
          </p:cNvPr>
          <p:cNvSpPr/>
          <p:nvPr/>
        </p:nvSpPr>
        <p:spPr>
          <a:xfrm>
            <a:off x="777991" y="947162"/>
            <a:ext cx="1806365" cy="624904"/>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4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Timeline</a:t>
            </a:r>
            <a:endParaRPr dirty="0"/>
          </a:p>
        </p:txBody>
      </p:sp>
      <p:sp>
        <p:nvSpPr>
          <p:cNvPr id="402" name="Google Shape;402;p43"/>
          <p:cNvSpPr txBox="1"/>
          <p:nvPr/>
        </p:nvSpPr>
        <p:spPr>
          <a:xfrm flipH="1">
            <a:off x="618497" y="1921023"/>
            <a:ext cx="1952965"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cs typeface="Quicksand Medium"/>
              </a:rPr>
              <a:t>Chargement des images depuis </a:t>
            </a:r>
            <a:r>
              <a:rPr lang="fr-FR" sz="1200" dirty="0" err="1">
                <a:solidFill>
                  <a:schemeClr val="dk1"/>
                </a:solidFill>
                <a:latin typeface="Quicksand Medium"/>
                <a:cs typeface="Quicksand Medium"/>
              </a:rPr>
              <a:t>bucket</a:t>
            </a:r>
            <a:r>
              <a:rPr lang="fr-FR" sz="1200" dirty="0">
                <a:solidFill>
                  <a:schemeClr val="dk1"/>
                </a:solidFill>
                <a:latin typeface="Quicksand Medium"/>
                <a:cs typeface="Quicksand Medium"/>
              </a:rPr>
              <a:t> S3 </a:t>
            </a:r>
          </a:p>
        </p:txBody>
      </p:sp>
      <p:sp>
        <p:nvSpPr>
          <p:cNvPr id="403" name="Google Shape;403;p43"/>
          <p:cNvSpPr txBox="1"/>
          <p:nvPr/>
        </p:nvSpPr>
        <p:spPr>
          <a:xfrm flipH="1">
            <a:off x="2683879" y="1321027"/>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sym typeface="Quicksand SemiBold"/>
              </a:rPr>
              <a:t>Step</a:t>
            </a:r>
            <a:r>
              <a:rPr lang="en" sz="3600" dirty="0">
                <a:solidFill>
                  <a:schemeClr val="dk1"/>
                </a:solidFill>
                <a:latin typeface="Quicksand SemiBold"/>
                <a:ea typeface="Quicksand SemiBold"/>
                <a:cs typeface="Quicksand SemiBold"/>
                <a:sym typeface="Quicksand SemiBold"/>
              </a:rPr>
              <a:t> </a:t>
            </a:r>
            <a:r>
              <a:rPr lang="en" sz="3500" dirty="0">
                <a:solidFill>
                  <a:schemeClr val="dk2"/>
                </a:solidFill>
                <a:latin typeface="Quicksand SemiBold"/>
                <a:ea typeface="Quicksand SemiBold"/>
                <a:cs typeface="Quicksand SemiBold"/>
                <a:sym typeface="Quicksand SemiBold"/>
              </a:rPr>
              <a:t>3</a:t>
            </a:r>
            <a:endParaRPr sz="3500" dirty="0">
              <a:solidFill>
                <a:schemeClr val="dk2"/>
              </a:solidFill>
              <a:latin typeface="Quicksand SemiBold"/>
              <a:ea typeface="Quicksand SemiBold"/>
              <a:cs typeface="Quicksand SemiBold"/>
              <a:sym typeface="Quicksand SemiBold"/>
            </a:endParaRPr>
          </a:p>
        </p:txBody>
      </p:sp>
      <p:sp>
        <p:nvSpPr>
          <p:cNvPr id="404" name="Google Shape;404;p43"/>
          <p:cNvSpPr txBox="1"/>
          <p:nvPr/>
        </p:nvSpPr>
        <p:spPr>
          <a:xfrm flipH="1">
            <a:off x="2565400" y="1756926"/>
            <a:ext cx="1930779"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cs typeface="Quicksand Medium"/>
              </a:rPr>
              <a:t>Transfer Learning</a:t>
            </a:r>
          </a:p>
          <a:p>
            <a:pPr marL="0" lvl="0" indent="0" algn="ctr" rtl="0">
              <a:spcBef>
                <a:spcPts val="0"/>
              </a:spcBef>
              <a:spcAft>
                <a:spcPts val="0"/>
              </a:spcAft>
              <a:buNone/>
            </a:pPr>
            <a:endParaRPr lang="fr-FR" sz="1200" dirty="0">
              <a:solidFill>
                <a:schemeClr val="dk1"/>
              </a:solidFill>
              <a:latin typeface="Quicksand Medium"/>
              <a:sym typeface="Quicksand Medium"/>
            </a:endParaRPr>
          </a:p>
        </p:txBody>
      </p:sp>
      <p:sp>
        <p:nvSpPr>
          <p:cNvPr id="405" name="Google Shape;405;p43"/>
          <p:cNvSpPr txBox="1"/>
          <p:nvPr/>
        </p:nvSpPr>
        <p:spPr>
          <a:xfrm flipH="1">
            <a:off x="4664776" y="1134891"/>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200" dirty="0">
                <a:solidFill>
                  <a:schemeClr val="dk1"/>
                </a:solidFill>
                <a:latin typeface="Quicksand SemiBold"/>
                <a:ea typeface="Quicksand SemiBold"/>
                <a:cs typeface="Quicksand SemiBold"/>
                <a:sym typeface="Quicksand SemiBold"/>
              </a:rPr>
              <a:t>Step</a:t>
            </a:r>
            <a:r>
              <a:rPr lang="en-GB" sz="3500" dirty="0">
                <a:solidFill>
                  <a:schemeClr val="dk2"/>
                </a:solidFill>
                <a:latin typeface="Quicksand SemiBold"/>
                <a:ea typeface="Quicksand SemiBold"/>
                <a:cs typeface="Quicksand SemiBold"/>
                <a:sym typeface="Quicksand SemiBold"/>
              </a:rPr>
              <a:t> 5</a:t>
            </a:r>
          </a:p>
        </p:txBody>
      </p:sp>
      <p:sp>
        <p:nvSpPr>
          <p:cNvPr id="406" name="Google Shape;406;p43"/>
          <p:cNvSpPr txBox="1"/>
          <p:nvPr/>
        </p:nvSpPr>
        <p:spPr>
          <a:xfrm flipH="1">
            <a:off x="4584145" y="1521740"/>
            <a:ext cx="1957729" cy="932251"/>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sym typeface="Quicksand Medium"/>
              </a:rPr>
              <a:t>Environnement Big Data</a:t>
            </a:r>
          </a:p>
          <a:p>
            <a:pPr marL="0" lvl="0" indent="0" algn="ctr" rtl="0">
              <a:spcBef>
                <a:spcPts val="0"/>
              </a:spcBef>
              <a:spcAft>
                <a:spcPts val="0"/>
              </a:spcAft>
              <a:buNone/>
            </a:pPr>
            <a:endParaRPr lang="fr-FR" sz="1200" dirty="0">
              <a:solidFill>
                <a:schemeClr val="dk1"/>
              </a:solidFill>
              <a:latin typeface="Quicksand Medium"/>
              <a:sym typeface="Quicksand Medium"/>
            </a:endParaRPr>
          </a:p>
          <a:p>
            <a:pPr marL="0" lvl="0" indent="0" algn="ctr" rtl="0">
              <a:spcBef>
                <a:spcPts val="0"/>
              </a:spcBef>
              <a:spcAft>
                <a:spcPts val="0"/>
              </a:spcAft>
              <a:buNone/>
            </a:pPr>
            <a:endParaRPr sz="1200" dirty="0">
              <a:solidFill>
                <a:schemeClr val="dk1"/>
              </a:solidFill>
              <a:latin typeface="Quicksand Medium"/>
              <a:ea typeface="Quicksand Medium"/>
              <a:cs typeface="Quicksand Medium"/>
              <a:sym typeface="Quicksand Medium"/>
            </a:endParaRPr>
          </a:p>
        </p:txBody>
      </p:sp>
      <p:sp>
        <p:nvSpPr>
          <p:cNvPr id="408" name="Google Shape;408;p43"/>
          <p:cNvSpPr txBox="1"/>
          <p:nvPr/>
        </p:nvSpPr>
        <p:spPr>
          <a:xfrm flipH="1">
            <a:off x="6547936" y="1567904"/>
            <a:ext cx="1812300" cy="949101"/>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Conclusion </a:t>
            </a:r>
            <a:endParaRPr lang="fr-FR" sz="1200" dirty="0">
              <a:solidFill>
                <a:srgbClr val="FF0000"/>
              </a:solidFill>
            </a:endParaRPr>
          </a:p>
        </p:txBody>
      </p:sp>
      <p:sp>
        <p:nvSpPr>
          <p:cNvPr id="409" name="Google Shape;409;p43"/>
          <p:cNvSpPr txBox="1"/>
          <p:nvPr/>
        </p:nvSpPr>
        <p:spPr>
          <a:xfrm flipH="1">
            <a:off x="17019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2</a:t>
            </a:r>
            <a:endParaRPr sz="3500" dirty="0">
              <a:solidFill>
                <a:schemeClr val="dk2"/>
              </a:solidFill>
              <a:latin typeface="Quicksand SemiBold"/>
              <a:ea typeface="Quicksand SemiBold"/>
              <a:cs typeface="Quicksand SemiBold"/>
              <a:sym typeface="Quicksand SemiBold"/>
            </a:endParaRPr>
          </a:p>
        </p:txBody>
      </p:sp>
      <p:sp>
        <p:nvSpPr>
          <p:cNvPr id="410" name="Google Shape;410;p43"/>
          <p:cNvSpPr txBox="1"/>
          <p:nvPr/>
        </p:nvSpPr>
        <p:spPr>
          <a:xfrm flipH="1">
            <a:off x="1169725" y="3855068"/>
            <a:ext cx="2488618" cy="319800"/>
          </a:xfrm>
          <a:prstGeom prst="rect">
            <a:avLst/>
          </a:prstGeom>
          <a:noFill/>
          <a:ln>
            <a:noFill/>
          </a:ln>
        </p:spPr>
        <p:txBody>
          <a:bodyPr spcFirstLastPara="1" wrap="square" lIns="91425" tIns="91425" rIns="91425" bIns="91425" anchor="t" anchorCtr="0">
            <a:noAutofit/>
          </a:bodyPr>
          <a:lstStyle/>
          <a:p>
            <a:pPr algn="ctr"/>
            <a:r>
              <a:rPr lang="fr-FR" sz="1200" dirty="0" err="1">
                <a:solidFill>
                  <a:schemeClr val="dk1"/>
                </a:solidFill>
                <a:latin typeface="Quicksand Medium"/>
                <a:cs typeface="Quicksand Medium"/>
              </a:rPr>
              <a:t>Préprocessing</a:t>
            </a:r>
            <a:r>
              <a:rPr lang="fr-FR" sz="1200" dirty="0">
                <a:solidFill>
                  <a:schemeClr val="dk1"/>
                </a:solidFill>
                <a:latin typeface="Quicksand Medium"/>
                <a:cs typeface="Quicksand Medium"/>
              </a:rPr>
              <a:t> des images</a:t>
            </a:r>
          </a:p>
        </p:txBody>
      </p:sp>
      <p:sp>
        <p:nvSpPr>
          <p:cNvPr id="411" name="Google Shape;411;p43"/>
          <p:cNvSpPr txBox="1"/>
          <p:nvPr/>
        </p:nvSpPr>
        <p:spPr>
          <a:xfrm flipH="1">
            <a:off x="3665829" y="325598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412" name="Google Shape;412;p43"/>
          <p:cNvSpPr txBox="1"/>
          <p:nvPr/>
        </p:nvSpPr>
        <p:spPr>
          <a:xfrm flipH="1">
            <a:off x="2514559" y="4169820"/>
            <a:ext cx="4006784" cy="319800"/>
          </a:xfrm>
          <a:prstGeom prst="rect">
            <a:avLst/>
          </a:prstGeom>
          <a:noFill/>
          <a:ln>
            <a:noFill/>
          </a:ln>
        </p:spPr>
        <p:txBody>
          <a:bodyPr spcFirstLastPara="1" wrap="square" lIns="91425" tIns="91425" rIns="91425" bIns="91425" anchor="t" anchorCtr="0">
            <a:noAutofit/>
          </a:bodyPr>
          <a:lstStyle/>
          <a:p>
            <a:pPr algn="ctr"/>
            <a:endParaRPr lang="fr-FR" sz="1200" dirty="0">
              <a:solidFill>
                <a:schemeClr val="dk1"/>
              </a:solidFill>
              <a:latin typeface="Quicksand Medium"/>
            </a:endParaRPr>
          </a:p>
          <a:p>
            <a:pPr algn="ctr"/>
            <a:r>
              <a:rPr lang="fr-FR" sz="1200" dirty="0">
                <a:solidFill>
                  <a:schemeClr val="bg1"/>
                </a:solidFill>
                <a:latin typeface="Quicksand SemiBold"/>
              </a:rPr>
              <a:t>Extraction et Réduction des Caractéristiques</a:t>
            </a:r>
          </a:p>
        </p:txBody>
      </p:sp>
      <p:sp>
        <p:nvSpPr>
          <p:cNvPr id="413" name="Google Shape;413;p43"/>
          <p:cNvSpPr txBox="1"/>
          <p:nvPr/>
        </p:nvSpPr>
        <p:spPr>
          <a:xfrm flipH="1">
            <a:off x="5629729" y="3468425"/>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414" name="Google Shape;414;p43"/>
          <p:cNvSpPr txBox="1"/>
          <p:nvPr/>
        </p:nvSpPr>
        <p:spPr>
          <a:xfrm flipH="1">
            <a:off x="5303846" y="3841625"/>
            <a:ext cx="2508998"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Configuration AWS</a:t>
            </a:r>
            <a:endParaRPr lang="fr-FR" sz="1200" dirty="0">
              <a:solidFill>
                <a:schemeClr val="dk1"/>
              </a:solidFill>
              <a:latin typeface="Quicksand Medium"/>
              <a:ea typeface="Quicksand Medium"/>
              <a:cs typeface="Quicksand Medium"/>
              <a:sym typeface="Quicksand Medium"/>
            </a:endParaRPr>
          </a:p>
        </p:txBody>
      </p:sp>
      <p:sp>
        <p:nvSpPr>
          <p:cNvPr id="415" name="Google Shape;415;p43"/>
          <p:cNvSpPr/>
          <p:nvPr/>
        </p:nvSpPr>
        <p:spPr>
          <a:xfrm>
            <a:off x="14921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43"/>
          <p:cNvSpPr/>
          <p:nvPr/>
        </p:nvSpPr>
        <p:spPr>
          <a:xfrm>
            <a:off x="24741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43"/>
          <p:cNvSpPr/>
          <p:nvPr/>
        </p:nvSpPr>
        <p:spPr>
          <a:xfrm>
            <a:off x="34560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43"/>
          <p:cNvSpPr/>
          <p:nvPr/>
        </p:nvSpPr>
        <p:spPr>
          <a:xfrm>
            <a:off x="443802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sp>
        <p:nvSpPr>
          <p:cNvPr id="419" name="Google Shape;419;p43"/>
          <p:cNvSpPr/>
          <p:nvPr/>
        </p:nvSpPr>
        <p:spPr>
          <a:xfrm>
            <a:off x="541997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43"/>
          <p:cNvSpPr/>
          <p:nvPr/>
        </p:nvSpPr>
        <p:spPr>
          <a:xfrm>
            <a:off x="6401929" y="2827324"/>
            <a:ext cx="267900" cy="267900"/>
          </a:xfrm>
          <a:prstGeom prst="ellipse">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43"/>
          <p:cNvSpPr/>
          <p:nvPr/>
        </p:nvSpPr>
        <p:spPr>
          <a:xfrm>
            <a:off x="7383879" y="2827324"/>
            <a:ext cx="267900" cy="267900"/>
          </a:xfrm>
          <a:prstGeom prst="ellipse">
            <a:avLst/>
          </a:prstGeom>
          <a:solidFill>
            <a:schemeClr val="tx2">
              <a:lumMod val="10000"/>
            </a:schemeClr>
          </a:solid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endParaRPr/>
          </a:p>
        </p:txBody>
      </p:sp>
      <p:cxnSp>
        <p:nvCxnSpPr>
          <p:cNvPr id="422" name="Google Shape;422;p43"/>
          <p:cNvCxnSpPr>
            <a:cxnSpLocks/>
          </p:cNvCxnSpPr>
          <p:nvPr/>
        </p:nvCxnSpPr>
        <p:spPr>
          <a:xfrm flipV="1">
            <a:off x="1626129" y="2571750"/>
            <a:ext cx="0" cy="255574"/>
          </a:xfrm>
          <a:prstGeom prst="straightConnector1">
            <a:avLst/>
          </a:prstGeom>
          <a:noFill/>
          <a:ln w="19050" cap="flat" cmpd="sng">
            <a:solidFill>
              <a:schemeClr val="lt2"/>
            </a:solidFill>
            <a:prstDash val="solid"/>
            <a:round/>
            <a:headEnd type="none" w="med" len="med"/>
            <a:tailEnd type="oval" w="med" len="med"/>
          </a:ln>
        </p:spPr>
      </p:cxnSp>
      <p:cxnSp>
        <p:nvCxnSpPr>
          <p:cNvPr id="423" name="Google Shape;423;p43"/>
          <p:cNvCxnSpPr>
            <a:stCxn id="416" idx="4"/>
            <a:endCxn id="409" idx="0"/>
          </p:cNvCxnSpPr>
          <p:nvPr/>
        </p:nvCxnSpPr>
        <p:spPr>
          <a:xfrm>
            <a:off x="26080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4" name="Google Shape;424;p43"/>
          <p:cNvCxnSpPr>
            <a:cxnSpLocks/>
            <a:stCxn id="417" idx="0"/>
          </p:cNvCxnSpPr>
          <p:nvPr/>
        </p:nvCxnSpPr>
        <p:spPr>
          <a:xfrm flipV="1">
            <a:off x="3590029" y="2074203"/>
            <a:ext cx="0" cy="753121"/>
          </a:xfrm>
          <a:prstGeom prst="straightConnector1">
            <a:avLst/>
          </a:prstGeom>
          <a:noFill/>
          <a:ln w="19050" cap="flat" cmpd="sng">
            <a:solidFill>
              <a:schemeClr val="lt2"/>
            </a:solidFill>
            <a:prstDash val="solid"/>
            <a:round/>
            <a:headEnd type="none" w="med" len="med"/>
            <a:tailEnd type="oval" w="med" len="med"/>
          </a:ln>
        </p:spPr>
      </p:cxnSp>
      <p:cxnSp>
        <p:nvCxnSpPr>
          <p:cNvPr id="425" name="Google Shape;425;p43"/>
          <p:cNvCxnSpPr>
            <a:stCxn id="418" idx="4"/>
            <a:endCxn id="411" idx="0"/>
          </p:cNvCxnSpPr>
          <p:nvPr/>
        </p:nvCxnSpPr>
        <p:spPr>
          <a:xfrm>
            <a:off x="4571979" y="3095224"/>
            <a:ext cx="0" cy="160760"/>
          </a:xfrm>
          <a:prstGeom prst="straightConnector1">
            <a:avLst/>
          </a:prstGeom>
          <a:noFill/>
          <a:ln w="19050" cap="flat" cmpd="sng">
            <a:solidFill>
              <a:schemeClr val="lt2"/>
            </a:solidFill>
            <a:prstDash val="solid"/>
            <a:round/>
            <a:headEnd type="none" w="med" len="med"/>
            <a:tailEnd type="oval" w="med" len="med"/>
          </a:ln>
        </p:spPr>
      </p:cxnSp>
      <p:cxnSp>
        <p:nvCxnSpPr>
          <p:cNvPr id="426" name="Google Shape;426;p43"/>
          <p:cNvCxnSpPr>
            <a:stCxn id="420" idx="4"/>
            <a:endCxn id="413" idx="0"/>
          </p:cNvCxnSpPr>
          <p:nvPr/>
        </p:nvCxnSpPr>
        <p:spPr>
          <a:xfrm>
            <a:off x="6535879" y="3095224"/>
            <a:ext cx="0" cy="373200"/>
          </a:xfrm>
          <a:prstGeom prst="straightConnector1">
            <a:avLst/>
          </a:prstGeom>
          <a:noFill/>
          <a:ln w="19050" cap="flat" cmpd="sng">
            <a:solidFill>
              <a:schemeClr val="lt2"/>
            </a:solidFill>
            <a:prstDash val="solid"/>
            <a:round/>
            <a:headEnd type="none" w="med" len="med"/>
            <a:tailEnd type="oval" w="med" len="med"/>
          </a:ln>
        </p:spPr>
      </p:cxnSp>
      <p:cxnSp>
        <p:nvCxnSpPr>
          <p:cNvPr id="427" name="Google Shape;427;p43"/>
          <p:cNvCxnSpPr>
            <a:cxnSpLocks/>
          </p:cNvCxnSpPr>
          <p:nvPr/>
        </p:nvCxnSpPr>
        <p:spPr>
          <a:xfrm flipV="1">
            <a:off x="5559455" y="2080923"/>
            <a:ext cx="11471" cy="759847"/>
          </a:xfrm>
          <a:prstGeom prst="straightConnector1">
            <a:avLst/>
          </a:prstGeom>
          <a:noFill/>
          <a:ln w="19050" cap="flat" cmpd="sng">
            <a:solidFill>
              <a:schemeClr val="lt2"/>
            </a:solidFill>
            <a:prstDash val="solid"/>
            <a:round/>
            <a:headEnd type="none" w="med" len="med"/>
            <a:tailEnd type="oval" w="med" len="med"/>
          </a:ln>
        </p:spPr>
      </p:cxnSp>
      <p:cxnSp>
        <p:nvCxnSpPr>
          <p:cNvPr id="428" name="Google Shape;428;p43"/>
          <p:cNvCxnSpPr>
            <a:cxnSpLocks/>
            <a:stCxn id="421" idx="0"/>
          </p:cNvCxnSpPr>
          <p:nvPr/>
        </p:nvCxnSpPr>
        <p:spPr>
          <a:xfrm flipV="1">
            <a:off x="7517829" y="2372710"/>
            <a:ext cx="0" cy="454614"/>
          </a:xfrm>
          <a:prstGeom prst="straightConnector1">
            <a:avLst/>
          </a:prstGeom>
          <a:noFill/>
          <a:ln w="19050" cap="flat" cmpd="sng">
            <a:solidFill>
              <a:schemeClr val="lt2"/>
            </a:solidFill>
            <a:prstDash val="solid"/>
            <a:round/>
            <a:headEnd type="none" w="med" len="med"/>
            <a:tailEnd type="oval" w="med" len="med"/>
          </a:ln>
        </p:spPr>
      </p:cxnSp>
      <p:cxnSp>
        <p:nvCxnSpPr>
          <p:cNvPr id="429" name="Google Shape;429;p43"/>
          <p:cNvCxnSpPr>
            <a:stCxn id="415" idx="6"/>
            <a:endCxn id="416" idx="2"/>
          </p:cNvCxnSpPr>
          <p:nvPr/>
        </p:nvCxnSpPr>
        <p:spPr>
          <a:xfrm>
            <a:off x="17600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0" name="Google Shape;430;p43"/>
          <p:cNvCxnSpPr>
            <a:stCxn id="416" idx="6"/>
            <a:endCxn id="417" idx="2"/>
          </p:cNvCxnSpPr>
          <p:nvPr/>
        </p:nvCxnSpPr>
        <p:spPr>
          <a:xfrm>
            <a:off x="27420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1" name="Google Shape;431;p43"/>
          <p:cNvCxnSpPr>
            <a:stCxn id="417" idx="6"/>
            <a:endCxn id="418" idx="2"/>
          </p:cNvCxnSpPr>
          <p:nvPr/>
        </p:nvCxnSpPr>
        <p:spPr>
          <a:xfrm>
            <a:off x="37239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2" name="Google Shape;432;p43"/>
          <p:cNvCxnSpPr>
            <a:stCxn id="418" idx="6"/>
            <a:endCxn id="419" idx="2"/>
          </p:cNvCxnSpPr>
          <p:nvPr/>
        </p:nvCxnSpPr>
        <p:spPr>
          <a:xfrm>
            <a:off x="470592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3" name="Google Shape;433;p43"/>
          <p:cNvCxnSpPr>
            <a:stCxn id="419" idx="6"/>
            <a:endCxn id="420" idx="2"/>
          </p:cNvCxnSpPr>
          <p:nvPr/>
        </p:nvCxnSpPr>
        <p:spPr>
          <a:xfrm>
            <a:off x="5687879" y="2961274"/>
            <a:ext cx="714000" cy="0"/>
          </a:xfrm>
          <a:prstGeom prst="straightConnector1">
            <a:avLst/>
          </a:prstGeom>
          <a:noFill/>
          <a:ln w="19050" cap="flat" cmpd="sng">
            <a:solidFill>
              <a:schemeClr val="lt2"/>
            </a:solidFill>
            <a:prstDash val="solid"/>
            <a:round/>
            <a:headEnd type="none" w="med" len="med"/>
            <a:tailEnd type="none" w="med" len="med"/>
          </a:ln>
        </p:spPr>
      </p:cxnSp>
      <p:cxnSp>
        <p:nvCxnSpPr>
          <p:cNvPr id="434" name="Google Shape;434;p43"/>
          <p:cNvCxnSpPr>
            <a:stCxn id="420" idx="6"/>
            <a:endCxn id="421" idx="2"/>
          </p:cNvCxnSpPr>
          <p:nvPr/>
        </p:nvCxnSpPr>
        <p:spPr>
          <a:xfrm>
            <a:off x="6669829" y="2961274"/>
            <a:ext cx="714000" cy="0"/>
          </a:xfrm>
          <a:prstGeom prst="straightConnector1">
            <a:avLst/>
          </a:prstGeom>
          <a:noFill/>
          <a:ln w="19050" cap="flat" cmpd="sng">
            <a:solidFill>
              <a:schemeClr val="lt2"/>
            </a:solidFill>
            <a:prstDash val="solid"/>
            <a:round/>
            <a:headEnd type="none" w="med" len="med"/>
            <a:tailEnd type="none" w="med" len="med"/>
          </a:ln>
        </p:spPr>
      </p:cxnSp>
      <p:sp>
        <p:nvSpPr>
          <p:cNvPr id="5" name="Google Shape;404;p43">
            <a:extLst>
              <a:ext uri="{FF2B5EF4-FFF2-40B4-BE49-F238E27FC236}">
                <a16:creationId xmlns:a16="http://schemas.microsoft.com/office/drawing/2014/main" id="{FFCAE693-C94E-A477-482F-7246ABE92BBF}"/>
              </a:ext>
            </a:extLst>
          </p:cNvPr>
          <p:cNvSpPr txBox="1"/>
          <p:nvPr/>
        </p:nvSpPr>
        <p:spPr>
          <a:xfrm flipH="1">
            <a:off x="3574947" y="3656699"/>
            <a:ext cx="1812295" cy="319800"/>
          </a:xfrm>
          <a:prstGeom prst="rect">
            <a:avLst/>
          </a:prstGeom>
          <a:noFill/>
          <a:ln>
            <a:noFill/>
          </a:ln>
        </p:spPr>
        <p:txBody>
          <a:bodyPr spcFirstLastPara="1" wrap="square" lIns="91425" tIns="91425" rIns="91425" bIns="91425" anchor="t" anchorCtr="0">
            <a:noAutofit/>
          </a:bodyPr>
          <a:lstStyle/>
          <a:p>
            <a:pPr algn="ctr"/>
            <a:r>
              <a:rPr lang="fr-FR" sz="1000" dirty="0">
                <a:solidFill>
                  <a:schemeClr val="dk1"/>
                </a:solidFill>
                <a:latin typeface="Quicksand Medium"/>
              </a:rPr>
              <a:t>Réduction de dimension </a:t>
            </a:r>
          </a:p>
          <a:p>
            <a:pPr marL="0" lvl="0" indent="0" algn="ctr" rtl="0">
              <a:spcBef>
                <a:spcPts val="0"/>
              </a:spcBef>
              <a:spcAft>
                <a:spcPts val="0"/>
              </a:spcAft>
              <a:buNone/>
            </a:pPr>
            <a:endParaRPr sz="1000" dirty="0">
              <a:solidFill>
                <a:schemeClr val="dk1"/>
              </a:solidFill>
              <a:latin typeface="Quicksand Medium"/>
              <a:sym typeface="Quicksand Medium"/>
            </a:endParaRPr>
          </a:p>
        </p:txBody>
      </p:sp>
      <p:sp>
        <p:nvSpPr>
          <p:cNvPr id="7" name="TextBox 6">
            <a:extLst>
              <a:ext uri="{FF2B5EF4-FFF2-40B4-BE49-F238E27FC236}">
                <a16:creationId xmlns:a16="http://schemas.microsoft.com/office/drawing/2014/main" id="{902422AE-91BB-9F24-06DD-51EE9BB05F54}"/>
              </a:ext>
            </a:extLst>
          </p:cNvPr>
          <p:cNvSpPr txBox="1"/>
          <p:nvPr/>
        </p:nvSpPr>
        <p:spPr>
          <a:xfrm>
            <a:off x="1075630" y="1550983"/>
            <a:ext cx="1368897" cy="523220"/>
          </a:xfrm>
          <a:prstGeom prst="rect">
            <a:avLst/>
          </a:prstGeom>
          <a:noFill/>
        </p:spPr>
        <p:txBody>
          <a:bodyPr wrap="square">
            <a:spAutoFit/>
          </a:bodyPr>
          <a:lstStyle/>
          <a:p>
            <a:r>
              <a:rPr lang="en" sz="2200" dirty="0">
                <a:latin typeface="Quicksand SemiBold"/>
                <a:ea typeface="Quicksand SemiBold"/>
                <a:cs typeface="Quicksand SemiBold"/>
                <a:sym typeface="Quicksand SemiBold"/>
              </a:rPr>
              <a:t>Step</a:t>
            </a:r>
            <a:r>
              <a:rPr lang="en" sz="2400" dirty="0">
                <a:solidFill>
                  <a:schemeClr val="dk2"/>
                </a:solidFill>
                <a:latin typeface="Quicksand SemiBold"/>
                <a:ea typeface="Quicksand SemiBold"/>
                <a:cs typeface="Quicksand SemiBold"/>
                <a:sym typeface="Quicksand SemiBold"/>
              </a:rPr>
              <a:t> </a:t>
            </a:r>
            <a:r>
              <a:rPr lang="en" sz="2800" dirty="0">
                <a:solidFill>
                  <a:schemeClr val="dk2"/>
                </a:solidFill>
                <a:latin typeface="Quicksand SemiBold"/>
                <a:ea typeface="Quicksand SemiBold"/>
                <a:cs typeface="Quicksand SemiBold"/>
                <a:sym typeface="Quicksand SemiBold"/>
              </a:rPr>
              <a:t>1</a:t>
            </a:r>
            <a:endParaRPr lang="en-FR" sz="2800" dirty="0"/>
          </a:p>
        </p:txBody>
      </p:sp>
      <p:sp>
        <p:nvSpPr>
          <p:cNvPr id="17" name="Google Shape;405;p43">
            <a:extLst>
              <a:ext uri="{FF2B5EF4-FFF2-40B4-BE49-F238E27FC236}">
                <a16:creationId xmlns:a16="http://schemas.microsoft.com/office/drawing/2014/main" id="{F0E0C2E9-1736-010C-EFAF-0FEEC3A46E4C}"/>
              </a:ext>
            </a:extLst>
          </p:cNvPr>
          <p:cNvSpPr txBox="1"/>
          <p:nvPr/>
        </p:nvSpPr>
        <p:spPr>
          <a:xfrm flipH="1">
            <a:off x="6585731" y="1216179"/>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GB" sz="2200" dirty="0">
                <a:latin typeface="Quicksand SemiBold"/>
                <a:ea typeface="Quicksand SemiBold"/>
                <a:cs typeface="Quicksand SemiBold"/>
                <a:sym typeface="Quicksand SemiBold"/>
              </a:rPr>
              <a:t>Step</a:t>
            </a:r>
            <a:r>
              <a:rPr lang="en-GB" sz="3500" dirty="0">
                <a:solidFill>
                  <a:schemeClr val="dk2"/>
                </a:solidFill>
                <a:latin typeface="Quicksand SemiBold"/>
                <a:ea typeface="Quicksand SemiBold"/>
                <a:cs typeface="Quicksand SemiBold"/>
                <a:sym typeface="Quicksand SemiBold"/>
              </a:rPr>
              <a:t> 7</a:t>
            </a:r>
          </a:p>
        </p:txBody>
      </p:sp>
      <p:sp>
        <p:nvSpPr>
          <p:cNvPr id="6" name="Google Shape;401;p43">
            <a:extLst>
              <a:ext uri="{FF2B5EF4-FFF2-40B4-BE49-F238E27FC236}">
                <a16:creationId xmlns:a16="http://schemas.microsoft.com/office/drawing/2014/main" id="{8408EF88-44AC-818D-0605-342D4454420A}"/>
              </a:ext>
            </a:extLst>
          </p:cNvPr>
          <p:cNvSpPr txBox="1"/>
          <p:nvPr/>
        </p:nvSpPr>
        <p:spPr>
          <a:xfrm flipH="1">
            <a:off x="777991" y="874400"/>
            <a:ext cx="2173692" cy="572700"/>
          </a:xfrm>
          <a:prstGeom prst="rect">
            <a:avLst/>
          </a:prstGeom>
          <a:noFill/>
          <a:ln>
            <a:noFill/>
          </a:ln>
        </p:spPr>
        <p:txBody>
          <a:bodyPr spcFirstLastPara="1" wrap="square" lIns="91425" tIns="91425" rIns="91425" bIns="91425" anchor="b" anchorCtr="0">
            <a:noAutofit/>
          </a:bodyPr>
          <a:lstStyle/>
          <a:p>
            <a:r>
              <a:rPr lang="fr-FR" sz="1200" b="0" i="0" dirty="0">
                <a:solidFill>
                  <a:schemeClr val="bg1"/>
                </a:solidFill>
                <a:effectLst/>
                <a:latin typeface="Adobe Clean"/>
              </a:rPr>
              <a:t>Préparation des Données</a:t>
            </a:r>
          </a:p>
        </p:txBody>
      </p:sp>
      <p:sp>
        <p:nvSpPr>
          <p:cNvPr id="8" name="Google Shape;583;p53">
            <a:extLst>
              <a:ext uri="{FF2B5EF4-FFF2-40B4-BE49-F238E27FC236}">
                <a16:creationId xmlns:a16="http://schemas.microsoft.com/office/drawing/2014/main" id="{7A32509E-C61D-EEB3-8FB3-01AB0F962535}"/>
              </a:ext>
            </a:extLst>
          </p:cNvPr>
          <p:cNvSpPr/>
          <p:nvPr/>
        </p:nvSpPr>
        <p:spPr>
          <a:xfrm>
            <a:off x="6725337" y="469778"/>
            <a:ext cx="1235208" cy="648718"/>
          </a:xfrm>
          <a:prstGeom prst="roundRect">
            <a:avLst>
              <a:gd name="adj" fmla="val 16667"/>
            </a:avLst>
          </a:prstGeom>
          <a:solidFill>
            <a:srgbClr val="115853"/>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407;p43">
            <a:extLst>
              <a:ext uri="{FF2B5EF4-FFF2-40B4-BE49-F238E27FC236}">
                <a16:creationId xmlns:a16="http://schemas.microsoft.com/office/drawing/2014/main" id="{4876625E-42E6-13BA-029E-5654ACEF188C}"/>
              </a:ext>
            </a:extLst>
          </p:cNvPr>
          <p:cNvSpPr txBox="1"/>
          <p:nvPr/>
        </p:nvSpPr>
        <p:spPr>
          <a:xfrm flipH="1">
            <a:off x="6611197" y="720835"/>
            <a:ext cx="1504505" cy="364961"/>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fr-FR" dirty="0">
                <a:solidFill>
                  <a:schemeClr val="bg1"/>
                </a:solidFill>
                <a:latin typeface="Quicksand SemiBold"/>
                <a:ea typeface="Quicksand SemiBold"/>
                <a:cs typeface="Quicksand SemiBold"/>
                <a:sym typeface="Quicksand SemiBold"/>
              </a:rPr>
              <a:t>Déploiement Cloud</a:t>
            </a:r>
            <a:endParaRPr dirty="0">
              <a:solidFill>
                <a:schemeClr val="dk2"/>
              </a:solidFill>
              <a:latin typeface="Quicksand SemiBold"/>
              <a:ea typeface="Quicksand SemiBold"/>
              <a:cs typeface="Quicksand SemiBold"/>
              <a:sym typeface="Quicksand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4CC7E-2ABE-79D1-852B-E2D505BBDA6A}"/>
            </a:ext>
          </a:extLst>
        </p:cNvPr>
        <p:cNvGrpSpPr/>
        <p:nvPr/>
      </p:nvGrpSpPr>
      <p:grpSpPr>
        <a:xfrm>
          <a:off x="0" y="0"/>
          <a:ext cx="0" cy="0"/>
          <a:chOff x="0" y="0"/>
          <a:chExt cx="0" cy="0"/>
        </a:xfrm>
      </p:grpSpPr>
      <p:sp>
        <p:nvSpPr>
          <p:cNvPr id="4" name="Google Shape;401;p43">
            <a:extLst>
              <a:ext uri="{FF2B5EF4-FFF2-40B4-BE49-F238E27FC236}">
                <a16:creationId xmlns:a16="http://schemas.microsoft.com/office/drawing/2014/main" id="{A5F39E6B-A208-D722-6613-A55C23448E62}"/>
              </a:ext>
            </a:extLst>
          </p:cNvPr>
          <p:cNvSpPr txBox="1"/>
          <p:nvPr/>
        </p:nvSpPr>
        <p:spPr>
          <a:xfrm flipH="1">
            <a:off x="57638" y="22306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1</a:t>
            </a:r>
            <a:endParaRPr sz="3500" dirty="0">
              <a:solidFill>
                <a:schemeClr val="dk2"/>
              </a:solidFill>
              <a:latin typeface="Quicksand SemiBold"/>
              <a:ea typeface="Quicksand SemiBold"/>
              <a:cs typeface="Quicksand SemiBold"/>
              <a:sym typeface="Quicksand SemiBold"/>
            </a:endParaRPr>
          </a:p>
        </p:txBody>
      </p:sp>
      <p:sp>
        <p:nvSpPr>
          <p:cNvPr id="5" name="Google Shape;402;p43">
            <a:extLst>
              <a:ext uri="{FF2B5EF4-FFF2-40B4-BE49-F238E27FC236}">
                <a16:creationId xmlns:a16="http://schemas.microsoft.com/office/drawing/2014/main" id="{D47559FD-96A6-F3EB-1752-C46C79D803F4}"/>
              </a:ext>
            </a:extLst>
          </p:cNvPr>
          <p:cNvSpPr txBox="1"/>
          <p:nvPr/>
        </p:nvSpPr>
        <p:spPr>
          <a:xfrm flipH="1">
            <a:off x="46700" y="712210"/>
            <a:ext cx="1812300" cy="32004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Les données</a:t>
            </a:r>
          </a:p>
        </p:txBody>
      </p:sp>
      <p:sp>
        <p:nvSpPr>
          <p:cNvPr id="35" name="ZoneTexte 34">
            <a:extLst>
              <a:ext uri="{FF2B5EF4-FFF2-40B4-BE49-F238E27FC236}">
                <a16:creationId xmlns:a16="http://schemas.microsoft.com/office/drawing/2014/main" id="{B4BCE634-3F66-FA70-0C54-B360455801DC}"/>
              </a:ext>
            </a:extLst>
          </p:cNvPr>
          <p:cNvSpPr txBox="1"/>
          <p:nvPr/>
        </p:nvSpPr>
        <p:spPr>
          <a:xfrm>
            <a:off x="542574" y="1041955"/>
            <a:ext cx="8444599" cy="566758"/>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txBody>
          <a:bodyPr wrap="square">
            <a:spAutoFit/>
          </a:bodyPr>
          <a:lstStyle>
            <a:defPPr marR="0" lvl="0" algn="l" rtl="0">
              <a:lnSpc>
                <a:spcPct val="100000"/>
              </a:lnSpc>
              <a:spcBef>
                <a:spcPts val="0"/>
              </a:spcBef>
              <a:spcAft>
                <a:spcPts val="0"/>
              </a:spcAft>
            </a:defPPr>
            <a:lvl1pPr marL="342900" indent="-342900">
              <a:lnSpc>
                <a:spcPct val="115000"/>
              </a:lnSpc>
              <a:spcAft>
                <a:spcPts val="800"/>
              </a:spcAft>
              <a:buFont typeface="+mj-lt"/>
              <a:buAutoNum type="arabicPeriod"/>
              <a:tabLst>
                <a:tab pos="457200" algn="l"/>
              </a:tabLst>
            </a:lvl1pPr>
            <a:lvl2pPr marL="742950" indent="-285750">
              <a:lnSpc>
                <a:spcPct val="115000"/>
              </a:lnSpc>
              <a:spcAft>
                <a:spcPts val="800"/>
              </a:spcAft>
              <a:buSzPts val="1000"/>
              <a:buFont typeface="Courier New" panose="02070309020205020404" pitchFamily="49" charset="0"/>
              <a:buChar char="o"/>
              <a:tabLst>
                <a:tab pos="914400" algn="l"/>
              </a:tabLst>
              <a:defRPr sz="1200" kern="100">
                <a:effectLst/>
                <a:latin typeface="Aptos" panose="020B0004020202020204" pitchFamily="34" charset="0"/>
                <a:ea typeface="Aptos" panose="020B0004020202020204" pitchFamily="34" charset="0"/>
                <a:cs typeface="Times New Roman" panose="02020603050405020304" pitchFamily="18" charset="0"/>
              </a:defRPr>
            </a:lvl2pPr>
          </a:lstStyle>
          <a:p>
            <a:pPr marL="0" indent="0" algn="ctr">
              <a:buNone/>
            </a:pPr>
            <a:r>
              <a:rPr lang="fr-FR" dirty="0"/>
              <a:t>Source des données </a:t>
            </a:r>
            <a:r>
              <a:rPr lang="fr-FR" dirty="0" err="1"/>
              <a:t>bucket</a:t>
            </a:r>
            <a:r>
              <a:rPr lang="fr-FR" dirty="0"/>
              <a:t> S3: https://s3.eu-west-1.amazonaws.com/</a:t>
            </a:r>
            <a:r>
              <a:rPr lang="fr-FR" dirty="0" err="1"/>
              <a:t>course.oc-static.com</a:t>
            </a:r>
            <a:r>
              <a:rPr lang="fr-FR" dirty="0"/>
              <a:t>/</a:t>
            </a:r>
            <a:r>
              <a:rPr lang="fr-FR" dirty="0" err="1"/>
              <a:t>projects</a:t>
            </a:r>
            <a:r>
              <a:rPr lang="fr-FR" dirty="0"/>
              <a:t>/Data_Scientist_P8/</a:t>
            </a:r>
            <a:r>
              <a:rPr lang="fr-FR" dirty="0" err="1"/>
              <a:t>fruits.zip</a:t>
            </a:r>
            <a:endParaRPr lang="fr-FR" dirty="0"/>
          </a:p>
        </p:txBody>
      </p:sp>
      <p:sp>
        <p:nvSpPr>
          <p:cNvPr id="10" name="Google Shape;213;p31">
            <a:extLst>
              <a:ext uri="{FF2B5EF4-FFF2-40B4-BE49-F238E27FC236}">
                <a16:creationId xmlns:a16="http://schemas.microsoft.com/office/drawing/2014/main" id="{6ADD95C5-202D-B4F2-DE40-BC84A85DB9EB}"/>
              </a:ext>
            </a:extLst>
          </p:cNvPr>
          <p:cNvSpPr txBox="1">
            <a:spLocks/>
          </p:cNvSpPr>
          <p:nvPr/>
        </p:nvSpPr>
        <p:spPr>
          <a:xfrm>
            <a:off x="192874" y="31212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fr-FR" sz="1600" dirty="0"/>
              <a:t>Chargement des images depuis </a:t>
            </a:r>
            <a:r>
              <a:rPr lang="fr-FR" sz="1600" dirty="0" err="1"/>
              <a:t>bucket</a:t>
            </a:r>
            <a:r>
              <a:rPr lang="fr-FR" sz="1600" dirty="0"/>
              <a:t> S3 </a:t>
            </a:r>
          </a:p>
          <a:p>
            <a:endParaRPr lang="en-GB" sz="1600" dirty="0"/>
          </a:p>
        </p:txBody>
      </p:sp>
      <p:sp>
        <p:nvSpPr>
          <p:cNvPr id="2" name="Google Shape;402;p43">
            <a:extLst>
              <a:ext uri="{FF2B5EF4-FFF2-40B4-BE49-F238E27FC236}">
                <a16:creationId xmlns:a16="http://schemas.microsoft.com/office/drawing/2014/main" id="{DD9E8BE0-D10B-268B-AAE7-56671F79886B}"/>
              </a:ext>
            </a:extLst>
          </p:cNvPr>
          <p:cNvSpPr txBox="1"/>
          <p:nvPr/>
        </p:nvSpPr>
        <p:spPr>
          <a:xfrm flipH="1">
            <a:off x="192874" y="3730852"/>
            <a:ext cx="4793795" cy="319800"/>
          </a:xfrm>
          <a:prstGeom prst="rect">
            <a:avLst/>
          </a:prstGeom>
          <a:noFill/>
          <a:ln>
            <a:noFill/>
          </a:ln>
        </p:spPr>
        <p:txBody>
          <a:bodyPr spcFirstLastPara="1" wrap="square" lIns="91425" tIns="91425" rIns="91425" bIns="91425" anchor="t" anchorCtr="0">
            <a:noAutofit/>
          </a:bodyPr>
          <a:lstStyle/>
          <a:p>
            <a:pPr marL="285750" indent="-285750">
              <a:buFontTx/>
              <a:buChar char="-"/>
            </a:pPr>
            <a:r>
              <a:rPr lang="fr-FR" b="1" dirty="0">
                <a:highlight>
                  <a:srgbClr val="53CFA2"/>
                </a:highlight>
              </a:rPr>
              <a:t>131 Types de fruits avec un </a:t>
            </a:r>
            <a:r>
              <a:rPr lang="fr-FR" b="1" dirty="0" err="1">
                <a:highlight>
                  <a:srgbClr val="53CFA2"/>
                </a:highlight>
              </a:rPr>
              <a:t>repertoire</a:t>
            </a:r>
            <a:r>
              <a:rPr lang="fr-FR" b="1" dirty="0">
                <a:highlight>
                  <a:srgbClr val="53CFA2"/>
                </a:highlight>
              </a:rPr>
              <a:t> par fruit</a:t>
            </a:r>
          </a:p>
          <a:p>
            <a:pPr marL="285750" indent="-285750">
              <a:buFontTx/>
              <a:buChar char="-"/>
            </a:pPr>
            <a:endParaRPr lang="fr-FR" b="1" dirty="0">
              <a:highlight>
                <a:srgbClr val="53CFA2"/>
              </a:highlight>
            </a:endParaRPr>
          </a:p>
          <a:p>
            <a:pPr marL="285750" indent="-285750">
              <a:buFontTx/>
              <a:buChar char="-"/>
            </a:pPr>
            <a:endParaRPr lang="fr-FR" b="1" dirty="0">
              <a:highlight>
                <a:srgbClr val="53CFA2"/>
              </a:highlight>
            </a:endParaRPr>
          </a:p>
          <a:p>
            <a:pPr marL="285750" indent="-285750">
              <a:buFontTx/>
              <a:buChar char="-"/>
            </a:pPr>
            <a:r>
              <a:rPr lang="fr-FR" b="1" dirty="0">
                <a:highlight>
                  <a:srgbClr val="53CFA2"/>
                </a:highlight>
              </a:rPr>
              <a:t>au minimum 99 photos du fruit</a:t>
            </a:r>
          </a:p>
          <a:p>
            <a:pPr marL="285750" indent="-285750">
              <a:buFontTx/>
              <a:buChar char="-"/>
            </a:pPr>
            <a:endParaRPr lang="fr-FR" b="1" dirty="0">
              <a:highlight>
                <a:srgbClr val="53CFA2"/>
              </a:highlight>
            </a:endParaRPr>
          </a:p>
          <a:p>
            <a:endParaRPr lang="fr-FR" b="1" dirty="0">
              <a:highlight>
                <a:srgbClr val="53CFA2"/>
              </a:highlight>
            </a:endParaRPr>
          </a:p>
        </p:txBody>
      </p:sp>
      <p:sp>
        <p:nvSpPr>
          <p:cNvPr id="12" name="ZoneTexte 11">
            <a:extLst>
              <a:ext uri="{FF2B5EF4-FFF2-40B4-BE49-F238E27FC236}">
                <a16:creationId xmlns:a16="http://schemas.microsoft.com/office/drawing/2014/main" id="{C9DB604F-3C29-F445-21CA-46E5C081DF1F}"/>
              </a:ext>
            </a:extLst>
          </p:cNvPr>
          <p:cNvSpPr txBox="1"/>
          <p:nvPr/>
        </p:nvSpPr>
        <p:spPr>
          <a:xfrm>
            <a:off x="192874" y="3115298"/>
            <a:ext cx="4572000" cy="307777"/>
          </a:xfrm>
          <a:prstGeom prst="rect">
            <a:avLst/>
          </a:prstGeom>
          <a:noFill/>
        </p:spPr>
        <p:txBody>
          <a:bodyPr wrap="square">
            <a:spAutoFit/>
          </a:bodyPr>
          <a:lstStyle/>
          <a:p>
            <a:pPr marL="285750" indent="-285750">
              <a:buFontTx/>
              <a:buChar char="-"/>
            </a:pPr>
            <a:r>
              <a:rPr lang="fr-FR" b="1" dirty="0">
                <a:highlight>
                  <a:srgbClr val="53CFA2"/>
                </a:highlight>
              </a:rPr>
              <a:t>Un total de 22 688 images dans le dossier Test</a:t>
            </a:r>
          </a:p>
        </p:txBody>
      </p:sp>
      <p:sp>
        <p:nvSpPr>
          <p:cNvPr id="14" name="ZoneTexte 13">
            <a:extLst>
              <a:ext uri="{FF2B5EF4-FFF2-40B4-BE49-F238E27FC236}">
                <a16:creationId xmlns:a16="http://schemas.microsoft.com/office/drawing/2014/main" id="{575DC771-E9CF-61F5-9C4B-BA59B84CBD9F}"/>
              </a:ext>
            </a:extLst>
          </p:cNvPr>
          <p:cNvSpPr txBox="1"/>
          <p:nvPr/>
        </p:nvSpPr>
        <p:spPr>
          <a:xfrm>
            <a:off x="405524" y="1959066"/>
            <a:ext cx="8015462" cy="307777"/>
          </a:xfrm>
          <a:prstGeom prst="rect">
            <a:avLst/>
          </a:prstGeom>
          <a:noFill/>
        </p:spPr>
        <p:txBody>
          <a:bodyPr wrap="square">
            <a:spAutoFit/>
          </a:bodyPr>
          <a:lstStyle/>
          <a:p>
            <a:r>
              <a:rPr lang="fr-FR" dirty="0"/>
              <a:t>Nombre total d'images dans le dossier 'fruits’ de l’alternant, en provenance du </a:t>
            </a:r>
            <a:r>
              <a:rPr lang="fr-FR" dirty="0" err="1"/>
              <a:t>bucket</a:t>
            </a:r>
            <a:r>
              <a:rPr lang="fr-FR" dirty="0"/>
              <a:t> S3 : </a:t>
            </a:r>
            <a:r>
              <a:rPr lang="fr-FR" b="1" dirty="0">
                <a:highlight>
                  <a:srgbClr val="53CFA2"/>
                </a:highlight>
              </a:rPr>
              <a:t>102 938</a:t>
            </a:r>
          </a:p>
        </p:txBody>
      </p:sp>
      <p:sp>
        <p:nvSpPr>
          <p:cNvPr id="15" name="ZoneTexte 14">
            <a:extLst>
              <a:ext uri="{FF2B5EF4-FFF2-40B4-BE49-F238E27FC236}">
                <a16:creationId xmlns:a16="http://schemas.microsoft.com/office/drawing/2014/main" id="{DF8FE093-EC3B-5F21-063B-4BA13A647586}"/>
              </a:ext>
            </a:extLst>
          </p:cNvPr>
          <p:cNvSpPr txBox="1"/>
          <p:nvPr/>
        </p:nvSpPr>
        <p:spPr>
          <a:xfrm>
            <a:off x="405524" y="2248123"/>
            <a:ext cx="7069164" cy="738664"/>
          </a:xfrm>
          <a:prstGeom prst="rect">
            <a:avLst/>
          </a:prstGeom>
          <a:noFill/>
        </p:spPr>
        <p:txBody>
          <a:bodyPr wrap="square">
            <a:spAutoFit/>
          </a:bodyPr>
          <a:lstStyle/>
          <a:p>
            <a:r>
              <a:rPr lang="fr-FR" dirty="0"/>
              <a:t>Avec un dossier avec des images de tailles originales et un autre avec tailles réduites et qu’aux données de Test  (pour simplifier on s’intéresse aux tailles réduites) – on peut déjà se rendre compte qu’on se trouve dans un environnement Big Data</a:t>
            </a:r>
          </a:p>
        </p:txBody>
      </p:sp>
    </p:spTree>
    <p:extLst>
      <p:ext uri="{BB962C8B-B14F-4D97-AF65-F5344CB8AC3E}">
        <p14:creationId xmlns:p14="http://schemas.microsoft.com/office/powerpoint/2010/main" val="3919343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401;p43">
            <a:extLst>
              <a:ext uri="{FF2B5EF4-FFF2-40B4-BE49-F238E27FC236}">
                <a16:creationId xmlns:a16="http://schemas.microsoft.com/office/drawing/2014/main" id="{5A80446C-6FA3-E013-A06A-374AD4BD1DAC}"/>
              </a:ext>
            </a:extLst>
          </p:cNvPr>
          <p:cNvSpPr txBox="1"/>
          <p:nvPr/>
        </p:nvSpPr>
        <p:spPr>
          <a:xfrm flipH="1">
            <a:off x="57638" y="223064"/>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1</a:t>
            </a:r>
            <a:endParaRPr sz="3500" dirty="0">
              <a:solidFill>
                <a:schemeClr val="dk2"/>
              </a:solidFill>
              <a:latin typeface="Quicksand SemiBold"/>
              <a:ea typeface="Quicksand SemiBold"/>
              <a:cs typeface="Quicksand SemiBold"/>
              <a:sym typeface="Quicksand SemiBold"/>
            </a:endParaRPr>
          </a:p>
        </p:txBody>
      </p:sp>
      <p:sp>
        <p:nvSpPr>
          <p:cNvPr id="5" name="Google Shape;402;p43">
            <a:extLst>
              <a:ext uri="{FF2B5EF4-FFF2-40B4-BE49-F238E27FC236}">
                <a16:creationId xmlns:a16="http://schemas.microsoft.com/office/drawing/2014/main" id="{F38CB365-1851-8D12-2A71-13261D1D9E0E}"/>
              </a:ext>
            </a:extLst>
          </p:cNvPr>
          <p:cNvSpPr txBox="1"/>
          <p:nvPr/>
        </p:nvSpPr>
        <p:spPr>
          <a:xfrm flipH="1">
            <a:off x="-31583" y="710599"/>
            <a:ext cx="1812300" cy="32004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ea typeface="Quicksand Medium"/>
                <a:cs typeface="Quicksand Medium"/>
                <a:sym typeface="Quicksand Medium"/>
              </a:rPr>
              <a:t>Les données</a:t>
            </a:r>
          </a:p>
        </p:txBody>
      </p:sp>
      <p:pic>
        <p:nvPicPr>
          <p:cNvPr id="11" name="Image 10" descr="Une image contenant texte, capture d’écran, Police, nombre&#10;&#10;Description générée automatiquement">
            <a:extLst>
              <a:ext uri="{FF2B5EF4-FFF2-40B4-BE49-F238E27FC236}">
                <a16:creationId xmlns:a16="http://schemas.microsoft.com/office/drawing/2014/main" id="{F1CF74EF-1E02-6BBF-F217-C3BC25D221F2}"/>
              </a:ext>
            </a:extLst>
          </p:cNvPr>
          <p:cNvPicPr>
            <a:picLocks noChangeAspect="1"/>
          </p:cNvPicPr>
          <p:nvPr/>
        </p:nvPicPr>
        <p:blipFill>
          <a:blip r:embed="rId3"/>
          <a:stretch>
            <a:fillRect/>
          </a:stretch>
        </p:blipFill>
        <p:spPr>
          <a:xfrm>
            <a:off x="3655075" y="1898329"/>
            <a:ext cx="4241800" cy="2984500"/>
          </a:xfrm>
          <a:prstGeom prst="rect">
            <a:avLst/>
          </a:prstGeom>
        </p:spPr>
      </p:pic>
      <p:pic>
        <p:nvPicPr>
          <p:cNvPr id="15" name="Image 14" descr="Une image contenant nourriture, produits&#10;&#10;Description générée automatiquement">
            <a:extLst>
              <a:ext uri="{FF2B5EF4-FFF2-40B4-BE49-F238E27FC236}">
                <a16:creationId xmlns:a16="http://schemas.microsoft.com/office/drawing/2014/main" id="{629431FD-209F-F6DF-3142-230C20776BEF}"/>
              </a:ext>
            </a:extLst>
          </p:cNvPr>
          <p:cNvPicPr>
            <a:picLocks noChangeAspect="1"/>
          </p:cNvPicPr>
          <p:nvPr/>
        </p:nvPicPr>
        <p:blipFill>
          <a:blip r:embed="rId4"/>
          <a:stretch>
            <a:fillRect/>
          </a:stretch>
        </p:blipFill>
        <p:spPr>
          <a:xfrm>
            <a:off x="1061947" y="940622"/>
            <a:ext cx="2073346" cy="4111250"/>
          </a:xfrm>
          <a:prstGeom prst="rect">
            <a:avLst/>
          </a:prstGeom>
        </p:spPr>
      </p:pic>
      <p:sp>
        <p:nvSpPr>
          <p:cNvPr id="16" name="ZoneTexte 15">
            <a:extLst>
              <a:ext uri="{FF2B5EF4-FFF2-40B4-BE49-F238E27FC236}">
                <a16:creationId xmlns:a16="http://schemas.microsoft.com/office/drawing/2014/main" id="{78CF9C44-B281-7A91-F6EC-9B455799D4A2}"/>
              </a:ext>
            </a:extLst>
          </p:cNvPr>
          <p:cNvSpPr txBox="1"/>
          <p:nvPr/>
        </p:nvSpPr>
        <p:spPr>
          <a:xfrm>
            <a:off x="3510053" y="583371"/>
            <a:ext cx="4572000" cy="1384995"/>
          </a:xfrm>
          <a:prstGeom prst="rect">
            <a:avLst/>
          </a:prstGeom>
          <a:noFill/>
        </p:spPr>
        <p:txBody>
          <a:bodyPr wrap="square">
            <a:spAutoFit/>
          </a:bodyPr>
          <a:lstStyle/>
          <a:p>
            <a:pPr marL="285750" indent="-285750">
              <a:buFontTx/>
              <a:buChar char="-"/>
            </a:pPr>
            <a:endParaRPr lang="fr-FR" b="1" dirty="0">
              <a:highlight>
                <a:srgbClr val="53CFA2"/>
              </a:highlight>
            </a:endParaRPr>
          </a:p>
          <a:p>
            <a:r>
              <a:rPr lang="fr-FR" b="1" dirty="0">
                <a:highlight>
                  <a:srgbClr val="53CFA2"/>
                </a:highlight>
              </a:rPr>
              <a:t>Pour des raisons de coût (taille mémoire) on va se limiter à deux jeux de données:</a:t>
            </a:r>
          </a:p>
          <a:p>
            <a:r>
              <a:rPr lang="fr-FR" b="1" dirty="0">
                <a:highlight>
                  <a:srgbClr val="53CFA2"/>
                </a:highlight>
              </a:rPr>
              <a:t> </a:t>
            </a:r>
          </a:p>
          <a:p>
            <a:r>
              <a:rPr lang="fr-FR" b="1" dirty="0">
                <a:highlight>
                  <a:srgbClr val="53CFA2"/>
                </a:highlight>
              </a:rPr>
              <a:t>On choisit arbitrairement 2 fruits, 10 images par fruit (20 images au total)</a:t>
            </a:r>
            <a:endParaRPr lang="fr-FR" dirty="0"/>
          </a:p>
        </p:txBody>
      </p:sp>
      <p:sp>
        <p:nvSpPr>
          <p:cNvPr id="17" name="Google Shape;213;p31">
            <a:extLst>
              <a:ext uri="{FF2B5EF4-FFF2-40B4-BE49-F238E27FC236}">
                <a16:creationId xmlns:a16="http://schemas.microsoft.com/office/drawing/2014/main" id="{F235E46C-4FD4-D180-2FE9-35FEA29BC7BC}"/>
              </a:ext>
            </a:extLst>
          </p:cNvPr>
          <p:cNvSpPr txBox="1">
            <a:spLocks/>
          </p:cNvSpPr>
          <p:nvPr/>
        </p:nvSpPr>
        <p:spPr>
          <a:xfrm>
            <a:off x="192874" y="31212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fr-FR" sz="1600" dirty="0"/>
              <a:t>Chargement des images depuis </a:t>
            </a:r>
            <a:r>
              <a:rPr lang="fr-FR" sz="1600" dirty="0" err="1"/>
              <a:t>bucket</a:t>
            </a:r>
            <a:r>
              <a:rPr lang="fr-FR" sz="1600" dirty="0"/>
              <a:t> S3 </a:t>
            </a:r>
          </a:p>
          <a:p>
            <a:endParaRPr lang="en-GB" sz="1600" dirty="0"/>
          </a:p>
        </p:txBody>
      </p:sp>
    </p:spTree>
    <p:extLst>
      <p:ext uri="{BB962C8B-B14F-4D97-AF65-F5344CB8AC3E}">
        <p14:creationId xmlns:p14="http://schemas.microsoft.com/office/powerpoint/2010/main" val="4289741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4FD74-7FCC-1626-4616-E5E43C5622FF}"/>
            </a:ext>
          </a:extLst>
        </p:cNvPr>
        <p:cNvGrpSpPr/>
        <p:nvPr/>
      </p:nvGrpSpPr>
      <p:grpSpPr>
        <a:xfrm>
          <a:off x="0" y="0"/>
          <a:ext cx="0" cy="0"/>
          <a:chOff x="0" y="0"/>
          <a:chExt cx="0" cy="0"/>
        </a:xfrm>
      </p:grpSpPr>
      <p:sp>
        <p:nvSpPr>
          <p:cNvPr id="4" name="Google Shape;409;p43">
            <a:extLst>
              <a:ext uri="{FF2B5EF4-FFF2-40B4-BE49-F238E27FC236}">
                <a16:creationId xmlns:a16="http://schemas.microsoft.com/office/drawing/2014/main" id="{342BFE1C-DE75-8361-EBC2-ED4AFB57A89F}"/>
              </a:ext>
            </a:extLst>
          </p:cNvPr>
          <p:cNvSpPr txBox="1"/>
          <p:nvPr/>
        </p:nvSpPr>
        <p:spPr>
          <a:xfrm flipH="1">
            <a:off x="7189301" y="21896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2</a:t>
            </a:r>
            <a:endParaRPr sz="3500" dirty="0">
              <a:solidFill>
                <a:schemeClr val="dk2"/>
              </a:solidFill>
              <a:latin typeface="Quicksand SemiBold"/>
              <a:ea typeface="Quicksand SemiBold"/>
              <a:cs typeface="Quicksand SemiBold"/>
              <a:sym typeface="Quicksand SemiBold"/>
            </a:endParaRPr>
          </a:p>
        </p:txBody>
      </p:sp>
      <p:sp>
        <p:nvSpPr>
          <p:cNvPr id="5" name="Google Shape;410;p43">
            <a:extLst>
              <a:ext uri="{FF2B5EF4-FFF2-40B4-BE49-F238E27FC236}">
                <a16:creationId xmlns:a16="http://schemas.microsoft.com/office/drawing/2014/main" id="{2E3E2179-6E58-4779-9C9A-9E64705552CD}"/>
              </a:ext>
            </a:extLst>
          </p:cNvPr>
          <p:cNvSpPr txBox="1"/>
          <p:nvPr/>
        </p:nvSpPr>
        <p:spPr>
          <a:xfrm flipH="1">
            <a:off x="7141284" y="636969"/>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cs typeface="Quicksand Medium"/>
              </a:rPr>
              <a:t>Preprocessing</a:t>
            </a:r>
            <a:r>
              <a:rPr lang="fr-FR" sz="1200" dirty="0">
                <a:solidFill>
                  <a:schemeClr val="dk1"/>
                </a:solidFill>
                <a:latin typeface="Quicksand Medium"/>
                <a:cs typeface="Quicksand Medium"/>
              </a:rPr>
              <a:t> des images</a:t>
            </a:r>
            <a:endParaRPr lang="fr-FR" sz="1200" dirty="0">
              <a:solidFill>
                <a:schemeClr val="dk1"/>
              </a:solidFill>
              <a:latin typeface="Quicksand Medium"/>
              <a:cs typeface="Quicksand Medium"/>
              <a:sym typeface="Quicksand Medium"/>
            </a:endParaRPr>
          </a:p>
        </p:txBody>
      </p:sp>
      <p:sp>
        <p:nvSpPr>
          <p:cNvPr id="2" name="Google Shape;213;p31">
            <a:extLst>
              <a:ext uri="{FF2B5EF4-FFF2-40B4-BE49-F238E27FC236}">
                <a16:creationId xmlns:a16="http://schemas.microsoft.com/office/drawing/2014/main" id="{B4B0519D-FA7F-1B36-2884-F999D1EDA180}"/>
              </a:ext>
            </a:extLst>
          </p:cNvPr>
          <p:cNvSpPr txBox="1">
            <a:spLocks/>
          </p:cNvSpPr>
          <p:nvPr/>
        </p:nvSpPr>
        <p:spPr>
          <a:xfrm>
            <a:off x="499321" y="149556"/>
            <a:ext cx="5352212"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pPr algn="l"/>
            <a:r>
              <a:rPr lang="en-GB" sz="2000" dirty="0"/>
              <a:t>Preprocessing des images</a:t>
            </a:r>
          </a:p>
        </p:txBody>
      </p:sp>
      <p:sp>
        <p:nvSpPr>
          <p:cNvPr id="8" name="ZoneTexte 7">
            <a:extLst>
              <a:ext uri="{FF2B5EF4-FFF2-40B4-BE49-F238E27FC236}">
                <a16:creationId xmlns:a16="http://schemas.microsoft.com/office/drawing/2014/main" id="{F1EC16BE-DCAD-12AA-FC07-2E4DF887EB02}"/>
              </a:ext>
            </a:extLst>
          </p:cNvPr>
          <p:cNvSpPr txBox="1"/>
          <p:nvPr/>
        </p:nvSpPr>
        <p:spPr>
          <a:xfrm>
            <a:off x="372140" y="1062197"/>
            <a:ext cx="6443330" cy="3754874"/>
          </a:xfrm>
          <a:prstGeom prst="rect">
            <a:avLst/>
          </a:prstGeom>
          <a:noFill/>
        </p:spPr>
        <p:txBody>
          <a:bodyPr wrap="square">
            <a:spAutoFit/>
          </a:bodyPr>
          <a:lstStyle/>
          <a:p>
            <a:pPr algn="l"/>
            <a:r>
              <a:rPr lang="fr-FR" b="1" dirty="0">
                <a:highlight>
                  <a:srgbClr val="53CFA2"/>
                </a:highlight>
              </a:rPr>
              <a:t>Prétraitement des images :</a:t>
            </a:r>
          </a:p>
          <a:p>
            <a:pPr algn="l"/>
            <a:r>
              <a:rPr lang="fr-FR" i="0" dirty="0">
                <a:solidFill>
                  <a:srgbClr val="000000"/>
                </a:solidFill>
                <a:effectLst/>
                <a:latin typeface="system-ui"/>
              </a:rPr>
              <a:t>Les images brutes (bytes) sont prétraitées avec </a:t>
            </a:r>
            <a:r>
              <a:rPr lang="fr-FR" i="0" dirty="0" err="1">
                <a:solidFill>
                  <a:srgbClr val="000000"/>
                </a:solidFill>
                <a:effectLst/>
                <a:latin typeface="system-ui"/>
              </a:rPr>
              <a:t>preprocess</a:t>
            </a:r>
            <a:r>
              <a:rPr lang="fr-FR" i="0" dirty="0">
                <a:solidFill>
                  <a:srgbClr val="000000"/>
                </a:solidFill>
                <a:effectLst/>
                <a:latin typeface="system-ui"/>
              </a:rPr>
              <a:t> pour les normaliser au format attendu par le modèle. </a:t>
            </a:r>
          </a:p>
          <a:p>
            <a:pPr algn="l"/>
            <a:endParaRPr lang="fr-FR" i="0" dirty="0">
              <a:solidFill>
                <a:srgbClr val="000000"/>
              </a:solidFill>
              <a:effectLst/>
              <a:latin typeface="system-ui"/>
            </a:endParaRPr>
          </a:p>
          <a:p>
            <a:r>
              <a:rPr lang="fr-FR" b="1" dirty="0">
                <a:highlight>
                  <a:srgbClr val="53CFA2"/>
                </a:highlight>
              </a:rPr>
              <a:t>Extraction des caractéristiques :</a:t>
            </a:r>
          </a:p>
          <a:p>
            <a:pPr algn="l"/>
            <a:r>
              <a:rPr lang="fr-FR" i="0" dirty="0">
                <a:solidFill>
                  <a:srgbClr val="000000"/>
                </a:solidFill>
                <a:effectLst/>
                <a:latin typeface="system-ui"/>
              </a:rPr>
              <a:t>Les caractéristiques sont extraites par un modèle </a:t>
            </a:r>
            <a:r>
              <a:rPr lang="fr-FR" i="0" dirty="0" err="1">
                <a:solidFill>
                  <a:srgbClr val="000000"/>
                </a:solidFill>
                <a:effectLst/>
                <a:latin typeface="system-ui"/>
              </a:rPr>
              <a:t>Keras</a:t>
            </a:r>
            <a:r>
              <a:rPr lang="fr-FR" i="0" dirty="0">
                <a:solidFill>
                  <a:srgbClr val="000000"/>
                </a:solidFill>
                <a:effectLst/>
                <a:latin typeface="system-ui"/>
              </a:rPr>
              <a:t>. L'UDF Pandas (</a:t>
            </a:r>
            <a:r>
              <a:rPr lang="fr-FR" i="0" dirty="0" err="1">
                <a:solidFill>
                  <a:srgbClr val="000000"/>
                </a:solidFill>
                <a:effectLst/>
                <a:latin typeface="system-ui"/>
              </a:rPr>
              <a:t>featurize_udf</a:t>
            </a:r>
            <a:r>
              <a:rPr lang="fr-FR" i="0" dirty="0">
                <a:solidFill>
                  <a:srgbClr val="000000"/>
                </a:solidFill>
                <a:effectLst/>
                <a:latin typeface="system-ui"/>
              </a:rPr>
              <a:t>) optimise l'exécution en initialisant le modèle une seule fois par partition. </a:t>
            </a:r>
          </a:p>
          <a:p>
            <a:pPr algn="l"/>
            <a:endParaRPr lang="fr-FR" dirty="0">
              <a:latin typeface="system-ui"/>
            </a:endParaRPr>
          </a:p>
          <a:p>
            <a:r>
              <a:rPr lang="fr-FR" b="1" dirty="0">
                <a:highlight>
                  <a:srgbClr val="53CFA2"/>
                </a:highlight>
              </a:rPr>
              <a:t>Réduction de dimensions avec </a:t>
            </a:r>
            <a:r>
              <a:rPr lang="fr-FR" b="1" dirty="0" err="1">
                <a:highlight>
                  <a:srgbClr val="53CFA2"/>
                </a:highlight>
              </a:rPr>
              <a:t>PySpark</a:t>
            </a:r>
            <a:r>
              <a:rPr lang="fr-FR" b="1" dirty="0">
                <a:highlight>
                  <a:srgbClr val="53CFA2"/>
                </a:highlight>
              </a:rPr>
              <a:t> PCA  :</a:t>
            </a:r>
          </a:p>
          <a:p>
            <a:pPr algn="l"/>
            <a:r>
              <a:rPr lang="fr-FR" i="0" dirty="0">
                <a:solidFill>
                  <a:srgbClr val="000000"/>
                </a:solidFill>
                <a:effectLst/>
                <a:latin typeface="system-ui"/>
              </a:rPr>
              <a:t>PCA réduit les dimensions des caractéristiques pour les rendre plus exploitables. Écriture des résultats :</a:t>
            </a:r>
          </a:p>
          <a:p>
            <a:pPr algn="l"/>
            <a:r>
              <a:rPr lang="fr-FR" i="0" dirty="0">
                <a:solidFill>
                  <a:srgbClr val="000000"/>
                </a:solidFill>
                <a:effectLst/>
                <a:latin typeface="system-ui"/>
              </a:rPr>
              <a:t>Les résultats sont sauvegardés à la fois en Parquet (pour des réutilisations Spark) et en CSV (pour des usages externes)</a:t>
            </a:r>
          </a:p>
          <a:p>
            <a:pPr algn="l"/>
            <a:r>
              <a:rPr lang="fr-FR" i="0" dirty="0">
                <a:solidFill>
                  <a:srgbClr val="000000"/>
                </a:solidFill>
                <a:effectLst/>
                <a:latin typeface="system-ui"/>
              </a:rPr>
              <a:t>Choix entre Parquet et CSV Parquet : Optimisé pour les traitements distribués et la réutilisation dans Spark. Recommandé pour les pipelines en production. CSV : Utilisé pour partager les résultats avec d'autres outils ou pour des analyses simples hors Spark. </a:t>
            </a:r>
          </a:p>
        </p:txBody>
      </p:sp>
    </p:spTree>
    <p:extLst>
      <p:ext uri="{BB962C8B-B14F-4D97-AF65-F5344CB8AC3E}">
        <p14:creationId xmlns:p14="http://schemas.microsoft.com/office/powerpoint/2010/main" val="3790229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2A4A2-5968-14BF-A266-9B083B6FD905}"/>
            </a:ext>
          </a:extLst>
        </p:cNvPr>
        <p:cNvGrpSpPr/>
        <p:nvPr/>
      </p:nvGrpSpPr>
      <p:grpSpPr>
        <a:xfrm>
          <a:off x="0" y="0"/>
          <a:ext cx="0" cy="0"/>
          <a:chOff x="0" y="0"/>
          <a:chExt cx="0" cy="0"/>
        </a:xfrm>
      </p:grpSpPr>
      <p:sp>
        <p:nvSpPr>
          <p:cNvPr id="4" name="Google Shape;409;p43">
            <a:extLst>
              <a:ext uri="{FF2B5EF4-FFF2-40B4-BE49-F238E27FC236}">
                <a16:creationId xmlns:a16="http://schemas.microsoft.com/office/drawing/2014/main" id="{7D5D0531-710D-87F3-3821-3E004BD4D224}"/>
              </a:ext>
            </a:extLst>
          </p:cNvPr>
          <p:cNvSpPr txBox="1"/>
          <p:nvPr/>
        </p:nvSpPr>
        <p:spPr>
          <a:xfrm flipH="1">
            <a:off x="6829089" y="382810"/>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3</a:t>
            </a:r>
            <a:endParaRPr sz="3500" dirty="0">
              <a:solidFill>
                <a:schemeClr val="dk2"/>
              </a:solidFill>
              <a:latin typeface="Quicksand SemiBold"/>
              <a:ea typeface="Quicksand SemiBold"/>
              <a:cs typeface="Quicksand SemiBold"/>
              <a:sym typeface="Quicksand SemiBold"/>
            </a:endParaRPr>
          </a:p>
        </p:txBody>
      </p:sp>
      <p:sp>
        <p:nvSpPr>
          <p:cNvPr id="12" name="ZoneTexte 11">
            <a:extLst>
              <a:ext uri="{FF2B5EF4-FFF2-40B4-BE49-F238E27FC236}">
                <a16:creationId xmlns:a16="http://schemas.microsoft.com/office/drawing/2014/main" id="{1BBFE0A6-FCD8-EABB-96B7-3219F531E255}"/>
              </a:ext>
            </a:extLst>
          </p:cNvPr>
          <p:cNvSpPr txBox="1"/>
          <p:nvPr/>
        </p:nvSpPr>
        <p:spPr>
          <a:xfrm>
            <a:off x="338575" y="1010709"/>
            <a:ext cx="7808672" cy="523220"/>
          </a:xfrm>
          <a:prstGeom prst="rect">
            <a:avLst/>
          </a:prstGeom>
          <a:noFill/>
        </p:spPr>
        <p:txBody>
          <a:bodyPr wrap="square">
            <a:spAutoFit/>
          </a:bodyPr>
          <a:lstStyle/>
          <a:p>
            <a:pPr algn="l"/>
            <a:r>
              <a:rPr lang="fr-FR" b="1" dirty="0">
                <a:solidFill>
                  <a:srgbClr val="374151"/>
                </a:solidFill>
                <a:highlight>
                  <a:srgbClr val="53CFA2"/>
                </a:highlight>
                <a:latin typeface="Söhne"/>
              </a:rPr>
              <a:t>Transfer Learning avec MobileNetV2 en </a:t>
            </a:r>
            <a:r>
              <a:rPr lang="fr-FR" b="1" dirty="0" err="1">
                <a:solidFill>
                  <a:srgbClr val="374151"/>
                </a:solidFill>
                <a:highlight>
                  <a:srgbClr val="53CFA2"/>
                </a:highlight>
                <a:latin typeface="Söhne"/>
              </a:rPr>
              <a:t>Keras</a:t>
            </a:r>
            <a:r>
              <a:rPr lang="fr-FR" b="1" dirty="0">
                <a:solidFill>
                  <a:srgbClr val="374151"/>
                </a:solidFill>
                <a:highlight>
                  <a:srgbClr val="53CFA2"/>
                </a:highlight>
                <a:latin typeface="Söhne"/>
              </a:rPr>
              <a:t> et </a:t>
            </a:r>
            <a:r>
              <a:rPr lang="fr-FR" b="1" dirty="0" err="1">
                <a:solidFill>
                  <a:srgbClr val="374151"/>
                </a:solidFill>
                <a:highlight>
                  <a:srgbClr val="53CFA2"/>
                </a:highlight>
                <a:latin typeface="Söhne"/>
              </a:rPr>
              <a:t>TensorFlow</a:t>
            </a:r>
            <a:r>
              <a:rPr lang="fr-FR" b="1" dirty="0">
                <a:solidFill>
                  <a:srgbClr val="374151"/>
                </a:solidFill>
                <a:highlight>
                  <a:srgbClr val="53CFA2"/>
                </a:highlight>
                <a:latin typeface="Söhne"/>
              </a:rPr>
              <a:t> </a:t>
            </a:r>
            <a:r>
              <a:rPr lang="fr-FR" b="1" dirty="0"/>
              <a:t>:</a:t>
            </a:r>
          </a:p>
          <a:p>
            <a:pPr algn="l"/>
            <a:endParaRPr lang="fr-FR" b="1" dirty="0"/>
          </a:p>
        </p:txBody>
      </p:sp>
      <p:sp>
        <p:nvSpPr>
          <p:cNvPr id="5" name="Google Shape;410;p43">
            <a:extLst>
              <a:ext uri="{FF2B5EF4-FFF2-40B4-BE49-F238E27FC236}">
                <a16:creationId xmlns:a16="http://schemas.microsoft.com/office/drawing/2014/main" id="{AC40DCFC-5C53-D3C8-ED0A-85E29D0A22CA}"/>
              </a:ext>
            </a:extLst>
          </p:cNvPr>
          <p:cNvSpPr txBox="1"/>
          <p:nvPr/>
        </p:nvSpPr>
        <p:spPr>
          <a:xfrm flipH="1">
            <a:off x="6755937" y="797812"/>
            <a:ext cx="1812300"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a:solidFill>
                  <a:schemeClr val="dk1"/>
                </a:solidFill>
                <a:latin typeface="Quicksand Medium"/>
              </a:rPr>
              <a:t>Réduction de dimension</a:t>
            </a:r>
            <a:endParaRPr sz="1200" dirty="0">
              <a:solidFill>
                <a:schemeClr val="dk1"/>
              </a:solidFill>
              <a:latin typeface="Quicksand Medium"/>
              <a:sym typeface="Quicksand Medium"/>
            </a:endParaRPr>
          </a:p>
        </p:txBody>
      </p:sp>
      <p:sp>
        <p:nvSpPr>
          <p:cNvPr id="2" name="Google Shape;213;p31">
            <a:extLst>
              <a:ext uri="{FF2B5EF4-FFF2-40B4-BE49-F238E27FC236}">
                <a16:creationId xmlns:a16="http://schemas.microsoft.com/office/drawing/2014/main" id="{ECA517B5-F2A4-8D51-3E0D-F560F05DA73B}"/>
              </a:ext>
            </a:extLst>
          </p:cNvPr>
          <p:cNvSpPr txBox="1">
            <a:spLocks/>
          </p:cNvSpPr>
          <p:nvPr/>
        </p:nvSpPr>
        <p:spPr>
          <a:xfrm>
            <a:off x="192875" y="78206"/>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a:t>Transfer Learning : MobileVnet2</a:t>
            </a:r>
          </a:p>
        </p:txBody>
      </p:sp>
      <p:sp>
        <p:nvSpPr>
          <p:cNvPr id="6" name="ZoneTexte 5">
            <a:extLst>
              <a:ext uri="{FF2B5EF4-FFF2-40B4-BE49-F238E27FC236}">
                <a16:creationId xmlns:a16="http://schemas.microsoft.com/office/drawing/2014/main" id="{3223DC12-3239-D0AF-D769-0FFA924242DC}"/>
              </a:ext>
            </a:extLst>
          </p:cNvPr>
          <p:cNvSpPr txBox="1"/>
          <p:nvPr/>
        </p:nvSpPr>
        <p:spPr>
          <a:xfrm>
            <a:off x="338575" y="3224850"/>
            <a:ext cx="8563687" cy="1600438"/>
          </a:xfrm>
          <a:prstGeom prst="rect">
            <a:avLst/>
          </a:prstGeom>
          <a:noFill/>
        </p:spPr>
        <p:txBody>
          <a:bodyPr wrap="square">
            <a:spAutoFit/>
          </a:bodyPr>
          <a:lstStyle/>
          <a:p>
            <a:pPr algn="just"/>
            <a:r>
              <a:rPr lang="fr-FR" b="1" dirty="0"/>
              <a:t>Utilité de la PCA dans la mise à l'échelle et réduction d'image :</a:t>
            </a:r>
          </a:p>
          <a:p>
            <a:pPr algn="just"/>
            <a:r>
              <a:rPr lang="fr-FR" dirty="0"/>
              <a:t>La </a:t>
            </a:r>
            <a:r>
              <a:rPr lang="fr-FR" b="1" dirty="0"/>
              <a:t>PCA (Principal Component </a:t>
            </a:r>
            <a:r>
              <a:rPr lang="fr-FR" b="1" dirty="0" err="1"/>
              <a:t>Analysis</a:t>
            </a:r>
            <a:r>
              <a:rPr lang="fr-FR" b="1" dirty="0"/>
              <a:t>)</a:t>
            </a:r>
            <a:r>
              <a:rPr lang="fr-FR" dirty="0"/>
              <a:t> est une méthode de réduction de dimensionnalité qui permet de réduire la taille des données tout en conservant l'information essentielle. Dans le cas des images, la PCA peut être utilisée après la mise à l'échelle des pixels pour transformer les images dans un espace de caractéristiques de plus petite dimension, rendant le processus d'entraînement plus rapide et moins coûteux en mémoire. Elle peut aussi aider à éliminer le bruit et à extraire les caractéristiques les plus importantes des images.</a:t>
            </a:r>
          </a:p>
        </p:txBody>
      </p:sp>
      <p:sp>
        <p:nvSpPr>
          <p:cNvPr id="7" name="ZoneTexte 6">
            <a:extLst>
              <a:ext uri="{FF2B5EF4-FFF2-40B4-BE49-F238E27FC236}">
                <a16:creationId xmlns:a16="http://schemas.microsoft.com/office/drawing/2014/main" id="{472C2C55-54B8-F295-B97B-A2B071C50E91}"/>
              </a:ext>
            </a:extLst>
          </p:cNvPr>
          <p:cNvSpPr txBox="1"/>
          <p:nvPr/>
        </p:nvSpPr>
        <p:spPr>
          <a:xfrm>
            <a:off x="338575" y="1363517"/>
            <a:ext cx="7005145" cy="1815882"/>
          </a:xfrm>
          <a:prstGeom prst="rect">
            <a:avLst/>
          </a:prstGeom>
          <a:noFill/>
        </p:spPr>
        <p:txBody>
          <a:bodyPr wrap="square">
            <a:spAutoFit/>
          </a:bodyPr>
          <a:lstStyle/>
          <a:p>
            <a:pPr algn="just"/>
            <a:r>
              <a:rPr lang="fr-FR" dirty="0"/>
              <a:t>Le </a:t>
            </a:r>
            <a:r>
              <a:rPr lang="fr-FR" b="1" dirty="0" err="1"/>
              <a:t>transfer</a:t>
            </a:r>
            <a:r>
              <a:rPr lang="fr-FR" b="1" dirty="0"/>
              <a:t> </a:t>
            </a:r>
            <a:r>
              <a:rPr lang="fr-FR" b="1" dirty="0" err="1"/>
              <a:t>learning</a:t>
            </a:r>
            <a:r>
              <a:rPr lang="fr-FR" dirty="0"/>
              <a:t> consiste à utiliser un modèle préalablement entraîné sur un grand </a:t>
            </a:r>
            <a:r>
              <a:rPr lang="fr-FR" dirty="0" err="1"/>
              <a:t>dataset</a:t>
            </a:r>
            <a:r>
              <a:rPr lang="fr-FR" dirty="0"/>
              <a:t> (comme </a:t>
            </a:r>
            <a:r>
              <a:rPr lang="fr-FR" dirty="0" err="1"/>
              <a:t>ImageNet</a:t>
            </a:r>
            <a:r>
              <a:rPr lang="fr-FR" dirty="0"/>
              <a:t>) pour une tâche spécifique avec un nouveau </a:t>
            </a:r>
            <a:r>
              <a:rPr lang="fr-FR" dirty="0" err="1"/>
              <a:t>dataset</a:t>
            </a:r>
            <a:r>
              <a:rPr lang="fr-FR" dirty="0"/>
              <a:t>. </a:t>
            </a:r>
          </a:p>
          <a:p>
            <a:pPr algn="just"/>
            <a:endParaRPr lang="fr-FR" dirty="0"/>
          </a:p>
          <a:p>
            <a:pPr algn="just"/>
            <a:r>
              <a:rPr lang="fr-FR" dirty="0"/>
              <a:t>Dans le cas de </a:t>
            </a:r>
            <a:r>
              <a:rPr lang="fr-FR" b="1" dirty="0"/>
              <a:t>MobileNetV2</a:t>
            </a:r>
            <a:r>
              <a:rPr lang="fr-FR" dirty="0"/>
              <a:t> avec </a:t>
            </a:r>
            <a:r>
              <a:rPr lang="fr-FR" b="1" dirty="0" err="1"/>
              <a:t>Keras</a:t>
            </a:r>
            <a:r>
              <a:rPr lang="fr-FR" dirty="0"/>
              <a:t> et </a:t>
            </a:r>
            <a:r>
              <a:rPr lang="fr-FR" b="1" dirty="0" err="1"/>
              <a:t>TensorFlow</a:t>
            </a:r>
            <a:r>
              <a:rPr lang="fr-FR" dirty="0"/>
              <a:t>, on charge un modèle pré-entraîné et on peut soit l'utiliser tel quel (en gardant les poids fixes), soit fine-tuner certaines couches pour l'adapter à une nouvelle tâche. Ce processus permet de réduire les coûts computationnels et de gagner du temps d'entraînement en utilisant des représentations déjà apprises.</a:t>
            </a:r>
          </a:p>
        </p:txBody>
      </p:sp>
    </p:spTree>
    <p:extLst>
      <p:ext uri="{BB962C8B-B14F-4D97-AF65-F5344CB8AC3E}">
        <p14:creationId xmlns:p14="http://schemas.microsoft.com/office/powerpoint/2010/main" val="718668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Google Shape;359;p42">
            <a:extLst>
              <a:ext uri="{FF2B5EF4-FFF2-40B4-BE49-F238E27FC236}">
                <a16:creationId xmlns:a16="http://schemas.microsoft.com/office/drawing/2014/main" id="{B38C1B03-806D-FD8A-09E2-43E879EB3589}"/>
              </a:ext>
            </a:extLst>
          </p:cNvPr>
          <p:cNvSpPr txBox="1">
            <a:spLocks/>
          </p:cNvSpPr>
          <p:nvPr/>
        </p:nvSpPr>
        <p:spPr>
          <a:xfrm>
            <a:off x="608738" y="0"/>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err="1"/>
              <a:t>Préprocessing</a:t>
            </a:r>
            <a:r>
              <a:rPr lang="en-GB" sz="2400" dirty="0"/>
              <a:t> des images</a:t>
            </a:r>
          </a:p>
        </p:txBody>
      </p:sp>
      <p:sp>
        <p:nvSpPr>
          <p:cNvPr id="10" name="Google Shape;409;p43">
            <a:extLst>
              <a:ext uri="{FF2B5EF4-FFF2-40B4-BE49-F238E27FC236}">
                <a16:creationId xmlns:a16="http://schemas.microsoft.com/office/drawing/2014/main" id="{CCFD7791-308A-541A-0CD3-3540AF86A63E}"/>
              </a:ext>
            </a:extLst>
          </p:cNvPr>
          <p:cNvSpPr txBox="1"/>
          <p:nvPr/>
        </p:nvSpPr>
        <p:spPr>
          <a:xfrm flipH="1">
            <a:off x="6722962" y="96568"/>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14" name="Google Shape;410;p43">
            <a:extLst>
              <a:ext uri="{FF2B5EF4-FFF2-40B4-BE49-F238E27FC236}">
                <a16:creationId xmlns:a16="http://schemas.microsoft.com/office/drawing/2014/main" id="{1C6215BD-52A7-C013-E817-8279B8F6E86C}"/>
              </a:ext>
            </a:extLst>
          </p:cNvPr>
          <p:cNvSpPr txBox="1"/>
          <p:nvPr/>
        </p:nvSpPr>
        <p:spPr>
          <a:xfrm flipH="1">
            <a:off x="6456405" y="509808"/>
            <a:ext cx="2687595"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Préprocessing</a:t>
            </a:r>
            <a:r>
              <a:rPr lang="fr-FR" sz="1200" dirty="0">
                <a:solidFill>
                  <a:schemeClr val="dk1"/>
                </a:solidFill>
                <a:latin typeface="Quicksand Medium"/>
                <a:sym typeface="Quicksand Medium"/>
              </a:rPr>
              <a:t> des images</a:t>
            </a:r>
          </a:p>
        </p:txBody>
      </p:sp>
      <p:sp>
        <p:nvSpPr>
          <p:cNvPr id="8" name="ZoneTexte 7">
            <a:extLst>
              <a:ext uri="{FF2B5EF4-FFF2-40B4-BE49-F238E27FC236}">
                <a16:creationId xmlns:a16="http://schemas.microsoft.com/office/drawing/2014/main" id="{95881231-C345-B12F-2DA7-C1EBE727D9D8}"/>
              </a:ext>
            </a:extLst>
          </p:cNvPr>
          <p:cNvSpPr txBox="1"/>
          <p:nvPr/>
        </p:nvSpPr>
        <p:spPr>
          <a:xfrm>
            <a:off x="367549" y="2275108"/>
            <a:ext cx="7630418" cy="2541530"/>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txBody>
          <a:bodyPr wrap="square">
            <a:spAutoFit/>
          </a:bodyPr>
          <a:lstStyle/>
          <a:p>
            <a:pPr lvl="0">
              <a:lnSpc>
                <a:spcPct val="115000"/>
              </a:lnSpc>
              <a:spcAft>
                <a:spcPts val="800"/>
              </a:spcAft>
              <a:tabLst>
                <a:tab pos="457200" algn="l"/>
              </a:tabLst>
            </a:pPr>
            <a:r>
              <a:rPr lang="fr-FR" sz="1400" dirty="0"/>
              <a:t>Le </a:t>
            </a:r>
            <a:r>
              <a:rPr lang="fr-FR" sz="1400" b="1" dirty="0" err="1">
                <a:effectLst/>
                <a:latin typeface="Aptos" panose="020B0004020202020204" pitchFamily="34" charset="0"/>
                <a:ea typeface="Aptos" panose="020B0004020202020204" pitchFamily="34" charset="0"/>
                <a:cs typeface="Times New Roman" panose="02020603050405020304" pitchFamily="18" charset="0"/>
              </a:rPr>
              <a:t>PySpark</a:t>
            </a:r>
            <a:r>
              <a:rPr lang="fr-FR" sz="1400" b="1" dirty="0">
                <a:effectLst/>
                <a:latin typeface="Aptos" panose="020B0004020202020204" pitchFamily="34" charset="0"/>
                <a:ea typeface="Aptos" panose="020B0004020202020204" pitchFamily="34" charset="0"/>
                <a:cs typeface="Times New Roman" panose="02020603050405020304" pitchFamily="18" charset="0"/>
              </a:rPr>
              <a:t> PCA</a:t>
            </a:r>
            <a:r>
              <a:rPr lang="fr-FR" sz="1400" dirty="0"/>
              <a:t>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Réduction de la dimensionnalité</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457200" lvl="1">
              <a:lnSpc>
                <a:spcPct val="115000"/>
              </a:lnSpc>
              <a:spcAft>
                <a:spcPts val="800"/>
              </a:spcAft>
              <a:buSzPts val="1000"/>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Les vecteurs passent de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1280 dimensions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à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50 dimensions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grâce au PCA, réduisant ainsi le poids des données.</a:t>
            </a:r>
          </a:p>
          <a:p>
            <a:pPr lvl="0">
              <a:lnSpc>
                <a:spcPct val="115000"/>
              </a:lnSpc>
              <a:spcAft>
                <a:spcPts val="800"/>
              </a:spcAft>
              <a:tabLst>
                <a:tab pos="4572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Amélioration des performances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457200" lvl="1">
              <a:lnSpc>
                <a:spcPct val="115000"/>
              </a:lnSpc>
              <a:spcAft>
                <a:spcPts val="800"/>
              </a:spcAft>
              <a:buSzPts val="1000"/>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Le temps de traitement des vecteurs est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globalement moins long</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après l'application du PCA, comme le montre la colonne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Processing</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Time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With</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PCA".</a:t>
            </a:r>
          </a:p>
          <a:p>
            <a:pPr lvl="0">
              <a:lnSpc>
                <a:spcPct val="115000"/>
              </a:lnSpc>
              <a:spcAft>
                <a:spcPts val="800"/>
              </a:spcAft>
              <a:tabLst>
                <a:tab pos="4572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Gain global</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Le PCA ajoute un coût initial pour réduire la dimension, mais il accélère les tâches suivantes, rendant les systèmes plus efficaces pour des traitements répétitifs ou intensifs.</a:t>
            </a:r>
          </a:p>
        </p:txBody>
      </p:sp>
      <p:sp>
        <p:nvSpPr>
          <p:cNvPr id="2" name="Rectangle 1">
            <a:extLst>
              <a:ext uri="{FF2B5EF4-FFF2-40B4-BE49-F238E27FC236}">
                <a16:creationId xmlns:a16="http://schemas.microsoft.com/office/drawing/2014/main" id="{E29CF45E-AC27-803C-D195-39A34B2BD71D}"/>
              </a:ext>
            </a:extLst>
          </p:cNvPr>
          <p:cNvSpPr/>
          <p:nvPr/>
        </p:nvSpPr>
        <p:spPr>
          <a:xfrm>
            <a:off x="2519775" y="2652927"/>
            <a:ext cx="2420061" cy="256176"/>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Image 16" descr="Une image contenant texte, capture d’écran, reçu, Police&#10;&#10;Description générée automatiquement">
            <a:extLst>
              <a:ext uri="{FF2B5EF4-FFF2-40B4-BE49-F238E27FC236}">
                <a16:creationId xmlns:a16="http://schemas.microsoft.com/office/drawing/2014/main" id="{B0B4DE44-CFAA-5BD2-AA9E-2A2F0F7BD1C6}"/>
              </a:ext>
            </a:extLst>
          </p:cNvPr>
          <p:cNvPicPr>
            <a:picLocks noChangeAspect="1"/>
          </p:cNvPicPr>
          <p:nvPr/>
        </p:nvPicPr>
        <p:blipFill>
          <a:blip r:embed="rId3"/>
          <a:srcRect t="13433"/>
          <a:stretch/>
        </p:blipFill>
        <p:spPr>
          <a:xfrm>
            <a:off x="177058" y="669267"/>
            <a:ext cx="6413500" cy="1528161"/>
          </a:xfrm>
          <a:prstGeom prst="rect">
            <a:avLst/>
          </a:prstGeom>
        </p:spPr>
      </p:pic>
    </p:spTree>
    <p:extLst>
      <p:ext uri="{BB962C8B-B14F-4D97-AF65-F5344CB8AC3E}">
        <p14:creationId xmlns:p14="http://schemas.microsoft.com/office/powerpoint/2010/main" val="2439767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46E81-65AA-6767-3168-FBA3342B6955}"/>
            </a:ext>
          </a:extLst>
        </p:cNvPr>
        <p:cNvGrpSpPr/>
        <p:nvPr/>
      </p:nvGrpSpPr>
      <p:grpSpPr>
        <a:xfrm>
          <a:off x="0" y="0"/>
          <a:ext cx="0" cy="0"/>
          <a:chOff x="0" y="0"/>
          <a:chExt cx="0" cy="0"/>
        </a:xfrm>
      </p:grpSpPr>
      <p:sp>
        <p:nvSpPr>
          <p:cNvPr id="11" name="Google Shape;359;p42">
            <a:extLst>
              <a:ext uri="{FF2B5EF4-FFF2-40B4-BE49-F238E27FC236}">
                <a16:creationId xmlns:a16="http://schemas.microsoft.com/office/drawing/2014/main" id="{A847B913-6F6D-21F2-B42C-57E35E10BF90}"/>
              </a:ext>
            </a:extLst>
          </p:cNvPr>
          <p:cNvSpPr txBox="1">
            <a:spLocks/>
          </p:cNvSpPr>
          <p:nvPr/>
        </p:nvSpPr>
        <p:spPr>
          <a:xfrm>
            <a:off x="-325512" y="122902"/>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191919"/>
              </a:buClr>
              <a:buSzPts val="5200"/>
              <a:buFont typeface="Poppins Medium"/>
              <a:buNone/>
              <a:defRPr sz="6000" b="0" i="0" u="none" strike="noStrike" cap="none">
                <a:solidFill>
                  <a:schemeClr val="dk1"/>
                </a:solidFill>
                <a:latin typeface="Poppins Medium"/>
                <a:ea typeface="Poppins Medium"/>
                <a:cs typeface="Poppins Medium"/>
                <a:sym typeface="Poppins Medium"/>
              </a:defRPr>
            </a:lvl1pPr>
            <a:lvl2pPr marR="0" lvl="1" algn="ctr" rtl="0">
              <a:lnSpc>
                <a:spcPct val="100000"/>
              </a:lnSpc>
              <a:spcBef>
                <a:spcPts val="20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2pPr>
            <a:lvl3pPr marR="0" lvl="2"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3pPr>
            <a:lvl4pPr marR="0" lvl="3"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4pPr>
            <a:lvl5pPr marR="0" lvl="4"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5pPr>
            <a:lvl6pPr marR="0" lvl="5"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6pPr>
            <a:lvl7pPr marR="0" lvl="6"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7pPr>
            <a:lvl8pPr marR="0" lvl="7"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8pPr>
            <a:lvl9pPr marR="0" lvl="8" algn="ctr" rtl="0">
              <a:lnSpc>
                <a:spcPct val="100000"/>
              </a:lnSpc>
              <a:spcBef>
                <a:spcPts val="0"/>
              </a:spcBef>
              <a:spcAft>
                <a:spcPts val="0"/>
              </a:spcAft>
              <a:buClr>
                <a:srgbClr val="191919"/>
              </a:buClr>
              <a:buSzPts val="5200"/>
              <a:buFont typeface="Poppins Medium"/>
              <a:buNone/>
              <a:defRPr sz="5200" b="0" i="0" u="none" strike="noStrike" cap="none">
                <a:solidFill>
                  <a:srgbClr val="191919"/>
                </a:solidFill>
                <a:latin typeface="Poppins Medium"/>
                <a:ea typeface="Poppins Medium"/>
                <a:cs typeface="Poppins Medium"/>
                <a:sym typeface="Poppins Medium"/>
              </a:defRPr>
            </a:lvl9pPr>
          </a:lstStyle>
          <a:p>
            <a:r>
              <a:rPr lang="en-GB" sz="2400" dirty="0" err="1"/>
              <a:t>Réduction</a:t>
            </a:r>
            <a:r>
              <a:rPr lang="en-GB" sz="2400" dirty="0"/>
              <a:t> de dimension et </a:t>
            </a:r>
            <a:r>
              <a:rPr lang="en-GB" sz="2400" dirty="0" err="1"/>
              <a:t>parallélisation</a:t>
            </a:r>
            <a:endParaRPr lang="en-GB" sz="2400" dirty="0"/>
          </a:p>
        </p:txBody>
      </p:sp>
      <p:sp>
        <p:nvSpPr>
          <p:cNvPr id="10" name="Google Shape;409;p43">
            <a:extLst>
              <a:ext uri="{FF2B5EF4-FFF2-40B4-BE49-F238E27FC236}">
                <a16:creationId xmlns:a16="http://schemas.microsoft.com/office/drawing/2014/main" id="{035A1F49-9CE1-8F87-F739-33E59CE6131C}"/>
              </a:ext>
            </a:extLst>
          </p:cNvPr>
          <p:cNvSpPr txBox="1"/>
          <p:nvPr/>
        </p:nvSpPr>
        <p:spPr>
          <a:xfrm flipH="1">
            <a:off x="6849708" y="25614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4</a:t>
            </a:r>
            <a:endParaRPr sz="3500" dirty="0">
              <a:solidFill>
                <a:schemeClr val="dk2"/>
              </a:solidFill>
              <a:latin typeface="Quicksand SemiBold"/>
              <a:ea typeface="Quicksand SemiBold"/>
              <a:cs typeface="Quicksand SemiBold"/>
              <a:sym typeface="Quicksand SemiBold"/>
            </a:endParaRPr>
          </a:p>
        </p:txBody>
      </p:sp>
      <p:sp>
        <p:nvSpPr>
          <p:cNvPr id="7" name="Google Shape;410;p43">
            <a:extLst>
              <a:ext uri="{FF2B5EF4-FFF2-40B4-BE49-F238E27FC236}">
                <a16:creationId xmlns:a16="http://schemas.microsoft.com/office/drawing/2014/main" id="{04972A59-8EBD-5F13-5852-240FB0B32473}"/>
              </a:ext>
            </a:extLst>
          </p:cNvPr>
          <p:cNvSpPr txBox="1"/>
          <p:nvPr/>
        </p:nvSpPr>
        <p:spPr>
          <a:xfrm flipH="1">
            <a:off x="6412060" y="695602"/>
            <a:ext cx="2687595" cy="31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err="1">
                <a:solidFill>
                  <a:schemeClr val="dk1"/>
                </a:solidFill>
                <a:latin typeface="Quicksand Medium"/>
                <a:sym typeface="Quicksand Medium"/>
              </a:rPr>
              <a:t>Préprocessing</a:t>
            </a:r>
            <a:r>
              <a:rPr lang="fr-FR" sz="1200" dirty="0">
                <a:solidFill>
                  <a:schemeClr val="dk1"/>
                </a:solidFill>
                <a:latin typeface="Quicksand Medium"/>
                <a:sym typeface="Quicksand Medium"/>
              </a:rPr>
              <a:t> des images</a:t>
            </a:r>
          </a:p>
        </p:txBody>
      </p:sp>
      <p:pic>
        <p:nvPicPr>
          <p:cNvPr id="5" name="Image 4" descr="Une image contenant texte, capture d’écran, Police, nombre&#10;&#10;Description générée automatiquement">
            <a:extLst>
              <a:ext uri="{FF2B5EF4-FFF2-40B4-BE49-F238E27FC236}">
                <a16:creationId xmlns:a16="http://schemas.microsoft.com/office/drawing/2014/main" id="{C010ABA8-284B-785E-69FB-134A9084D91F}"/>
              </a:ext>
            </a:extLst>
          </p:cNvPr>
          <p:cNvPicPr>
            <a:picLocks noChangeAspect="1"/>
          </p:cNvPicPr>
          <p:nvPr/>
        </p:nvPicPr>
        <p:blipFill>
          <a:blip r:embed="rId3"/>
          <a:stretch>
            <a:fillRect/>
          </a:stretch>
        </p:blipFill>
        <p:spPr>
          <a:xfrm>
            <a:off x="393929" y="962090"/>
            <a:ext cx="7772400" cy="2047613"/>
          </a:xfrm>
          <a:prstGeom prst="rect">
            <a:avLst/>
          </a:prstGeom>
        </p:spPr>
      </p:pic>
      <p:sp>
        <p:nvSpPr>
          <p:cNvPr id="8" name="ZoneTexte 7">
            <a:extLst>
              <a:ext uri="{FF2B5EF4-FFF2-40B4-BE49-F238E27FC236}">
                <a16:creationId xmlns:a16="http://schemas.microsoft.com/office/drawing/2014/main" id="{ABB737F0-F0EC-EA8B-B504-2EB115EBE622}"/>
              </a:ext>
            </a:extLst>
          </p:cNvPr>
          <p:cNvSpPr txBox="1"/>
          <p:nvPr/>
        </p:nvSpPr>
        <p:spPr>
          <a:xfrm>
            <a:off x="0" y="2968414"/>
            <a:ext cx="8045434" cy="307777"/>
          </a:xfrm>
          <a:prstGeom prst="rect">
            <a:avLst/>
          </a:prstGeom>
          <a:noFill/>
        </p:spPr>
        <p:txBody>
          <a:bodyPr wrap="square">
            <a:spAutoFit/>
          </a:bodyPr>
          <a:lstStyle/>
          <a:p>
            <a:r>
              <a:rPr lang="fr-FR" dirty="0">
                <a:effectLst/>
                <a:latin typeface="Helvetica Neue" panose="02000503000000020004" pitchFamily="2" charset="0"/>
              </a:rPr>
              <a:t>Paralléliser des opérations de calcul avec </a:t>
            </a:r>
            <a:r>
              <a:rPr lang="fr-FR" dirty="0" err="1">
                <a:effectLst/>
                <a:latin typeface="Helvetica Neue" panose="02000503000000020004" pitchFamily="2" charset="0"/>
              </a:rPr>
              <a:t>Pyspark</a:t>
            </a:r>
            <a:r>
              <a:rPr lang="fr-FR" dirty="0">
                <a:latin typeface="Helvetica Neue" panose="02000503000000020004" pitchFamily="2" charset="0"/>
              </a:rPr>
              <a:t>, </a:t>
            </a:r>
            <a:r>
              <a:rPr lang="fr-FR" dirty="0">
                <a:solidFill>
                  <a:srgbClr val="271A38"/>
                </a:solidFill>
                <a:latin typeface="Inter"/>
              </a:rPr>
              <a:t>r</a:t>
            </a:r>
            <a:r>
              <a:rPr lang="fr-FR" b="0" i="0" dirty="0">
                <a:solidFill>
                  <a:srgbClr val="271A38"/>
                </a:solidFill>
                <a:effectLst/>
                <a:latin typeface="Inter"/>
              </a:rPr>
              <a:t>éduction </a:t>
            </a:r>
            <a:r>
              <a:rPr lang="fr-FR" b="0" i="0" dirty="0" err="1">
                <a:solidFill>
                  <a:srgbClr val="271A38"/>
                </a:solidFill>
                <a:effectLst/>
                <a:latin typeface="Inter"/>
              </a:rPr>
              <a:t>PCAspark</a:t>
            </a:r>
            <a:r>
              <a:rPr lang="fr-FR" b="0" i="0" dirty="0">
                <a:solidFill>
                  <a:srgbClr val="271A38"/>
                </a:solidFill>
                <a:effectLst/>
                <a:latin typeface="Inter"/>
              </a:rPr>
              <a:t> </a:t>
            </a:r>
            <a:r>
              <a:rPr lang="fr-FR" dirty="0">
                <a:solidFill>
                  <a:srgbClr val="271A38"/>
                </a:solidFill>
                <a:latin typeface="Inter"/>
              </a:rPr>
              <a:t>et écriture au format parquet</a:t>
            </a:r>
            <a:endParaRPr lang="fr-FR" b="0" i="0" dirty="0">
              <a:solidFill>
                <a:srgbClr val="271A38"/>
              </a:solidFill>
              <a:effectLst/>
              <a:latin typeface="Inter"/>
            </a:endParaRPr>
          </a:p>
        </p:txBody>
      </p:sp>
      <p:sp>
        <p:nvSpPr>
          <p:cNvPr id="12" name="ZoneTexte 11">
            <a:extLst>
              <a:ext uri="{FF2B5EF4-FFF2-40B4-BE49-F238E27FC236}">
                <a16:creationId xmlns:a16="http://schemas.microsoft.com/office/drawing/2014/main" id="{B3D592C0-1263-CE7A-4E7E-92743730046D}"/>
              </a:ext>
            </a:extLst>
          </p:cNvPr>
          <p:cNvSpPr txBox="1"/>
          <p:nvPr/>
        </p:nvSpPr>
        <p:spPr>
          <a:xfrm>
            <a:off x="71203" y="3288214"/>
            <a:ext cx="7903028" cy="1815882"/>
          </a:xfrm>
          <a:prstGeom prst="rect">
            <a:avLst/>
          </a:prstGeom>
          <a:noFill/>
        </p:spPr>
        <p:txBody>
          <a:bodyPr wrap="square">
            <a:spAutoFit/>
          </a:bodyPr>
          <a:lstStyle/>
          <a:p>
            <a:r>
              <a:rPr lang="fr-FR" b="1" dirty="0"/>
              <a:t>Broadcast du modèle :</a:t>
            </a:r>
          </a:p>
          <a:p>
            <a:pPr>
              <a:buFont typeface="Arial" panose="020B0604020202020204" pitchFamily="34" charset="0"/>
              <a:buChar char="•"/>
            </a:pPr>
            <a:r>
              <a:rPr lang="fr-FR" dirty="0"/>
              <a:t>Le </a:t>
            </a:r>
            <a:r>
              <a:rPr lang="fr-FR" b="1" dirty="0"/>
              <a:t>modèle MobileNetV2</a:t>
            </a:r>
            <a:r>
              <a:rPr lang="fr-FR" dirty="0"/>
              <a:t> est chargé une seule fois sur le driver et </a:t>
            </a:r>
            <a:r>
              <a:rPr lang="fr-FR" b="1" dirty="0"/>
              <a:t>broadcasté</a:t>
            </a:r>
            <a:r>
              <a:rPr lang="fr-FR" dirty="0"/>
              <a:t> aux </a:t>
            </a:r>
            <a:r>
              <a:rPr lang="fr-FR" dirty="0" err="1"/>
              <a:t>workers</a:t>
            </a:r>
            <a:r>
              <a:rPr lang="fr-FR" dirty="0"/>
              <a:t>.</a:t>
            </a:r>
          </a:p>
          <a:p>
            <a:pPr>
              <a:buFont typeface="Arial" panose="020B0604020202020204" pitchFamily="34" charset="0"/>
              <a:buChar char="•"/>
            </a:pPr>
            <a:r>
              <a:rPr lang="fr-FR" dirty="0"/>
              <a:t>Chaque </a:t>
            </a:r>
            <a:r>
              <a:rPr lang="fr-FR" dirty="0" err="1"/>
              <a:t>worker</a:t>
            </a:r>
            <a:r>
              <a:rPr lang="fr-FR" dirty="0"/>
              <a:t> utilise </a:t>
            </a:r>
            <a:r>
              <a:rPr lang="fr-FR" b="1" dirty="0"/>
              <a:t>localement</a:t>
            </a:r>
            <a:r>
              <a:rPr lang="fr-FR" dirty="0"/>
              <a:t> ce modèle pour extraire les </a:t>
            </a:r>
            <a:r>
              <a:rPr lang="fr-FR" dirty="0" err="1"/>
              <a:t>features</a:t>
            </a:r>
            <a:r>
              <a:rPr lang="fr-FR" dirty="0"/>
              <a:t> des images.</a:t>
            </a:r>
          </a:p>
          <a:p>
            <a:r>
              <a:rPr lang="fr-FR" b="1" dirty="0"/>
              <a:t>Avantages du broadcast :</a:t>
            </a:r>
          </a:p>
          <a:p>
            <a:pPr>
              <a:buFont typeface="+mj-lt"/>
              <a:buAutoNum type="arabicPeriod"/>
            </a:pPr>
            <a:r>
              <a:rPr lang="fr-FR" b="1" dirty="0"/>
              <a:t>Évite la duplication</a:t>
            </a:r>
            <a:r>
              <a:rPr lang="fr-FR" dirty="0"/>
              <a:t> : Le modèle n'est pas rechargé sur chaque </a:t>
            </a:r>
            <a:r>
              <a:rPr lang="fr-FR" dirty="0" err="1"/>
              <a:t>worker</a:t>
            </a:r>
            <a:r>
              <a:rPr lang="fr-FR" dirty="0"/>
              <a:t> individuellement, économisant du temps et de la mémoire.</a:t>
            </a:r>
          </a:p>
          <a:p>
            <a:pPr>
              <a:buFont typeface="+mj-lt"/>
              <a:buAutoNum type="arabicPeriod"/>
            </a:pPr>
            <a:r>
              <a:rPr lang="fr-FR" b="1" dirty="0"/>
              <a:t>Performances</a:t>
            </a:r>
            <a:r>
              <a:rPr lang="fr-FR" dirty="0"/>
              <a:t> : Les </a:t>
            </a:r>
            <a:r>
              <a:rPr lang="fr-FR" dirty="0" err="1"/>
              <a:t>workers</a:t>
            </a:r>
            <a:r>
              <a:rPr lang="fr-FR" dirty="0"/>
              <a:t> utilisent directement les poids </a:t>
            </a:r>
            <a:r>
              <a:rPr lang="fr-FR" b="1" dirty="0"/>
              <a:t>localement</a:t>
            </a:r>
            <a:r>
              <a:rPr lang="fr-FR" dirty="0"/>
              <a:t>, optimisant les opérations.</a:t>
            </a:r>
          </a:p>
        </p:txBody>
      </p:sp>
      <p:sp>
        <p:nvSpPr>
          <p:cNvPr id="3" name="ZoneTexte 2">
            <a:extLst>
              <a:ext uri="{FF2B5EF4-FFF2-40B4-BE49-F238E27FC236}">
                <a16:creationId xmlns:a16="http://schemas.microsoft.com/office/drawing/2014/main" id="{FFEEB0BF-E5DD-9314-F6EA-448934BD224D}"/>
              </a:ext>
            </a:extLst>
          </p:cNvPr>
          <p:cNvSpPr txBox="1"/>
          <p:nvPr/>
        </p:nvSpPr>
        <p:spPr>
          <a:xfrm>
            <a:off x="122337" y="567236"/>
            <a:ext cx="6279522" cy="523220"/>
          </a:xfrm>
          <a:prstGeom prst="rect">
            <a:avLst/>
          </a:prstGeom>
          <a:noFill/>
        </p:spPr>
        <p:txBody>
          <a:bodyPr wrap="square">
            <a:spAutoFit/>
          </a:bodyPr>
          <a:lstStyle/>
          <a:p>
            <a:r>
              <a:rPr lang="fr-FR" dirty="0"/>
              <a:t>On enregistre les résultats sur notre </a:t>
            </a:r>
            <a:r>
              <a:rPr lang="fr-FR" dirty="0" err="1"/>
              <a:t>bucket</a:t>
            </a:r>
            <a:r>
              <a:rPr lang="fr-FR" dirty="0"/>
              <a:t> S3 : fruits-p8-oc 						</a:t>
            </a:r>
            <a:endParaRPr lang="fr-FR" sz="3600" dirty="0"/>
          </a:p>
        </p:txBody>
      </p:sp>
      <p:sp>
        <p:nvSpPr>
          <p:cNvPr id="6" name="ZoneTexte 5">
            <a:extLst>
              <a:ext uri="{FF2B5EF4-FFF2-40B4-BE49-F238E27FC236}">
                <a16:creationId xmlns:a16="http://schemas.microsoft.com/office/drawing/2014/main" id="{8422C4C5-6F25-8AB2-6FB8-8C833B3CFB36}"/>
              </a:ext>
            </a:extLst>
          </p:cNvPr>
          <p:cNvSpPr txBox="1"/>
          <p:nvPr/>
        </p:nvSpPr>
        <p:spPr>
          <a:xfrm>
            <a:off x="8387046" y="1274287"/>
            <a:ext cx="964325" cy="2062103"/>
          </a:xfrm>
          <a:prstGeom prst="rect">
            <a:avLst/>
          </a:prstGeom>
          <a:noFill/>
        </p:spPr>
        <p:txBody>
          <a:bodyPr wrap="square">
            <a:spAutoFit/>
          </a:bodyPr>
          <a:lstStyle/>
          <a:p>
            <a:r>
              <a:rPr lang="fr-FR" sz="3200" dirty="0"/>
              <a:t>🍇🍎🍉🍋</a:t>
            </a:r>
          </a:p>
        </p:txBody>
      </p:sp>
    </p:spTree>
    <p:extLst>
      <p:ext uri="{BB962C8B-B14F-4D97-AF65-F5344CB8AC3E}">
        <p14:creationId xmlns:p14="http://schemas.microsoft.com/office/powerpoint/2010/main" val="3763433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411;p43">
            <a:extLst>
              <a:ext uri="{FF2B5EF4-FFF2-40B4-BE49-F238E27FC236}">
                <a16:creationId xmlns:a16="http://schemas.microsoft.com/office/drawing/2014/main" id="{060A85C7-807D-4583-D905-BF2E61244460}"/>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EF6C520E-4D1B-43F7-46A2-FB773F2300A6}"/>
              </a:ext>
            </a:extLst>
          </p:cNvPr>
          <p:cNvSpPr txBox="1"/>
          <p:nvPr/>
        </p:nvSpPr>
        <p:spPr>
          <a:xfrm flipH="1">
            <a:off x="-1" y="677954"/>
            <a:ext cx="2073349"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Environnement Big Data</a:t>
            </a:r>
            <a:endParaRPr lang="fr-FR" sz="1200" dirty="0">
              <a:solidFill>
                <a:schemeClr val="dk1"/>
              </a:solidFill>
              <a:latin typeface="Quicksand Medium"/>
              <a:ea typeface="Quicksand Medium"/>
              <a:cs typeface="Quicksand Medium"/>
              <a:sym typeface="Quicksand Medium"/>
            </a:endParaRPr>
          </a:p>
        </p:txBody>
      </p:sp>
      <p:sp>
        <p:nvSpPr>
          <p:cNvPr id="11" name="Google Shape;359;p42">
            <a:extLst>
              <a:ext uri="{FF2B5EF4-FFF2-40B4-BE49-F238E27FC236}">
                <a16:creationId xmlns:a16="http://schemas.microsoft.com/office/drawing/2014/main" id="{AC33C08A-68EE-4D90-FD05-9F2BD538222B}"/>
              </a:ext>
            </a:extLst>
          </p:cNvPr>
          <p:cNvSpPr txBox="1">
            <a:spLocks noGrp="1"/>
          </p:cNvSpPr>
          <p:nvPr>
            <p:ph type="title"/>
          </p:nvPr>
        </p:nvSpPr>
        <p:spPr>
          <a:xfrm>
            <a:off x="1127406" y="1434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Architecture Big Data : EMR, S3, IAM</a:t>
            </a:r>
            <a:br>
              <a:rPr lang="en-GB" sz="2400" dirty="0"/>
            </a:br>
            <a:endParaRPr lang="en-GB" sz="2400" dirty="0"/>
          </a:p>
        </p:txBody>
      </p:sp>
      <p:sp>
        <p:nvSpPr>
          <p:cNvPr id="20" name="ZoneTexte 19">
            <a:extLst>
              <a:ext uri="{FF2B5EF4-FFF2-40B4-BE49-F238E27FC236}">
                <a16:creationId xmlns:a16="http://schemas.microsoft.com/office/drawing/2014/main" id="{F0E0A053-D933-D51A-CF77-D017B3E314D3}"/>
              </a:ext>
            </a:extLst>
          </p:cNvPr>
          <p:cNvSpPr txBox="1"/>
          <p:nvPr/>
        </p:nvSpPr>
        <p:spPr>
          <a:xfrm>
            <a:off x="590108" y="2430422"/>
            <a:ext cx="4667692" cy="2462213"/>
          </a:xfrm>
          <a:prstGeom prst="rect">
            <a:avLst/>
          </a:prstGeom>
          <a:noFill/>
        </p:spPr>
        <p:txBody>
          <a:bodyPr wrap="square">
            <a:spAutoFit/>
          </a:bodyPr>
          <a:lstStyle/>
          <a:p>
            <a:r>
              <a:rPr lang="fr-FR" b="1" dirty="0">
                <a:highlight>
                  <a:srgbClr val="53CFA2"/>
                </a:highlight>
              </a:rPr>
              <a:t>S3</a:t>
            </a:r>
            <a:r>
              <a:rPr lang="fr-FR" dirty="0"/>
              <a:t> : Stocker et récupérer des fichiers</a:t>
            </a:r>
          </a:p>
          <a:p>
            <a:endParaRPr lang="fr-FR" b="1" dirty="0"/>
          </a:p>
          <a:p>
            <a:r>
              <a:rPr lang="fr-FR" b="1" dirty="0">
                <a:highlight>
                  <a:srgbClr val="53CFA2"/>
                </a:highlight>
              </a:rPr>
              <a:t>EC2</a:t>
            </a:r>
            <a:r>
              <a:rPr lang="fr-FR" dirty="0"/>
              <a:t> : Louer des serveurs pour exécuter des applications</a:t>
            </a:r>
          </a:p>
          <a:p>
            <a:endParaRPr lang="fr-FR" dirty="0"/>
          </a:p>
          <a:p>
            <a:r>
              <a:rPr lang="fr-FR" b="1" dirty="0">
                <a:highlight>
                  <a:srgbClr val="53CFA2"/>
                </a:highlight>
              </a:rPr>
              <a:t>EMR</a:t>
            </a:r>
            <a:r>
              <a:rPr lang="fr-FR" dirty="0"/>
              <a:t> : Configurer des clusters pour le traitement de données Big Data</a:t>
            </a:r>
          </a:p>
          <a:p>
            <a:endParaRPr lang="fr-FR" b="1" dirty="0"/>
          </a:p>
          <a:p>
            <a:r>
              <a:rPr lang="fr-FR" b="1" dirty="0">
                <a:highlight>
                  <a:srgbClr val="53CFA2"/>
                </a:highlight>
              </a:rPr>
              <a:t>Spark</a:t>
            </a:r>
            <a:r>
              <a:rPr lang="fr-FR" dirty="0"/>
              <a:t> : Traiter rapidement des données massives</a:t>
            </a:r>
          </a:p>
          <a:p>
            <a:endParaRPr lang="fr-FR" b="1" dirty="0"/>
          </a:p>
          <a:p>
            <a:r>
              <a:rPr lang="fr-FR" b="1" dirty="0">
                <a:highlight>
                  <a:srgbClr val="53CFA2"/>
                </a:highlight>
              </a:rPr>
              <a:t>IAM</a:t>
            </a:r>
            <a:r>
              <a:rPr lang="fr-FR" dirty="0"/>
              <a:t> : Gérer les accès aux ressources AWS</a:t>
            </a:r>
          </a:p>
          <a:p>
            <a:endParaRPr lang="fr-FR" dirty="0"/>
          </a:p>
        </p:txBody>
      </p:sp>
      <p:sp>
        <p:nvSpPr>
          <p:cNvPr id="22" name="ZoneTexte 21">
            <a:extLst>
              <a:ext uri="{FF2B5EF4-FFF2-40B4-BE49-F238E27FC236}">
                <a16:creationId xmlns:a16="http://schemas.microsoft.com/office/drawing/2014/main" id="{6A6FDD3B-46E1-EB12-607F-CE9384FB61AE}"/>
              </a:ext>
            </a:extLst>
          </p:cNvPr>
          <p:cNvSpPr txBox="1"/>
          <p:nvPr/>
        </p:nvSpPr>
        <p:spPr>
          <a:xfrm>
            <a:off x="1036673" y="1177265"/>
            <a:ext cx="7925256" cy="523220"/>
          </a:xfrm>
          <a:prstGeom prst="rect">
            <a:avLst/>
          </a:prstGeom>
          <a:noFill/>
        </p:spPr>
        <p:txBody>
          <a:bodyPr wrap="square">
            <a:spAutoFit/>
          </a:bodyPr>
          <a:lstStyle/>
          <a:p>
            <a:r>
              <a:rPr lang="fr-FR" dirty="0"/>
              <a:t>Mettre en place un environnement </a:t>
            </a:r>
            <a:r>
              <a:rPr lang="fr-FR" b="1" dirty="0"/>
              <a:t>Big Data</a:t>
            </a:r>
            <a:r>
              <a:rPr lang="fr-FR" dirty="0"/>
              <a:t> et paralléliser les calculs repose sur l'idée de traiter de grandes quantités de données rapidement en utilisant plusieurs machines et outils spécialisés</a:t>
            </a:r>
          </a:p>
        </p:txBody>
      </p:sp>
      <p:sp>
        <p:nvSpPr>
          <p:cNvPr id="24" name="ZoneTexte 23">
            <a:extLst>
              <a:ext uri="{FF2B5EF4-FFF2-40B4-BE49-F238E27FC236}">
                <a16:creationId xmlns:a16="http://schemas.microsoft.com/office/drawing/2014/main" id="{C092C1C5-520D-7B73-6895-494E9C891D1B}"/>
              </a:ext>
            </a:extLst>
          </p:cNvPr>
          <p:cNvSpPr txBox="1"/>
          <p:nvPr/>
        </p:nvSpPr>
        <p:spPr>
          <a:xfrm>
            <a:off x="552894" y="1982117"/>
            <a:ext cx="4704906" cy="307777"/>
          </a:xfrm>
          <a:prstGeom prst="rect">
            <a:avLst/>
          </a:prstGeom>
          <a:noFill/>
        </p:spPr>
        <p:txBody>
          <a:bodyPr wrap="square">
            <a:spAutoFit/>
          </a:bodyPr>
          <a:lstStyle/>
          <a:p>
            <a:r>
              <a:rPr lang="fr-FR" b="1" dirty="0">
                <a:highlight>
                  <a:srgbClr val="53CFA2"/>
                </a:highlight>
              </a:rPr>
              <a:t>Notions abordées :</a:t>
            </a:r>
          </a:p>
        </p:txBody>
      </p:sp>
    </p:spTree>
    <p:extLst>
      <p:ext uri="{BB962C8B-B14F-4D97-AF65-F5344CB8AC3E}">
        <p14:creationId xmlns:p14="http://schemas.microsoft.com/office/powerpoint/2010/main" val="1987805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B901344B-F20F-D714-82DD-D82EAA234678}"/>
              </a:ext>
            </a:extLst>
          </p:cNvPr>
          <p:cNvSpPr txBox="1"/>
          <p:nvPr/>
        </p:nvSpPr>
        <p:spPr>
          <a:xfrm>
            <a:off x="515006" y="1150656"/>
            <a:ext cx="7280190" cy="1323439"/>
          </a:xfrm>
          <a:prstGeom prst="rect">
            <a:avLst/>
          </a:prstGeom>
          <a:noFill/>
        </p:spPr>
        <p:txBody>
          <a:bodyPr wrap="square">
            <a:spAutoFit/>
          </a:bodyPr>
          <a:lstStyle/>
          <a:p>
            <a:r>
              <a:rPr lang="fr-FR" sz="1000" b="1" dirty="0"/>
              <a:t>Extraction des caractéristiques</a:t>
            </a:r>
            <a:r>
              <a:rPr lang="fr-FR" sz="1000" dirty="0"/>
              <a:t> d’images à l’aide de MobileNetV2</a:t>
            </a:r>
          </a:p>
          <a:p>
            <a:endParaRPr lang="fr-FR" sz="1000" dirty="0"/>
          </a:p>
          <a:p>
            <a:endParaRPr lang="fr-FR" sz="1000" dirty="0"/>
          </a:p>
          <a:p>
            <a:r>
              <a:rPr lang="fr-FR" sz="1000" b="1" dirty="0"/>
              <a:t>Réduction de dimensionnalité</a:t>
            </a:r>
            <a:r>
              <a:rPr lang="fr-FR" sz="1000" dirty="0"/>
              <a:t> avec PCA</a:t>
            </a:r>
          </a:p>
          <a:p>
            <a:endParaRPr lang="fr-FR" sz="1000" dirty="0"/>
          </a:p>
          <a:p>
            <a:r>
              <a:rPr lang="fr-FR" sz="1000" dirty="0"/>
              <a:t>Comparaison des </a:t>
            </a:r>
            <a:r>
              <a:rPr lang="fr-FR" sz="1000" b="1" dirty="0"/>
              <a:t>temps de traitement</a:t>
            </a:r>
            <a:r>
              <a:rPr lang="fr-FR" sz="1000" dirty="0"/>
              <a:t> avec et sans PCA</a:t>
            </a:r>
          </a:p>
          <a:p>
            <a:endParaRPr lang="fr-FR" sz="1000" dirty="0"/>
          </a:p>
          <a:p>
            <a:r>
              <a:rPr lang="fr-FR" sz="1000" dirty="0"/>
              <a:t>Simulation avec </a:t>
            </a:r>
            <a:r>
              <a:rPr lang="fr-FR" sz="1000" b="1" dirty="0"/>
              <a:t>2 nœuds</a:t>
            </a:r>
            <a:r>
              <a:rPr lang="fr-FR" sz="1000" dirty="0"/>
              <a:t> et </a:t>
            </a:r>
            <a:r>
              <a:rPr lang="fr-FR" sz="1000" b="1" dirty="0"/>
              <a:t>4 nœuds</a:t>
            </a:r>
            <a:r>
              <a:rPr lang="fr-FR" sz="1000" dirty="0"/>
              <a:t> pour observer l'impact du parallélisme.</a:t>
            </a:r>
          </a:p>
        </p:txBody>
      </p:sp>
      <p:sp>
        <p:nvSpPr>
          <p:cNvPr id="4" name="Google Shape;359;p42">
            <a:extLst>
              <a:ext uri="{FF2B5EF4-FFF2-40B4-BE49-F238E27FC236}">
                <a16:creationId xmlns:a16="http://schemas.microsoft.com/office/drawing/2014/main" id="{68E90769-0B01-EC76-CF75-8CF3D6D58BD8}"/>
              </a:ext>
            </a:extLst>
          </p:cNvPr>
          <p:cNvSpPr txBox="1">
            <a:spLocks noGrp="1"/>
          </p:cNvSpPr>
          <p:nvPr>
            <p:ph type="title"/>
          </p:nvPr>
        </p:nvSpPr>
        <p:spPr>
          <a:xfrm>
            <a:off x="1029434" y="24271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a:t>Test </a:t>
            </a:r>
            <a:r>
              <a:rPr lang="en-GB" sz="2400" dirty="0" err="1"/>
              <a:t>en</a:t>
            </a:r>
            <a:r>
              <a:rPr lang="en-GB" sz="2400" dirty="0"/>
              <a:t> local </a:t>
            </a:r>
            <a:r>
              <a:rPr lang="en-GB" sz="2400" dirty="0" err="1"/>
              <a:t>avant</a:t>
            </a:r>
            <a:r>
              <a:rPr lang="en-GB" sz="2400" dirty="0"/>
              <a:t> </a:t>
            </a:r>
            <a:r>
              <a:rPr lang="en-GB" sz="2400" dirty="0" err="1"/>
              <a:t>déploiement</a:t>
            </a:r>
            <a:r>
              <a:rPr lang="en-GB" sz="2400" dirty="0"/>
              <a:t> Cloud</a:t>
            </a:r>
          </a:p>
        </p:txBody>
      </p:sp>
      <p:pic>
        <p:nvPicPr>
          <p:cNvPr id="2" name="Image 1">
            <a:extLst>
              <a:ext uri="{FF2B5EF4-FFF2-40B4-BE49-F238E27FC236}">
                <a16:creationId xmlns:a16="http://schemas.microsoft.com/office/drawing/2014/main" id="{5443615E-EABB-6FC6-AF60-0CCDF7F4676D}"/>
              </a:ext>
            </a:extLst>
          </p:cNvPr>
          <p:cNvPicPr>
            <a:picLocks noChangeAspect="1"/>
          </p:cNvPicPr>
          <p:nvPr/>
        </p:nvPicPr>
        <p:blipFill>
          <a:blip r:embed="rId3"/>
          <a:stretch>
            <a:fillRect/>
          </a:stretch>
        </p:blipFill>
        <p:spPr>
          <a:xfrm>
            <a:off x="238891" y="2571749"/>
            <a:ext cx="3937178" cy="2329035"/>
          </a:xfrm>
          <a:prstGeom prst="rect">
            <a:avLst/>
          </a:prstGeom>
        </p:spPr>
      </p:pic>
      <p:pic>
        <p:nvPicPr>
          <p:cNvPr id="6" name="Image 5" descr="Une image contenant texte, capture d’écran, Tracé, diagramme&#10;&#10;Description générée automatiquement">
            <a:extLst>
              <a:ext uri="{FF2B5EF4-FFF2-40B4-BE49-F238E27FC236}">
                <a16:creationId xmlns:a16="http://schemas.microsoft.com/office/drawing/2014/main" id="{4FD9DD3E-488E-F7B6-BD28-93610C22D3BD}"/>
              </a:ext>
            </a:extLst>
          </p:cNvPr>
          <p:cNvPicPr>
            <a:picLocks noChangeAspect="1"/>
          </p:cNvPicPr>
          <p:nvPr/>
        </p:nvPicPr>
        <p:blipFill>
          <a:blip r:embed="rId4"/>
          <a:stretch>
            <a:fillRect/>
          </a:stretch>
        </p:blipFill>
        <p:spPr>
          <a:xfrm>
            <a:off x="4233041" y="2571750"/>
            <a:ext cx="4143703" cy="2526648"/>
          </a:xfrm>
          <a:prstGeom prst="rect">
            <a:avLst/>
          </a:prstGeom>
        </p:spPr>
      </p:pic>
      <p:pic>
        <p:nvPicPr>
          <p:cNvPr id="8" name="Image 7" descr="Une image contenant texte, Police, capture d’écran, blanc&#10;&#10;Description générée automatiquement">
            <a:extLst>
              <a:ext uri="{FF2B5EF4-FFF2-40B4-BE49-F238E27FC236}">
                <a16:creationId xmlns:a16="http://schemas.microsoft.com/office/drawing/2014/main" id="{7D49882E-2260-9B30-72B6-88D551AB7ADC}"/>
              </a:ext>
            </a:extLst>
          </p:cNvPr>
          <p:cNvPicPr>
            <a:picLocks noChangeAspect="1"/>
          </p:cNvPicPr>
          <p:nvPr/>
        </p:nvPicPr>
        <p:blipFill>
          <a:blip r:embed="rId5"/>
          <a:stretch>
            <a:fillRect/>
          </a:stretch>
        </p:blipFill>
        <p:spPr>
          <a:xfrm>
            <a:off x="6524290" y="736935"/>
            <a:ext cx="2541812" cy="1842814"/>
          </a:xfrm>
          <a:prstGeom prst="rect">
            <a:avLst/>
          </a:prstGeom>
        </p:spPr>
      </p:pic>
    </p:spTree>
    <p:extLst>
      <p:ext uri="{BB962C8B-B14F-4D97-AF65-F5344CB8AC3E}">
        <p14:creationId xmlns:p14="http://schemas.microsoft.com/office/powerpoint/2010/main" val="1744266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FDF7C-9F98-1731-7735-DC035F8205A8}"/>
            </a:ext>
          </a:extLst>
        </p:cNvPr>
        <p:cNvGrpSpPr/>
        <p:nvPr/>
      </p:nvGrpSpPr>
      <p:grpSpPr>
        <a:xfrm>
          <a:off x="0" y="0"/>
          <a:ext cx="0" cy="0"/>
          <a:chOff x="0" y="0"/>
          <a:chExt cx="0" cy="0"/>
        </a:xfrm>
      </p:grpSpPr>
      <p:sp>
        <p:nvSpPr>
          <p:cNvPr id="7" name="Google Shape;411;p43">
            <a:extLst>
              <a:ext uri="{FF2B5EF4-FFF2-40B4-BE49-F238E27FC236}">
                <a16:creationId xmlns:a16="http://schemas.microsoft.com/office/drawing/2014/main" id="{040817D7-FB1D-DE5D-4B31-2C31E8F23324}"/>
              </a:ext>
            </a:extLst>
          </p:cNvPr>
          <p:cNvSpPr txBox="1"/>
          <p:nvPr/>
        </p:nvSpPr>
        <p:spPr>
          <a:xfrm flipH="1">
            <a:off x="0" y="28452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5</a:t>
            </a:r>
            <a:endParaRPr sz="3500" dirty="0">
              <a:solidFill>
                <a:schemeClr val="dk2"/>
              </a:solidFill>
              <a:latin typeface="Quicksand SemiBold"/>
              <a:ea typeface="Quicksand SemiBold"/>
              <a:cs typeface="Quicksand SemiBold"/>
              <a:sym typeface="Quicksand SemiBold"/>
            </a:endParaRPr>
          </a:p>
        </p:txBody>
      </p:sp>
      <p:sp>
        <p:nvSpPr>
          <p:cNvPr id="9" name="Google Shape;412;p43">
            <a:extLst>
              <a:ext uri="{FF2B5EF4-FFF2-40B4-BE49-F238E27FC236}">
                <a16:creationId xmlns:a16="http://schemas.microsoft.com/office/drawing/2014/main" id="{672AC350-2C43-CEA8-1742-1E471D714EFE}"/>
              </a:ext>
            </a:extLst>
          </p:cNvPr>
          <p:cNvSpPr txBox="1"/>
          <p:nvPr/>
        </p:nvSpPr>
        <p:spPr>
          <a:xfrm flipH="1">
            <a:off x="-1" y="677954"/>
            <a:ext cx="2073349" cy="319800"/>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Environnement Big Data</a:t>
            </a:r>
            <a:endParaRPr lang="fr-FR" sz="1200" dirty="0">
              <a:solidFill>
                <a:schemeClr val="dk1"/>
              </a:solidFill>
              <a:latin typeface="Quicksand Medium"/>
              <a:ea typeface="Quicksand Medium"/>
              <a:cs typeface="Quicksand Medium"/>
              <a:sym typeface="Quicksand Medium"/>
            </a:endParaRPr>
          </a:p>
        </p:txBody>
      </p:sp>
      <p:sp>
        <p:nvSpPr>
          <p:cNvPr id="11" name="Google Shape;359;p42">
            <a:extLst>
              <a:ext uri="{FF2B5EF4-FFF2-40B4-BE49-F238E27FC236}">
                <a16:creationId xmlns:a16="http://schemas.microsoft.com/office/drawing/2014/main" id="{60D65862-9436-611E-CC6A-8D85FA4EDF20}"/>
              </a:ext>
            </a:extLst>
          </p:cNvPr>
          <p:cNvSpPr txBox="1">
            <a:spLocks noGrp="1"/>
          </p:cNvSpPr>
          <p:nvPr>
            <p:ph type="title"/>
          </p:nvPr>
        </p:nvSpPr>
        <p:spPr>
          <a:xfrm>
            <a:off x="1127406" y="14342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400" dirty="0" err="1"/>
              <a:t>Déploiement</a:t>
            </a:r>
            <a:r>
              <a:rPr lang="en-GB" sz="2400" dirty="0"/>
              <a:t> sur le Cloud</a:t>
            </a:r>
            <a:br>
              <a:rPr lang="en-GB" sz="2400" dirty="0"/>
            </a:br>
            <a:endParaRPr lang="en-GB" sz="2400" dirty="0"/>
          </a:p>
        </p:txBody>
      </p:sp>
      <p:sp>
        <p:nvSpPr>
          <p:cNvPr id="18" name="ZoneTexte 17">
            <a:extLst>
              <a:ext uri="{FF2B5EF4-FFF2-40B4-BE49-F238E27FC236}">
                <a16:creationId xmlns:a16="http://schemas.microsoft.com/office/drawing/2014/main" id="{A6B6487C-9607-5CCE-6713-423CCB9121A3}"/>
              </a:ext>
            </a:extLst>
          </p:cNvPr>
          <p:cNvSpPr txBox="1"/>
          <p:nvPr/>
        </p:nvSpPr>
        <p:spPr>
          <a:xfrm>
            <a:off x="0" y="4097205"/>
            <a:ext cx="5192486" cy="954107"/>
          </a:xfrm>
          <a:prstGeom prst="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5400000" scaled="1"/>
            <a:tileRect/>
          </a:gradFill>
        </p:spPr>
        <p:txBody>
          <a:bodyPr wrap="square">
            <a:spAutoFit/>
          </a:bodyPr>
          <a:lstStyle/>
          <a:p>
            <a:r>
              <a:rPr lang="fr-FR" dirty="0"/>
              <a:t>Sécurité et conformité RGPD : </a:t>
            </a:r>
          </a:p>
          <a:p>
            <a:r>
              <a:rPr lang="fr-FR" dirty="0"/>
              <a:t>On choisit systématiquement la région eu-west-1 et on fait bien attention de ne pas choisir de zone aux US par exemple, gestion des accès IAM (Identity and Access Management)</a:t>
            </a:r>
          </a:p>
        </p:txBody>
      </p:sp>
      <p:pic>
        <p:nvPicPr>
          <p:cNvPr id="13" name="Image 12" descr="Une image contenant texte, capture d’écran, diagramme, Police&#10;&#10;Description générée automatiquement">
            <a:extLst>
              <a:ext uri="{FF2B5EF4-FFF2-40B4-BE49-F238E27FC236}">
                <a16:creationId xmlns:a16="http://schemas.microsoft.com/office/drawing/2014/main" id="{A23F3A2B-BF6D-85D7-A52B-3328D17F1872}"/>
              </a:ext>
            </a:extLst>
          </p:cNvPr>
          <p:cNvPicPr>
            <a:picLocks noChangeAspect="1"/>
          </p:cNvPicPr>
          <p:nvPr/>
        </p:nvPicPr>
        <p:blipFill>
          <a:blip r:embed="rId3"/>
          <a:stretch>
            <a:fillRect/>
          </a:stretch>
        </p:blipFill>
        <p:spPr>
          <a:xfrm>
            <a:off x="848516" y="1532286"/>
            <a:ext cx="3495454" cy="2437239"/>
          </a:xfrm>
          <a:prstGeom prst="rect">
            <a:avLst/>
          </a:prstGeom>
        </p:spPr>
      </p:pic>
      <p:sp>
        <p:nvSpPr>
          <p:cNvPr id="22" name="ZoneTexte 21">
            <a:extLst>
              <a:ext uri="{FF2B5EF4-FFF2-40B4-BE49-F238E27FC236}">
                <a16:creationId xmlns:a16="http://schemas.microsoft.com/office/drawing/2014/main" id="{1F7977DA-7159-1C0E-43E5-8ADADF7AFD4F}"/>
              </a:ext>
            </a:extLst>
          </p:cNvPr>
          <p:cNvSpPr txBox="1"/>
          <p:nvPr/>
        </p:nvSpPr>
        <p:spPr>
          <a:xfrm>
            <a:off x="1127406" y="890360"/>
            <a:ext cx="7925256" cy="523220"/>
          </a:xfrm>
          <a:prstGeom prst="rect">
            <a:avLst/>
          </a:prstGeom>
          <a:noFill/>
        </p:spPr>
        <p:txBody>
          <a:bodyPr wrap="square">
            <a:spAutoFit/>
          </a:bodyPr>
          <a:lstStyle/>
          <a:p>
            <a:r>
              <a:rPr lang="fr-FR" dirty="0"/>
              <a:t>Mettre en place un environnement </a:t>
            </a:r>
            <a:r>
              <a:rPr lang="fr-FR" b="1" dirty="0"/>
              <a:t>Big Data</a:t>
            </a:r>
            <a:r>
              <a:rPr lang="fr-FR" dirty="0"/>
              <a:t> et paralléliser les calculs repose sur l'idée de traiter de grandes quantités de données rapidement en utilisant plusieurs machines et outils spécialisés</a:t>
            </a:r>
          </a:p>
        </p:txBody>
      </p:sp>
      <p:sp>
        <p:nvSpPr>
          <p:cNvPr id="3" name="ZoneTexte 2">
            <a:extLst>
              <a:ext uri="{FF2B5EF4-FFF2-40B4-BE49-F238E27FC236}">
                <a16:creationId xmlns:a16="http://schemas.microsoft.com/office/drawing/2014/main" id="{034A6BC7-9553-96E5-5172-1CA01B60F4EC}"/>
              </a:ext>
            </a:extLst>
          </p:cNvPr>
          <p:cNvSpPr txBox="1"/>
          <p:nvPr/>
        </p:nvSpPr>
        <p:spPr>
          <a:xfrm>
            <a:off x="5192486" y="2812138"/>
            <a:ext cx="4580164" cy="954107"/>
          </a:xfrm>
          <a:prstGeom prst="rect">
            <a:avLst/>
          </a:prstGeom>
          <a:noFill/>
        </p:spPr>
        <p:txBody>
          <a:bodyPr wrap="square">
            <a:spAutoFit/>
          </a:bodyPr>
          <a:lstStyle/>
          <a:p>
            <a:r>
              <a:rPr lang="fr-FR" b="1" dirty="0">
                <a:highlight>
                  <a:srgbClr val="53CFA2"/>
                </a:highlight>
              </a:rPr>
              <a:t>Outils Cloud respectant RGPD :</a:t>
            </a:r>
          </a:p>
          <a:p>
            <a:r>
              <a:rPr lang="fr-FR" b="1" dirty="0"/>
              <a:t>AWS</a:t>
            </a:r>
            <a:r>
              <a:rPr lang="fr-FR" dirty="0"/>
              <a:t> :</a:t>
            </a:r>
          </a:p>
          <a:p>
            <a:pPr marL="457200" lvl="1"/>
            <a:r>
              <a:rPr lang="fr-FR" b="1" dirty="0"/>
              <a:t>S3</a:t>
            </a:r>
            <a:r>
              <a:rPr lang="fr-FR" dirty="0"/>
              <a:t> avec chiffrement par défaut (AES-256).</a:t>
            </a:r>
          </a:p>
          <a:p>
            <a:pPr marL="457200" lvl="1"/>
            <a:r>
              <a:rPr lang="fr-FR" b="1" dirty="0"/>
              <a:t>IAM</a:t>
            </a:r>
            <a:r>
              <a:rPr lang="fr-FR" dirty="0"/>
              <a:t> pour gérer les accès.</a:t>
            </a:r>
          </a:p>
        </p:txBody>
      </p:sp>
    </p:spTree>
    <p:extLst>
      <p:ext uri="{BB962C8B-B14F-4D97-AF65-F5344CB8AC3E}">
        <p14:creationId xmlns:p14="http://schemas.microsoft.com/office/powerpoint/2010/main" val="984774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B251C8A-604F-0E4D-56C1-11887316F461}"/>
              </a:ext>
            </a:extLst>
          </p:cNvPr>
          <p:cNvPicPr>
            <a:picLocks noChangeAspect="1"/>
          </p:cNvPicPr>
          <p:nvPr/>
        </p:nvPicPr>
        <p:blipFill>
          <a:blip r:embed="rId3"/>
          <a:stretch>
            <a:fillRect/>
          </a:stretch>
        </p:blipFill>
        <p:spPr>
          <a:xfrm>
            <a:off x="-180871" y="319676"/>
            <a:ext cx="4910774" cy="4558380"/>
          </a:xfrm>
          <a:prstGeom prst="rect">
            <a:avLst/>
          </a:prstGeom>
        </p:spPr>
      </p:pic>
      <p:sp>
        <p:nvSpPr>
          <p:cNvPr id="8" name="Rectangle 7">
            <a:extLst>
              <a:ext uri="{FF2B5EF4-FFF2-40B4-BE49-F238E27FC236}">
                <a16:creationId xmlns:a16="http://schemas.microsoft.com/office/drawing/2014/main" id="{0E5DA05D-41FD-F72F-B49C-3528B062BE00}"/>
              </a:ext>
            </a:extLst>
          </p:cNvPr>
          <p:cNvSpPr/>
          <p:nvPr/>
        </p:nvSpPr>
        <p:spPr>
          <a:xfrm>
            <a:off x="210233" y="4035769"/>
            <a:ext cx="1807733" cy="398007"/>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C2831E2-AF9D-F6B6-73F1-DBD7C438FD99}"/>
              </a:ext>
            </a:extLst>
          </p:cNvPr>
          <p:cNvSpPr/>
          <p:nvPr/>
        </p:nvSpPr>
        <p:spPr>
          <a:xfrm>
            <a:off x="86482" y="2011402"/>
            <a:ext cx="1807733" cy="551395"/>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ZoneTexte 16">
            <a:extLst>
              <a:ext uri="{FF2B5EF4-FFF2-40B4-BE49-F238E27FC236}">
                <a16:creationId xmlns:a16="http://schemas.microsoft.com/office/drawing/2014/main" id="{82B3C105-E0C0-4417-33BB-C388F40019B2}"/>
              </a:ext>
            </a:extLst>
          </p:cNvPr>
          <p:cNvSpPr txBox="1"/>
          <p:nvPr/>
        </p:nvSpPr>
        <p:spPr>
          <a:xfrm>
            <a:off x="4729903" y="410964"/>
            <a:ext cx="3988795" cy="2893100"/>
          </a:xfrm>
          <a:prstGeom prst="rect">
            <a:avLst/>
          </a:prstGeom>
          <a:noFill/>
        </p:spPr>
        <p:txBody>
          <a:bodyPr wrap="square">
            <a:spAutoFit/>
          </a:bodyPr>
          <a:lstStyle/>
          <a:p>
            <a:pPr algn="l"/>
            <a:r>
              <a:rPr lang="fr-FR" dirty="0"/>
              <a:t>processus de création de l’environnement Big Data, S3 et EMR </a:t>
            </a:r>
          </a:p>
          <a:p>
            <a:pPr algn="l">
              <a:buFont typeface="Arial" panose="020B0604020202020204" pitchFamily="34" charset="0"/>
              <a:buChar char="•"/>
            </a:pPr>
            <a:endParaRPr lang="fr-FR" dirty="0">
              <a:solidFill>
                <a:srgbClr val="271A38"/>
              </a:solidFill>
              <a:latin typeface="Inter"/>
            </a:endParaRPr>
          </a:p>
          <a:p>
            <a:pPr algn="l">
              <a:buFont typeface="Arial" panose="020B0604020202020204" pitchFamily="34" charset="0"/>
              <a:buChar char="•"/>
            </a:pPr>
            <a:endParaRPr lang="fr-FR" dirty="0">
              <a:solidFill>
                <a:srgbClr val="271A38"/>
              </a:solidFill>
              <a:latin typeface="Inter"/>
            </a:endParaRPr>
          </a:p>
          <a:p>
            <a:pPr marL="285750" indent="-285750" algn="l">
              <a:buFont typeface="Arial" panose="020B0604020202020204" pitchFamily="34" charset="0"/>
              <a:buChar char="•"/>
            </a:pPr>
            <a:r>
              <a:rPr lang="fr-FR" b="1" dirty="0"/>
              <a:t>Espace de stockage :</a:t>
            </a:r>
          </a:p>
          <a:p>
            <a:pPr algn="l"/>
            <a:r>
              <a:rPr lang="fr-FR" dirty="0" err="1"/>
              <a:t>Datalake</a:t>
            </a:r>
            <a:r>
              <a:rPr lang="fr-FR" dirty="0"/>
              <a:t> : </a:t>
            </a:r>
            <a:r>
              <a:rPr lang="fr-FR" b="1" dirty="0">
                <a:highlight>
                  <a:srgbClr val="53CFA2"/>
                </a:highlight>
              </a:rPr>
              <a:t>Amazon S3</a:t>
            </a:r>
          </a:p>
          <a:p>
            <a:pPr algn="l"/>
            <a:endParaRPr lang="fr-FR" b="1" dirty="0">
              <a:highlight>
                <a:srgbClr val="53CFA2"/>
              </a:highlight>
            </a:endParaRPr>
          </a:p>
          <a:p>
            <a:pPr marL="285750" indent="-285750">
              <a:buFont typeface="Arial" panose="020B0604020202020204" pitchFamily="34" charset="0"/>
              <a:buChar char="•"/>
            </a:pPr>
            <a:r>
              <a:rPr lang="fr-FR" b="1" dirty="0"/>
              <a:t>Traitement des données</a:t>
            </a:r>
            <a:r>
              <a:rPr lang="fr-FR" dirty="0"/>
              <a:t> :</a:t>
            </a:r>
          </a:p>
          <a:p>
            <a:endParaRPr lang="fr-FR" dirty="0"/>
          </a:p>
          <a:p>
            <a:r>
              <a:rPr lang="fr-FR" dirty="0"/>
              <a:t>Batch : </a:t>
            </a:r>
            <a:r>
              <a:rPr lang="fr-FR" b="1" dirty="0">
                <a:highlight>
                  <a:srgbClr val="53CFA2"/>
                </a:highlight>
              </a:rPr>
              <a:t>Hadoop MapReduce, Apache Spark</a:t>
            </a:r>
          </a:p>
          <a:p>
            <a:r>
              <a:rPr lang="fr-FR" dirty="0"/>
              <a:t>Outils cloud : </a:t>
            </a:r>
            <a:r>
              <a:rPr lang="fr-FR" b="1" dirty="0">
                <a:highlight>
                  <a:srgbClr val="53CFA2"/>
                </a:highlight>
              </a:rPr>
              <a:t>AWS EMR, </a:t>
            </a:r>
            <a:r>
              <a:rPr lang="fr-FR" b="1" dirty="0" err="1">
                <a:highlight>
                  <a:srgbClr val="53CFA2"/>
                </a:highlight>
              </a:rPr>
              <a:t>JupyterHub</a:t>
            </a:r>
            <a:endParaRPr lang="fr-FR" dirty="0">
              <a:solidFill>
                <a:srgbClr val="271A38"/>
              </a:solidFill>
              <a:latin typeface="Inter"/>
            </a:endParaRPr>
          </a:p>
          <a:p>
            <a:pPr algn="l"/>
            <a:endParaRPr lang="fr-FR" b="1" dirty="0">
              <a:highlight>
                <a:srgbClr val="53CFA2"/>
              </a:highlight>
            </a:endParaRPr>
          </a:p>
          <a:p>
            <a:pPr algn="l">
              <a:buFont typeface="Arial" panose="020B0604020202020204" pitchFamily="34" charset="0"/>
              <a:buChar char="•"/>
            </a:pPr>
            <a:endParaRPr lang="fr-FR" dirty="0">
              <a:solidFill>
                <a:srgbClr val="271A38"/>
              </a:solidFill>
              <a:latin typeface="Inter"/>
            </a:endParaRPr>
          </a:p>
        </p:txBody>
      </p:sp>
      <p:sp>
        <p:nvSpPr>
          <p:cNvPr id="19" name="ZoneTexte 18">
            <a:extLst>
              <a:ext uri="{FF2B5EF4-FFF2-40B4-BE49-F238E27FC236}">
                <a16:creationId xmlns:a16="http://schemas.microsoft.com/office/drawing/2014/main" id="{C6E57214-4570-F72D-EDEE-FB6C489A8B78}"/>
              </a:ext>
            </a:extLst>
          </p:cNvPr>
          <p:cNvSpPr txBox="1"/>
          <p:nvPr/>
        </p:nvSpPr>
        <p:spPr>
          <a:xfrm>
            <a:off x="4729903" y="3778429"/>
            <a:ext cx="4662376" cy="954107"/>
          </a:xfrm>
          <a:prstGeom prst="rect">
            <a:avLst/>
          </a:prstGeom>
          <a:noFill/>
        </p:spPr>
        <p:txBody>
          <a:bodyPr wrap="square">
            <a:spAutoFit/>
          </a:bodyPr>
          <a:lstStyle/>
          <a:p>
            <a:r>
              <a:rPr lang="fr-FR" b="1" dirty="0"/>
              <a:t>Bibliothèques</a:t>
            </a:r>
            <a:r>
              <a:rPr lang="fr-FR" dirty="0"/>
              <a:t> : </a:t>
            </a:r>
          </a:p>
          <a:p>
            <a:r>
              <a:rPr lang="fr-FR" b="1" dirty="0" err="1">
                <a:highlight>
                  <a:srgbClr val="53CFA2"/>
                </a:highlight>
              </a:rPr>
              <a:t>PySpark</a:t>
            </a:r>
            <a:r>
              <a:rPr lang="fr-FR" b="1" dirty="0">
                <a:highlight>
                  <a:srgbClr val="53CFA2"/>
                </a:highlight>
              </a:rPr>
              <a:t> (Spark avec Python), </a:t>
            </a:r>
            <a:r>
              <a:rPr lang="fr-FR" b="1" dirty="0" err="1">
                <a:highlight>
                  <a:srgbClr val="53CFA2"/>
                </a:highlight>
              </a:rPr>
              <a:t>TensorFlow</a:t>
            </a:r>
            <a:r>
              <a:rPr lang="fr-FR" b="1" dirty="0">
                <a:highlight>
                  <a:srgbClr val="53CFA2"/>
                </a:highlight>
              </a:rPr>
              <a:t>, Pandas pour les traitements </a:t>
            </a:r>
          </a:p>
          <a:p>
            <a:r>
              <a:rPr lang="fr-FR" b="1" dirty="0">
                <a:highlight>
                  <a:srgbClr val="53CFA2"/>
                </a:highlight>
              </a:rPr>
              <a:t>analytiques</a:t>
            </a:r>
          </a:p>
        </p:txBody>
      </p:sp>
    </p:spTree>
    <p:extLst>
      <p:ext uri="{BB962C8B-B14F-4D97-AF65-F5344CB8AC3E}">
        <p14:creationId xmlns:p14="http://schemas.microsoft.com/office/powerpoint/2010/main" val="1966689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F7733-F403-493A-563C-048CBD8B4575}"/>
            </a:ext>
          </a:extLst>
        </p:cNvPr>
        <p:cNvGrpSpPr/>
        <p:nvPr/>
      </p:nvGrpSpPr>
      <p:grpSpPr>
        <a:xfrm>
          <a:off x="0" y="0"/>
          <a:ext cx="0" cy="0"/>
          <a:chOff x="0" y="0"/>
          <a:chExt cx="0" cy="0"/>
        </a:xfrm>
      </p:grpSpPr>
      <p:pic>
        <p:nvPicPr>
          <p:cNvPr id="9" name="Image 8" descr="Une image contenant texte, capture d’écran, Police, nombre&#10;&#10;Description générée automatiquement">
            <a:extLst>
              <a:ext uri="{FF2B5EF4-FFF2-40B4-BE49-F238E27FC236}">
                <a16:creationId xmlns:a16="http://schemas.microsoft.com/office/drawing/2014/main" id="{BA27443F-2282-0042-8103-2B54FAF47F59}"/>
              </a:ext>
            </a:extLst>
          </p:cNvPr>
          <p:cNvPicPr>
            <a:picLocks noChangeAspect="1"/>
          </p:cNvPicPr>
          <p:nvPr/>
        </p:nvPicPr>
        <p:blipFill>
          <a:blip r:embed="rId3"/>
          <a:stretch>
            <a:fillRect/>
          </a:stretch>
        </p:blipFill>
        <p:spPr>
          <a:xfrm>
            <a:off x="3785547" y="1743626"/>
            <a:ext cx="5143500" cy="2463800"/>
          </a:xfrm>
          <a:prstGeom prst="rect">
            <a:avLst/>
          </a:prstGeom>
        </p:spPr>
      </p:pic>
      <p:sp>
        <p:nvSpPr>
          <p:cNvPr id="2" name="Title 1">
            <a:extLst>
              <a:ext uri="{FF2B5EF4-FFF2-40B4-BE49-F238E27FC236}">
                <a16:creationId xmlns:a16="http://schemas.microsoft.com/office/drawing/2014/main" id="{4B445E0B-CA3E-C42E-9AD2-A94067381B2E}"/>
              </a:ext>
            </a:extLst>
          </p:cNvPr>
          <p:cNvSpPr>
            <a:spLocks noGrp="1"/>
          </p:cNvSpPr>
          <p:nvPr>
            <p:ph type="title"/>
          </p:nvPr>
        </p:nvSpPr>
        <p:spPr>
          <a:xfrm>
            <a:off x="308092" y="130842"/>
            <a:ext cx="7704000" cy="572700"/>
          </a:xfrm>
        </p:spPr>
        <p:txBody>
          <a:bodyPr/>
          <a:lstStyle/>
          <a:p>
            <a:r>
              <a:rPr lang="en-US" sz="2400" b="1" dirty="0">
                <a:latin typeface="-apple-system"/>
                <a:sym typeface="Arial"/>
              </a:rPr>
              <a:t>Configuration AWS</a:t>
            </a:r>
            <a:endParaRPr lang="en-US" sz="2400" b="1" dirty="0">
              <a:latin typeface="-apple-system"/>
            </a:endParaRPr>
          </a:p>
        </p:txBody>
      </p:sp>
      <p:sp>
        <p:nvSpPr>
          <p:cNvPr id="7" name="Google Shape;411;p43">
            <a:extLst>
              <a:ext uri="{FF2B5EF4-FFF2-40B4-BE49-F238E27FC236}">
                <a16:creationId xmlns:a16="http://schemas.microsoft.com/office/drawing/2014/main" id="{07ACF778-45B0-9209-9446-7FCF55494649}"/>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8" name="Google Shape;412;p43">
            <a:extLst>
              <a:ext uri="{FF2B5EF4-FFF2-40B4-BE49-F238E27FC236}">
                <a16:creationId xmlns:a16="http://schemas.microsoft.com/office/drawing/2014/main" id="{B2B12D79-CEF4-5002-0A60-C674100B438F}"/>
              </a:ext>
            </a:extLst>
          </p:cNvPr>
          <p:cNvSpPr txBox="1"/>
          <p:nvPr/>
        </p:nvSpPr>
        <p:spPr>
          <a:xfrm flipH="1">
            <a:off x="7216016" y="411640"/>
            <a:ext cx="1812300" cy="426195"/>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Configuration AWS</a:t>
            </a:r>
            <a:endParaRPr lang="fr-FR" sz="1200" dirty="0">
              <a:solidFill>
                <a:schemeClr val="dk1"/>
              </a:solidFill>
              <a:latin typeface="Quicksand Medium"/>
              <a:ea typeface="Quicksand Medium"/>
              <a:cs typeface="Quicksand Medium"/>
              <a:sym typeface="Quicksand Medium"/>
            </a:endParaRPr>
          </a:p>
        </p:txBody>
      </p:sp>
      <p:sp>
        <p:nvSpPr>
          <p:cNvPr id="21" name="ZoneTexte 20">
            <a:extLst>
              <a:ext uri="{FF2B5EF4-FFF2-40B4-BE49-F238E27FC236}">
                <a16:creationId xmlns:a16="http://schemas.microsoft.com/office/drawing/2014/main" id="{A187984D-3F3C-9013-A02C-D03EC60DC71F}"/>
              </a:ext>
            </a:extLst>
          </p:cNvPr>
          <p:cNvSpPr txBox="1"/>
          <p:nvPr/>
        </p:nvSpPr>
        <p:spPr>
          <a:xfrm>
            <a:off x="0" y="611576"/>
            <a:ext cx="4278291" cy="954107"/>
          </a:xfrm>
          <a:prstGeom prst="rect">
            <a:avLst/>
          </a:prstGeom>
          <a:noFill/>
        </p:spPr>
        <p:txBody>
          <a:bodyPr wrap="square">
            <a:spAutoFit/>
          </a:bodyPr>
          <a:lstStyle/>
          <a:p>
            <a:r>
              <a:rPr lang="fr-FR" b="1" dirty="0"/>
              <a:t>Résumé du script </a:t>
            </a:r>
            <a:r>
              <a:rPr lang="fr-FR" b="1" dirty="0" err="1"/>
              <a:t>bootstrap</a:t>
            </a:r>
            <a:r>
              <a:rPr lang="fr-FR" b="1" dirty="0"/>
              <a:t> :</a:t>
            </a:r>
          </a:p>
          <a:p>
            <a:r>
              <a:rPr lang="fr-FR" b="1" dirty="0"/>
              <a:t>Objectif</a:t>
            </a:r>
            <a:r>
              <a:rPr lang="fr-FR" dirty="0"/>
              <a:t> : Configurer les bibliothèques et dépendances nécessaires pour exécuter notre notebook sur EMR.</a:t>
            </a:r>
          </a:p>
        </p:txBody>
      </p:sp>
      <p:pic>
        <p:nvPicPr>
          <p:cNvPr id="23" name="Image 22" descr="Une image contenant texte, capture d’écran, Police&#10;&#10;Description générée automatiquement">
            <a:extLst>
              <a:ext uri="{FF2B5EF4-FFF2-40B4-BE49-F238E27FC236}">
                <a16:creationId xmlns:a16="http://schemas.microsoft.com/office/drawing/2014/main" id="{8608844B-26DF-35F3-D600-86CB11018AF9}"/>
              </a:ext>
            </a:extLst>
          </p:cNvPr>
          <p:cNvPicPr>
            <a:picLocks noChangeAspect="1"/>
          </p:cNvPicPr>
          <p:nvPr/>
        </p:nvPicPr>
        <p:blipFill>
          <a:blip r:embed="rId4"/>
          <a:stretch>
            <a:fillRect/>
          </a:stretch>
        </p:blipFill>
        <p:spPr>
          <a:xfrm>
            <a:off x="438765" y="1552312"/>
            <a:ext cx="3094534" cy="3591188"/>
          </a:xfrm>
          <a:prstGeom prst="rect">
            <a:avLst/>
          </a:prstGeom>
        </p:spPr>
      </p:pic>
      <p:sp>
        <p:nvSpPr>
          <p:cNvPr id="24" name="ZoneTexte 23">
            <a:extLst>
              <a:ext uri="{FF2B5EF4-FFF2-40B4-BE49-F238E27FC236}">
                <a16:creationId xmlns:a16="http://schemas.microsoft.com/office/drawing/2014/main" id="{522DA6FB-2F1A-5676-5EC0-722A17360A19}"/>
              </a:ext>
            </a:extLst>
          </p:cNvPr>
          <p:cNvSpPr txBox="1"/>
          <p:nvPr/>
        </p:nvSpPr>
        <p:spPr>
          <a:xfrm>
            <a:off x="4077838" y="621391"/>
            <a:ext cx="4758070" cy="954107"/>
          </a:xfrm>
          <a:prstGeom prst="rect">
            <a:avLst/>
          </a:prstGeom>
          <a:noFill/>
        </p:spPr>
        <p:txBody>
          <a:bodyPr wrap="square">
            <a:spAutoFit/>
          </a:bodyPr>
          <a:lstStyle/>
          <a:p>
            <a:r>
              <a:rPr lang="fr-FR" b="1" dirty="0"/>
              <a:t>Configuration logiciel:</a:t>
            </a:r>
          </a:p>
          <a:p>
            <a:r>
              <a:rPr lang="fr-FR" dirty="0"/>
              <a:t>L'objectif principal de cette configuration est de </a:t>
            </a:r>
            <a:r>
              <a:rPr lang="fr-FR" b="1" dirty="0"/>
              <a:t>mettre en place une persistance des données de </a:t>
            </a:r>
            <a:r>
              <a:rPr lang="fr-FR" b="1" dirty="0" err="1"/>
              <a:t>Jupyter</a:t>
            </a:r>
            <a:r>
              <a:rPr lang="fr-FR" b="1" dirty="0"/>
              <a:t> sur Amazon S3</a:t>
            </a:r>
            <a:endParaRPr lang="fr-FR" dirty="0"/>
          </a:p>
        </p:txBody>
      </p:sp>
      <p:pic>
        <p:nvPicPr>
          <p:cNvPr id="25" name="Image 24" descr="Une image contenant texte, capture d’écran, Police, ligne&#10;&#10;Description générée automatiquement">
            <a:extLst>
              <a:ext uri="{FF2B5EF4-FFF2-40B4-BE49-F238E27FC236}">
                <a16:creationId xmlns:a16="http://schemas.microsoft.com/office/drawing/2014/main" id="{B1EAB205-A009-B19C-4684-87A731ACF0E9}"/>
              </a:ext>
            </a:extLst>
          </p:cNvPr>
          <p:cNvPicPr>
            <a:picLocks noChangeAspect="1"/>
          </p:cNvPicPr>
          <p:nvPr/>
        </p:nvPicPr>
        <p:blipFill>
          <a:blip r:embed="rId5"/>
          <a:stretch>
            <a:fillRect/>
          </a:stretch>
        </p:blipFill>
        <p:spPr>
          <a:xfrm>
            <a:off x="3785547" y="4287360"/>
            <a:ext cx="5194300" cy="889000"/>
          </a:xfrm>
          <a:prstGeom prst="rect">
            <a:avLst/>
          </a:prstGeom>
        </p:spPr>
      </p:pic>
    </p:spTree>
    <p:extLst>
      <p:ext uri="{BB962C8B-B14F-4D97-AF65-F5344CB8AC3E}">
        <p14:creationId xmlns:p14="http://schemas.microsoft.com/office/powerpoint/2010/main" val="1964813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capture d’écran, Police, nombre&#10;&#10;Description générée automatiquement">
            <a:extLst>
              <a:ext uri="{FF2B5EF4-FFF2-40B4-BE49-F238E27FC236}">
                <a16:creationId xmlns:a16="http://schemas.microsoft.com/office/drawing/2014/main" id="{2193B207-4588-90A3-DBB1-059D4DA52881}"/>
              </a:ext>
            </a:extLst>
          </p:cNvPr>
          <p:cNvPicPr>
            <a:picLocks noChangeAspect="1"/>
          </p:cNvPicPr>
          <p:nvPr/>
        </p:nvPicPr>
        <p:blipFill>
          <a:blip r:embed="rId3"/>
          <a:stretch>
            <a:fillRect/>
          </a:stretch>
        </p:blipFill>
        <p:spPr>
          <a:xfrm>
            <a:off x="192863" y="1807906"/>
            <a:ext cx="7772400" cy="3396249"/>
          </a:xfrm>
          <a:prstGeom prst="rect">
            <a:avLst/>
          </a:prstGeom>
        </p:spPr>
      </p:pic>
      <p:sp>
        <p:nvSpPr>
          <p:cNvPr id="4" name="Google Shape;411;p43">
            <a:extLst>
              <a:ext uri="{FF2B5EF4-FFF2-40B4-BE49-F238E27FC236}">
                <a16:creationId xmlns:a16="http://schemas.microsoft.com/office/drawing/2014/main" id="{42A3F28D-FA96-DB18-8796-171E8D76A2C1}"/>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5" name="Google Shape;412;p43">
            <a:extLst>
              <a:ext uri="{FF2B5EF4-FFF2-40B4-BE49-F238E27FC236}">
                <a16:creationId xmlns:a16="http://schemas.microsoft.com/office/drawing/2014/main" id="{DB20E874-B405-DB12-44D1-BDD00EF6476E}"/>
              </a:ext>
            </a:extLst>
          </p:cNvPr>
          <p:cNvSpPr txBox="1"/>
          <p:nvPr/>
        </p:nvSpPr>
        <p:spPr>
          <a:xfrm flipH="1">
            <a:off x="7216016" y="411640"/>
            <a:ext cx="1812300" cy="426195"/>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Configuration AWS</a:t>
            </a:r>
            <a:endParaRPr lang="fr-FR" sz="1200" dirty="0">
              <a:solidFill>
                <a:schemeClr val="dk1"/>
              </a:solidFill>
              <a:latin typeface="Quicksand Medium"/>
              <a:ea typeface="Quicksand Medium"/>
              <a:cs typeface="Quicksand Medium"/>
              <a:sym typeface="Quicksand Medium"/>
            </a:endParaRPr>
          </a:p>
        </p:txBody>
      </p:sp>
      <p:sp>
        <p:nvSpPr>
          <p:cNvPr id="6" name="Title 1">
            <a:extLst>
              <a:ext uri="{FF2B5EF4-FFF2-40B4-BE49-F238E27FC236}">
                <a16:creationId xmlns:a16="http://schemas.microsoft.com/office/drawing/2014/main" id="{8F5E641B-66F2-3CF6-A5C1-1F3200F07186}"/>
              </a:ext>
            </a:extLst>
          </p:cNvPr>
          <p:cNvSpPr>
            <a:spLocks noGrp="1"/>
          </p:cNvSpPr>
          <p:nvPr>
            <p:ph type="title"/>
          </p:nvPr>
        </p:nvSpPr>
        <p:spPr>
          <a:xfrm>
            <a:off x="261263" y="195124"/>
            <a:ext cx="7704000" cy="572700"/>
          </a:xfrm>
        </p:spPr>
        <p:txBody>
          <a:bodyPr/>
          <a:lstStyle/>
          <a:p>
            <a:r>
              <a:rPr lang="en-US" sz="2400" b="1" dirty="0">
                <a:latin typeface="-apple-system"/>
                <a:sym typeface="Arial"/>
              </a:rPr>
              <a:t>Notre EMR, 1 instance </a:t>
            </a:r>
            <a:r>
              <a:rPr lang="en-US" sz="2400" b="1" dirty="0" err="1">
                <a:latin typeface="-apple-system"/>
                <a:sym typeface="Arial"/>
              </a:rPr>
              <a:t>primaire</a:t>
            </a:r>
            <a:r>
              <a:rPr lang="en-US" sz="2400" b="1" dirty="0">
                <a:latin typeface="-apple-system"/>
                <a:sym typeface="Arial"/>
              </a:rPr>
              <a:t>, 2 </a:t>
            </a:r>
            <a:r>
              <a:rPr lang="en-US" sz="2400" b="1" dirty="0" err="1">
                <a:latin typeface="-apple-system"/>
                <a:sym typeface="Arial"/>
              </a:rPr>
              <a:t>principales</a:t>
            </a:r>
            <a:endParaRPr lang="en-US" sz="2400" b="1" dirty="0">
              <a:latin typeface="-apple-system"/>
            </a:endParaRPr>
          </a:p>
        </p:txBody>
      </p:sp>
      <p:pic>
        <p:nvPicPr>
          <p:cNvPr id="7" name="Image 6" descr="Une image contenant texte, capture d’écran, Police, ligne&#10;&#10;Description générée automatiquement">
            <a:extLst>
              <a:ext uri="{FF2B5EF4-FFF2-40B4-BE49-F238E27FC236}">
                <a16:creationId xmlns:a16="http://schemas.microsoft.com/office/drawing/2014/main" id="{AF57AD50-D84F-6D4C-AABD-F9CCDA05E414}"/>
              </a:ext>
            </a:extLst>
          </p:cNvPr>
          <p:cNvPicPr>
            <a:picLocks noChangeAspect="1"/>
          </p:cNvPicPr>
          <p:nvPr/>
        </p:nvPicPr>
        <p:blipFill>
          <a:blip r:embed="rId4"/>
          <a:srcRect t="19054" b="23178"/>
          <a:stretch/>
        </p:blipFill>
        <p:spPr>
          <a:xfrm>
            <a:off x="3758498" y="1651658"/>
            <a:ext cx="4953000" cy="535568"/>
          </a:xfrm>
          <a:prstGeom prst="rect">
            <a:avLst/>
          </a:prstGeom>
        </p:spPr>
      </p:pic>
      <p:sp>
        <p:nvSpPr>
          <p:cNvPr id="9" name="ZoneTexte 8">
            <a:extLst>
              <a:ext uri="{FF2B5EF4-FFF2-40B4-BE49-F238E27FC236}">
                <a16:creationId xmlns:a16="http://schemas.microsoft.com/office/drawing/2014/main" id="{BF3C5487-D4B7-4FF7-DF5C-AA61BADC1971}"/>
              </a:ext>
            </a:extLst>
          </p:cNvPr>
          <p:cNvSpPr txBox="1"/>
          <p:nvPr/>
        </p:nvSpPr>
        <p:spPr>
          <a:xfrm>
            <a:off x="192863" y="4003617"/>
            <a:ext cx="6370865" cy="307777"/>
          </a:xfrm>
          <a:prstGeom prst="rect">
            <a:avLst/>
          </a:prstGeom>
          <a:noFill/>
        </p:spPr>
        <p:txBody>
          <a:bodyPr wrap="square">
            <a:spAutoFit/>
          </a:bodyPr>
          <a:lstStyle/>
          <a:p>
            <a:r>
              <a:rPr lang="fr-FR" b="1" dirty="0">
                <a:highlight>
                  <a:srgbClr val="53CFA2"/>
                </a:highlight>
              </a:rPr>
              <a:t>1 instance Maître (le driver) et 2 instances Principales (les </a:t>
            </a:r>
            <a:r>
              <a:rPr lang="fr-FR" b="1" dirty="0" err="1">
                <a:highlight>
                  <a:srgbClr val="53CFA2"/>
                </a:highlight>
              </a:rPr>
              <a:t>workeurs</a:t>
            </a:r>
            <a:r>
              <a:rPr lang="fr-FR" b="1" dirty="0">
                <a:highlight>
                  <a:srgbClr val="53CFA2"/>
                </a:highlight>
              </a:rPr>
              <a:t>)</a:t>
            </a:r>
          </a:p>
        </p:txBody>
      </p:sp>
      <p:sp>
        <p:nvSpPr>
          <p:cNvPr id="2" name="ZoneTexte 1">
            <a:extLst>
              <a:ext uri="{FF2B5EF4-FFF2-40B4-BE49-F238E27FC236}">
                <a16:creationId xmlns:a16="http://schemas.microsoft.com/office/drawing/2014/main" id="{837B9E80-0B8B-F159-9A03-ED8A56BD0AB9}"/>
              </a:ext>
            </a:extLst>
          </p:cNvPr>
          <p:cNvSpPr txBox="1"/>
          <p:nvPr/>
        </p:nvSpPr>
        <p:spPr>
          <a:xfrm>
            <a:off x="103384" y="1128438"/>
            <a:ext cx="6993053" cy="523220"/>
          </a:xfrm>
          <a:prstGeom prst="rect">
            <a:avLst/>
          </a:prstGeom>
          <a:noFill/>
        </p:spPr>
        <p:txBody>
          <a:bodyPr wrap="square">
            <a:spAutoFit/>
          </a:bodyPr>
          <a:lstStyle/>
          <a:p>
            <a:r>
              <a:rPr lang="fr-FR" b="1" dirty="0"/>
              <a:t>la paire de clés EC2</a:t>
            </a:r>
            <a:r>
              <a:rPr lang="fr-FR" dirty="0"/>
              <a:t> doit être créée </a:t>
            </a:r>
            <a:r>
              <a:rPr lang="fr-FR" b="1" dirty="0"/>
              <a:t>avant</a:t>
            </a:r>
            <a:r>
              <a:rPr lang="fr-FR" dirty="0"/>
              <a:t> de lancer le cluster EMR, car elle est requise pour accéder en SSH à l’instance maître</a:t>
            </a:r>
          </a:p>
        </p:txBody>
      </p:sp>
    </p:spTree>
    <p:extLst>
      <p:ext uri="{BB962C8B-B14F-4D97-AF65-F5344CB8AC3E}">
        <p14:creationId xmlns:p14="http://schemas.microsoft.com/office/powerpoint/2010/main" val="1446596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411;p43">
            <a:extLst>
              <a:ext uri="{FF2B5EF4-FFF2-40B4-BE49-F238E27FC236}">
                <a16:creationId xmlns:a16="http://schemas.microsoft.com/office/drawing/2014/main" id="{193F6D2D-70A2-8E92-4929-E891E96E669A}"/>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8" name="Google Shape;412;p43">
            <a:extLst>
              <a:ext uri="{FF2B5EF4-FFF2-40B4-BE49-F238E27FC236}">
                <a16:creationId xmlns:a16="http://schemas.microsoft.com/office/drawing/2014/main" id="{2181892D-2ED6-0C55-331D-F2C1EC77E2D9}"/>
              </a:ext>
            </a:extLst>
          </p:cNvPr>
          <p:cNvSpPr txBox="1"/>
          <p:nvPr/>
        </p:nvSpPr>
        <p:spPr>
          <a:xfrm flipH="1">
            <a:off x="7216016" y="411640"/>
            <a:ext cx="1812300" cy="426195"/>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Configuration AWS</a:t>
            </a:r>
            <a:endParaRPr lang="fr-FR" sz="1200" dirty="0">
              <a:solidFill>
                <a:schemeClr val="dk1"/>
              </a:solidFill>
              <a:latin typeface="Quicksand Medium"/>
              <a:ea typeface="Quicksand Medium"/>
              <a:cs typeface="Quicksand Medium"/>
              <a:sym typeface="Quicksand Medium"/>
            </a:endParaRPr>
          </a:p>
        </p:txBody>
      </p:sp>
      <p:pic>
        <p:nvPicPr>
          <p:cNvPr id="18" name="Image 17" descr="Une image contenant texte, capture d’écran, Police, nombre&#10;&#10;Description générée automatiquement">
            <a:extLst>
              <a:ext uri="{FF2B5EF4-FFF2-40B4-BE49-F238E27FC236}">
                <a16:creationId xmlns:a16="http://schemas.microsoft.com/office/drawing/2014/main" id="{754654B1-5604-5D94-2735-CF4239E36DC5}"/>
              </a:ext>
            </a:extLst>
          </p:cNvPr>
          <p:cNvPicPr>
            <a:picLocks noChangeAspect="1"/>
          </p:cNvPicPr>
          <p:nvPr/>
        </p:nvPicPr>
        <p:blipFill>
          <a:blip r:embed="rId3"/>
          <a:stretch>
            <a:fillRect/>
          </a:stretch>
        </p:blipFill>
        <p:spPr>
          <a:xfrm>
            <a:off x="0" y="688639"/>
            <a:ext cx="4367305" cy="2012583"/>
          </a:xfrm>
          <a:prstGeom prst="rect">
            <a:avLst/>
          </a:prstGeom>
        </p:spPr>
      </p:pic>
      <p:sp>
        <p:nvSpPr>
          <p:cNvPr id="2" name="TextBox 5">
            <a:extLst>
              <a:ext uri="{FF2B5EF4-FFF2-40B4-BE49-F238E27FC236}">
                <a16:creationId xmlns:a16="http://schemas.microsoft.com/office/drawing/2014/main" id="{4CE72B8F-BDBE-46A3-99B3-12B9E5A967D6}"/>
              </a:ext>
            </a:extLst>
          </p:cNvPr>
          <p:cNvSpPr txBox="1"/>
          <p:nvPr/>
        </p:nvSpPr>
        <p:spPr>
          <a:xfrm>
            <a:off x="-54143" y="411640"/>
            <a:ext cx="9252286" cy="276999"/>
          </a:xfrm>
          <a:prstGeom prst="rect">
            <a:avLst/>
          </a:prstGeom>
          <a:noFill/>
        </p:spPr>
        <p:txBody>
          <a:bodyPr wrap="square">
            <a:spAutoFit/>
          </a:bodyPr>
          <a:lstStyle/>
          <a:p>
            <a:r>
              <a:rPr lang="en-US" sz="1200" b="1" dirty="0">
                <a:solidFill>
                  <a:srgbClr val="0D0D0D"/>
                </a:solidFill>
                <a:highlight>
                  <a:srgbClr val="53CFA2"/>
                </a:highlight>
                <a:latin typeface="Söhne"/>
              </a:rPr>
              <a:t>Configuration EMR : 1 instance </a:t>
            </a:r>
            <a:r>
              <a:rPr lang="en-US" sz="1200" b="1" dirty="0" err="1">
                <a:solidFill>
                  <a:srgbClr val="0D0D0D"/>
                </a:solidFill>
                <a:highlight>
                  <a:srgbClr val="53CFA2"/>
                </a:highlight>
                <a:latin typeface="Söhne"/>
              </a:rPr>
              <a:t>primaire</a:t>
            </a:r>
            <a:r>
              <a:rPr lang="en-US" sz="1200" b="1" dirty="0">
                <a:solidFill>
                  <a:srgbClr val="0D0D0D"/>
                </a:solidFill>
                <a:highlight>
                  <a:srgbClr val="53CFA2"/>
                </a:highlight>
                <a:latin typeface="Söhne"/>
              </a:rPr>
              <a:t> et 2 </a:t>
            </a:r>
            <a:r>
              <a:rPr lang="en-US" sz="1200" b="1" dirty="0" err="1">
                <a:solidFill>
                  <a:srgbClr val="0D0D0D"/>
                </a:solidFill>
                <a:highlight>
                  <a:srgbClr val="53CFA2"/>
                </a:highlight>
                <a:latin typeface="Söhne"/>
              </a:rPr>
              <a:t>principales</a:t>
            </a:r>
            <a:endParaRPr lang="en-US" sz="1200" b="1" dirty="0">
              <a:solidFill>
                <a:srgbClr val="0D0D0D"/>
              </a:solidFill>
              <a:highlight>
                <a:srgbClr val="53CFA2"/>
              </a:highlight>
              <a:latin typeface="Söhne"/>
            </a:endParaRPr>
          </a:p>
        </p:txBody>
      </p:sp>
      <p:sp>
        <p:nvSpPr>
          <p:cNvPr id="3" name="TextBox 5">
            <a:extLst>
              <a:ext uri="{FF2B5EF4-FFF2-40B4-BE49-F238E27FC236}">
                <a16:creationId xmlns:a16="http://schemas.microsoft.com/office/drawing/2014/main" id="{385E2882-3333-3888-A4E4-3575ABA5CA46}"/>
              </a:ext>
            </a:extLst>
          </p:cNvPr>
          <p:cNvSpPr txBox="1"/>
          <p:nvPr/>
        </p:nvSpPr>
        <p:spPr>
          <a:xfrm>
            <a:off x="4626143" y="421078"/>
            <a:ext cx="9252286" cy="461665"/>
          </a:xfrm>
          <a:prstGeom prst="rect">
            <a:avLst/>
          </a:prstGeom>
          <a:noFill/>
        </p:spPr>
        <p:txBody>
          <a:bodyPr wrap="square">
            <a:spAutoFit/>
          </a:bodyPr>
          <a:lstStyle/>
          <a:p>
            <a:r>
              <a:rPr lang="en-US" sz="1200" b="1" dirty="0">
                <a:solidFill>
                  <a:srgbClr val="0D0D0D"/>
                </a:solidFill>
                <a:highlight>
                  <a:srgbClr val="53CFA2"/>
                </a:highlight>
                <a:latin typeface="Söhne"/>
              </a:rPr>
              <a:t>IAM : gestion des </a:t>
            </a:r>
            <a:r>
              <a:rPr lang="en-US" sz="1200" b="1" dirty="0" err="1">
                <a:solidFill>
                  <a:srgbClr val="0D0D0D"/>
                </a:solidFill>
                <a:highlight>
                  <a:srgbClr val="53CFA2"/>
                </a:highlight>
                <a:latin typeface="Söhne"/>
              </a:rPr>
              <a:t>rôles</a:t>
            </a:r>
            <a:br>
              <a:rPr lang="en-US" sz="1200" b="1" dirty="0">
                <a:solidFill>
                  <a:srgbClr val="0D0D0D"/>
                </a:solidFill>
                <a:highlight>
                  <a:srgbClr val="53CFA2"/>
                </a:highlight>
                <a:latin typeface="Söhne"/>
              </a:rPr>
            </a:br>
            <a:r>
              <a:rPr lang="en-US" sz="1200" b="1" dirty="0">
                <a:solidFill>
                  <a:srgbClr val="0D0D0D"/>
                </a:solidFill>
                <a:highlight>
                  <a:srgbClr val="53CFA2"/>
                </a:highlight>
                <a:latin typeface="Söhne"/>
              </a:rPr>
              <a:t>EC2 : </a:t>
            </a:r>
            <a:r>
              <a:rPr lang="en-US" sz="1200" b="1" dirty="0" err="1">
                <a:solidFill>
                  <a:srgbClr val="0D0D0D"/>
                </a:solidFill>
                <a:highlight>
                  <a:srgbClr val="53CFA2"/>
                </a:highlight>
                <a:latin typeface="Söhne"/>
              </a:rPr>
              <a:t>groupe</a:t>
            </a:r>
            <a:r>
              <a:rPr lang="en-US" sz="1200" b="1" dirty="0">
                <a:solidFill>
                  <a:srgbClr val="0D0D0D"/>
                </a:solidFill>
                <a:highlight>
                  <a:srgbClr val="53CFA2"/>
                </a:highlight>
                <a:latin typeface="Söhne"/>
              </a:rPr>
              <a:t> de </a:t>
            </a:r>
            <a:r>
              <a:rPr lang="en-US" sz="1200" b="1" dirty="0" err="1">
                <a:solidFill>
                  <a:srgbClr val="0D0D0D"/>
                </a:solidFill>
                <a:highlight>
                  <a:srgbClr val="53CFA2"/>
                </a:highlight>
                <a:latin typeface="Söhne"/>
              </a:rPr>
              <a:t>sécurité</a:t>
            </a:r>
            <a:endParaRPr lang="en-US" sz="1200" b="1" dirty="0">
              <a:solidFill>
                <a:srgbClr val="0D0D0D"/>
              </a:solidFill>
              <a:highlight>
                <a:srgbClr val="53CFA2"/>
              </a:highlight>
              <a:latin typeface="Söhne"/>
            </a:endParaRPr>
          </a:p>
        </p:txBody>
      </p:sp>
      <p:sp>
        <p:nvSpPr>
          <p:cNvPr id="5" name="ZoneTexte 4">
            <a:extLst>
              <a:ext uri="{FF2B5EF4-FFF2-40B4-BE49-F238E27FC236}">
                <a16:creationId xmlns:a16="http://schemas.microsoft.com/office/drawing/2014/main" id="{ADC669E1-78CB-75A1-8E18-83EF3CC39577}"/>
              </a:ext>
            </a:extLst>
          </p:cNvPr>
          <p:cNvSpPr txBox="1"/>
          <p:nvPr/>
        </p:nvSpPr>
        <p:spPr>
          <a:xfrm>
            <a:off x="4626143" y="882743"/>
            <a:ext cx="4195741" cy="415498"/>
          </a:xfrm>
          <a:prstGeom prst="rect">
            <a:avLst/>
          </a:prstGeom>
          <a:noFill/>
        </p:spPr>
        <p:txBody>
          <a:bodyPr wrap="square">
            <a:spAutoFit/>
          </a:bodyPr>
          <a:lstStyle/>
          <a:p>
            <a:r>
              <a:rPr lang="fr-FR" sz="1050" dirty="0"/>
              <a:t>les services </a:t>
            </a:r>
            <a:r>
              <a:rPr lang="fr-FR" sz="1050" b="1" dirty="0"/>
              <a:t>IAM</a:t>
            </a:r>
            <a:r>
              <a:rPr lang="fr-FR" sz="1050" dirty="0"/>
              <a:t> et les </a:t>
            </a:r>
            <a:r>
              <a:rPr lang="fr-FR" sz="1050" b="1" dirty="0"/>
              <a:t>groupes de sécurité EC2</a:t>
            </a:r>
            <a:r>
              <a:rPr lang="fr-FR" sz="1050" dirty="0"/>
              <a:t> jouent des rôles clés pour assurer la sécurité et l'accès aux ressources.</a:t>
            </a:r>
          </a:p>
        </p:txBody>
      </p:sp>
      <p:sp>
        <p:nvSpPr>
          <p:cNvPr id="9" name="ZoneTexte 8">
            <a:extLst>
              <a:ext uri="{FF2B5EF4-FFF2-40B4-BE49-F238E27FC236}">
                <a16:creationId xmlns:a16="http://schemas.microsoft.com/office/drawing/2014/main" id="{F3B4E34C-1AB3-C9F5-29FD-111B16E45129}"/>
              </a:ext>
            </a:extLst>
          </p:cNvPr>
          <p:cNvSpPr txBox="1"/>
          <p:nvPr/>
        </p:nvSpPr>
        <p:spPr>
          <a:xfrm>
            <a:off x="4626143" y="1343149"/>
            <a:ext cx="4074340" cy="1169551"/>
          </a:xfrm>
          <a:prstGeom prst="rect">
            <a:avLst/>
          </a:prstGeom>
          <a:noFill/>
        </p:spPr>
        <p:txBody>
          <a:bodyPr wrap="square">
            <a:spAutoFit/>
          </a:bodyPr>
          <a:lstStyle/>
          <a:p>
            <a:r>
              <a:rPr lang="fr-FR" sz="1000" b="1" dirty="0"/>
              <a:t>IAM (Identity and Access Management) : Gestion des rôles</a:t>
            </a:r>
          </a:p>
          <a:p>
            <a:r>
              <a:rPr lang="fr-FR" sz="1000" dirty="0"/>
              <a:t>permet de gérer l'accès sécurisé aux ressources AWS comme </a:t>
            </a:r>
            <a:r>
              <a:rPr lang="fr-FR" sz="1000" b="1" dirty="0"/>
              <a:t>S3</a:t>
            </a:r>
            <a:r>
              <a:rPr lang="fr-FR" sz="1000" dirty="0"/>
              <a:t> dans ton projet.</a:t>
            </a:r>
          </a:p>
          <a:p>
            <a:pPr marL="742950" lvl="1" indent="-285750">
              <a:buFont typeface="Arial" panose="020B0604020202020204" pitchFamily="34" charset="0"/>
              <a:buChar char="•"/>
            </a:pPr>
            <a:r>
              <a:rPr lang="fr-FR" sz="1000" dirty="0"/>
              <a:t>Le rôle IAM attribué au cluster </a:t>
            </a:r>
            <a:r>
              <a:rPr lang="fr-FR" sz="1000" b="1" dirty="0"/>
              <a:t>EMR</a:t>
            </a:r>
            <a:r>
              <a:rPr lang="fr-FR" sz="1000" dirty="0"/>
              <a:t> ou aux instances </a:t>
            </a:r>
            <a:r>
              <a:rPr lang="fr-FR" sz="1000" b="1" dirty="0"/>
              <a:t>EC2</a:t>
            </a:r>
            <a:r>
              <a:rPr lang="fr-FR" sz="1000" dirty="0"/>
              <a:t> définit les </a:t>
            </a:r>
            <a:r>
              <a:rPr lang="fr-FR" sz="1000" b="1" dirty="0"/>
              <a:t>permissions</a:t>
            </a:r>
            <a:r>
              <a:rPr lang="fr-FR" sz="1000" dirty="0"/>
              <a:t> pour accéder à S3.</a:t>
            </a:r>
          </a:p>
          <a:p>
            <a:pPr marL="742950" lvl="1" indent="-285750">
              <a:buFont typeface="Arial" panose="020B0604020202020204" pitchFamily="34" charset="0"/>
              <a:buChar char="•"/>
            </a:pPr>
            <a:r>
              <a:rPr lang="fr-FR" sz="1000" dirty="0"/>
              <a:t>Il permet à  </a:t>
            </a:r>
            <a:r>
              <a:rPr lang="fr-FR" sz="1000" b="1" dirty="0"/>
              <a:t>Spark</a:t>
            </a:r>
            <a:r>
              <a:rPr lang="fr-FR" sz="1000" dirty="0"/>
              <a:t> de lire et écrire des données depuis/vers </a:t>
            </a:r>
            <a:r>
              <a:rPr lang="fr-FR" sz="1000" b="1" dirty="0"/>
              <a:t>Amazon S3</a:t>
            </a:r>
            <a:r>
              <a:rPr lang="fr-FR" sz="1000" dirty="0"/>
              <a:t>.</a:t>
            </a:r>
          </a:p>
        </p:txBody>
      </p:sp>
      <p:sp>
        <p:nvSpPr>
          <p:cNvPr id="11" name="ZoneTexte 10">
            <a:extLst>
              <a:ext uri="{FF2B5EF4-FFF2-40B4-BE49-F238E27FC236}">
                <a16:creationId xmlns:a16="http://schemas.microsoft.com/office/drawing/2014/main" id="{233F71B5-0CCD-0152-257C-D1E8B823F0A8}"/>
              </a:ext>
            </a:extLst>
          </p:cNvPr>
          <p:cNvSpPr txBox="1"/>
          <p:nvPr/>
        </p:nvSpPr>
        <p:spPr>
          <a:xfrm>
            <a:off x="4626143" y="2571750"/>
            <a:ext cx="4367305" cy="553998"/>
          </a:xfrm>
          <a:prstGeom prst="rect">
            <a:avLst/>
          </a:prstGeom>
          <a:noFill/>
        </p:spPr>
        <p:txBody>
          <a:bodyPr wrap="square">
            <a:spAutoFit/>
          </a:bodyPr>
          <a:lstStyle/>
          <a:p>
            <a:r>
              <a:rPr lang="fr-FR" sz="1000" b="1" dirty="0"/>
              <a:t>EC2 : Groupe de sécurité</a:t>
            </a:r>
          </a:p>
          <a:p>
            <a:r>
              <a:rPr lang="fr-FR" sz="1000" b="1" dirty="0"/>
              <a:t>Les groupes de sécurité EC2</a:t>
            </a:r>
            <a:r>
              <a:rPr lang="fr-FR" sz="1000" dirty="0"/>
              <a:t> agissent comme des pare-feu pour contrôler les connexions </a:t>
            </a:r>
            <a:r>
              <a:rPr lang="fr-FR" sz="1000" b="1" dirty="0"/>
              <a:t>entrantes</a:t>
            </a:r>
            <a:r>
              <a:rPr lang="fr-FR" sz="1000" dirty="0"/>
              <a:t> et </a:t>
            </a:r>
            <a:r>
              <a:rPr lang="fr-FR" sz="1000" b="1" dirty="0"/>
              <a:t>sortantes</a:t>
            </a:r>
            <a:r>
              <a:rPr lang="fr-FR" sz="1000" dirty="0"/>
              <a:t> des instances.</a:t>
            </a:r>
          </a:p>
        </p:txBody>
      </p:sp>
      <p:pic>
        <p:nvPicPr>
          <p:cNvPr id="13" name="Image 12" descr="Une image contenant texte, nombre, Police, capture d’écran&#10;&#10;Description générée automatiquement">
            <a:extLst>
              <a:ext uri="{FF2B5EF4-FFF2-40B4-BE49-F238E27FC236}">
                <a16:creationId xmlns:a16="http://schemas.microsoft.com/office/drawing/2014/main" id="{50D0DC74-AC68-4FC1-8572-9E0E21C6BA8F}"/>
              </a:ext>
            </a:extLst>
          </p:cNvPr>
          <p:cNvPicPr>
            <a:picLocks noChangeAspect="1"/>
          </p:cNvPicPr>
          <p:nvPr/>
        </p:nvPicPr>
        <p:blipFill>
          <a:blip r:embed="rId4"/>
          <a:stretch>
            <a:fillRect/>
          </a:stretch>
        </p:blipFill>
        <p:spPr>
          <a:xfrm>
            <a:off x="4510458" y="3127291"/>
            <a:ext cx="4517858" cy="2420086"/>
          </a:xfrm>
          <a:prstGeom prst="rect">
            <a:avLst/>
          </a:prstGeom>
        </p:spPr>
      </p:pic>
      <p:sp>
        <p:nvSpPr>
          <p:cNvPr id="14" name="ZoneTexte 13">
            <a:extLst>
              <a:ext uri="{FF2B5EF4-FFF2-40B4-BE49-F238E27FC236}">
                <a16:creationId xmlns:a16="http://schemas.microsoft.com/office/drawing/2014/main" id="{97818549-69E7-5649-88C0-84AD4E6DCC6C}"/>
              </a:ext>
            </a:extLst>
          </p:cNvPr>
          <p:cNvSpPr txBox="1"/>
          <p:nvPr/>
        </p:nvSpPr>
        <p:spPr>
          <a:xfrm>
            <a:off x="185298" y="2848749"/>
            <a:ext cx="4195741" cy="461665"/>
          </a:xfrm>
          <a:prstGeom prst="rect">
            <a:avLst/>
          </a:prstGeom>
          <a:noFill/>
        </p:spPr>
        <p:txBody>
          <a:bodyPr wrap="square">
            <a:spAutoFit/>
          </a:bodyPr>
          <a:lstStyle/>
          <a:p>
            <a:r>
              <a:rPr lang="fr-FR" sz="1200" dirty="0"/>
              <a:t>configuration des instances pour exécuter les traitements </a:t>
            </a:r>
            <a:r>
              <a:rPr lang="fr-FR" sz="1200" b="1" dirty="0" err="1"/>
              <a:t>PySpark</a:t>
            </a:r>
            <a:r>
              <a:rPr lang="fr-FR" sz="1200" b="1" dirty="0"/>
              <a:t> : </a:t>
            </a:r>
            <a:r>
              <a:rPr lang="fr-FR" sz="1050" dirty="0"/>
              <a:t>Soit 1 driver et 2 </a:t>
            </a:r>
            <a:r>
              <a:rPr lang="fr-FR" sz="1050" dirty="0" err="1"/>
              <a:t>workers</a:t>
            </a:r>
            <a:endParaRPr lang="fr-FR" sz="1050" dirty="0"/>
          </a:p>
        </p:txBody>
      </p:sp>
    </p:spTree>
    <p:extLst>
      <p:ext uri="{BB962C8B-B14F-4D97-AF65-F5344CB8AC3E}">
        <p14:creationId xmlns:p14="http://schemas.microsoft.com/office/powerpoint/2010/main" val="4278518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FBFF-3C24-FFF1-165E-E955CEE691B1}"/>
            </a:ext>
          </a:extLst>
        </p:cNvPr>
        <p:cNvGrpSpPr/>
        <p:nvPr/>
      </p:nvGrpSpPr>
      <p:grpSpPr>
        <a:xfrm>
          <a:off x="0" y="0"/>
          <a:ext cx="0" cy="0"/>
          <a:chOff x="0" y="0"/>
          <a:chExt cx="0" cy="0"/>
        </a:xfrm>
      </p:grpSpPr>
      <p:pic>
        <p:nvPicPr>
          <p:cNvPr id="11" name="Image 10" descr="Une image contenant texte, capture d’écran, Police, nombre&#10;&#10;Description générée automatiquement">
            <a:extLst>
              <a:ext uri="{FF2B5EF4-FFF2-40B4-BE49-F238E27FC236}">
                <a16:creationId xmlns:a16="http://schemas.microsoft.com/office/drawing/2014/main" id="{6CB1B19D-850D-E10F-CDA0-1112ED7EC970}"/>
              </a:ext>
            </a:extLst>
          </p:cNvPr>
          <p:cNvPicPr>
            <a:picLocks noChangeAspect="1"/>
          </p:cNvPicPr>
          <p:nvPr/>
        </p:nvPicPr>
        <p:blipFill>
          <a:blip r:embed="rId3"/>
          <a:stretch>
            <a:fillRect/>
          </a:stretch>
        </p:blipFill>
        <p:spPr>
          <a:xfrm>
            <a:off x="0" y="1251581"/>
            <a:ext cx="7772400" cy="1941150"/>
          </a:xfrm>
          <a:prstGeom prst="rect">
            <a:avLst/>
          </a:prstGeom>
        </p:spPr>
      </p:pic>
      <p:sp>
        <p:nvSpPr>
          <p:cNvPr id="2" name="Title 1">
            <a:extLst>
              <a:ext uri="{FF2B5EF4-FFF2-40B4-BE49-F238E27FC236}">
                <a16:creationId xmlns:a16="http://schemas.microsoft.com/office/drawing/2014/main" id="{6360ADC9-B3CC-A534-293A-11508A6A544F}"/>
              </a:ext>
            </a:extLst>
          </p:cNvPr>
          <p:cNvSpPr>
            <a:spLocks noGrp="1"/>
          </p:cNvSpPr>
          <p:nvPr>
            <p:ph type="title"/>
          </p:nvPr>
        </p:nvSpPr>
        <p:spPr>
          <a:xfrm>
            <a:off x="439254" y="-6282"/>
            <a:ext cx="7704000" cy="572700"/>
          </a:xfrm>
        </p:spPr>
        <p:txBody>
          <a:bodyPr/>
          <a:lstStyle/>
          <a:p>
            <a:r>
              <a:rPr lang="en-US" sz="2400" b="1" dirty="0">
                <a:latin typeface="-apple-system"/>
                <a:sym typeface="Arial"/>
              </a:rPr>
              <a:t>Bucket S3 données tests et </a:t>
            </a:r>
            <a:r>
              <a:rPr lang="en-US" sz="2400" b="1" dirty="0" err="1">
                <a:latin typeface="-apple-system"/>
                <a:sym typeface="Arial"/>
              </a:rPr>
              <a:t>résultats</a:t>
            </a:r>
            <a:endParaRPr lang="en-US" sz="2400" b="1" dirty="0">
              <a:latin typeface="-apple-system"/>
            </a:endParaRPr>
          </a:p>
        </p:txBody>
      </p:sp>
      <p:sp>
        <p:nvSpPr>
          <p:cNvPr id="7" name="Google Shape;411;p43">
            <a:extLst>
              <a:ext uri="{FF2B5EF4-FFF2-40B4-BE49-F238E27FC236}">
                <a16:creationId xmlns:a16="http://schemas.microsoft.com/office/drawing/2014/main" id="{3BE16776-4E93-A5EB-53B5-513E9AB73FC4}"/>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8" name="Google Shape;412;p43">
            <a:extLst>
              <a:ext uri="{FF2B5EF4-FFF2-40B4-BE49-F238E27FC236}">
                <a16:creationId xmlns:a16="http://schemas.microsoft.com/office/drawing/2014/main" id="{B47B1884-DC01-8672-4BDD-409DB4412C56}"/>
              </a:ext>
            </a:extLst>
          </p:cNvPr>
          <p:cNvSpPr txBox="1"/>
          <p:nvPr/>
        </p:nvSpPr>
        <p:spPr>
          <a:xfrm flipH="1">
            <a:off x="7216016" y="411640"/>
            <a:ext cx="1812300" cy="426195"/>
          </a:xfrm>
          <a:prstGeom prst="rect">
            <a:avLst/>
          </a:prstGeom>
          <a:noFill/>
          <a:ln>
            <a:noFill/>
          </a:ln>
        </p:spPr>
        <p:txBody>
          <a:bodyPr spcFirstLastPara="1" wrap="square" lIns="91425" tIns="91425" rIns="91425" bIns="91425" anchor="t" anchorCtr="0">
            <a:noAutofit/>
          </a:bodyPr>
          <a:lstStyle/>
          <a:p>
            <a:pPr algn="ctr"/>
            <a:r>
              <a:rPr lang="fr-FR" sz="1200" dirty="0">
                <a:solidFill>
                  <a:schemeClr val="dk1"/>
                </a:solidFill>
                <a:latin typeface="Quicksand Medium"/>
              </a:rPr>
              <a:t>Configuration AWS</a:t>
            </a:r>
            <a:endParaRPr lang="fr-FR" sz="1200" dirty="0">
              <a:solidFill>
                <a:schemeClr val="dk1"/>
              </a:solidFill>
              <a:latin typeface="Quicksand Medium"/>
              <a:ea typeface="Quicksand Medium"/>
              <a:cs typeface="Quicksand Medium"/>
              <a:sym typeface="Quicksand Medium"/>
            </a:endParaRPr>
          </a:p>
        </p:txBody>
      </p:sp>
      <p:sp>
        <p:nvSpPr>
          <p:cNvPr id="12" name="TextBox 5">
            <a:extLst>
              <a:ext uri="{FF2B5EF4-FFF2-40B4-BE49-F238E27FC236}">
                <a16:creationId xmlns:a16="http://schemas.microsoft.com/office/drawing/2014/main" id="{08247A34-BF83-E8CB-C028-66C509525A8F}"/>
              </a:ext>
            </a:extLst>
          </p:cNvPr>
          <p:cNvSpPr txBox="1"/>
          <p:nvPr/>
        </p:nvSpPr>
        <p:spPr>
          <a:xfrm>
            <a:off x="0" y="3141537"/>
            <a:ext cx="8284957" cy="276999"/>
          </a:xfrm>
          <a:prstGeom prst="rect">
            <a:avLst/>
          </a:prstGeom>
          <a:noFill/>
        </p:spPr>
        <p:txBody>
          <a:bodyPr wrap="square">
            <a:spAutoFit/>
          </a:bodyPr>
          <a:lstStyle/>
          <a:p>
            <a:r>
              <a:rPr lang="en-US" sz="1200" b="1" dirty="0" err="1">
                <a:solidFill>
                  <a:srgbClr val="0D0D0D"/>
                </a:solidFill>
                <a:highlight>
                  <a:srgbClr val="53CFA2"/>
                </a:highlight>
                <a:latin typeface="Söhne"/>
              </a:rPr>
              <a:t>Résultats</a:t>
            </a:r>
            <a:r>
              <a:rPr lang="en-US" sz="1200" b="1" dirty="0">
                <a:solidFill>
                  <a:srgbClr val="0D0D0D"/>
                </a:solidFill>
                <a:highlight>
                  <a:srgbClr val="53CFA2"/>
                </a:highlight>
                <a:latin typeface="Söhne"/>
              </a:rPr>
              <a:t> de la </a:t>
            </a:r>
            <a:r>
              <a:rPr lang="en-US" sz="1200" b="1" dirty="0" err="1">
                <a:solidFill>
                  <a:srgbClr val="0D0D0D"/>
                </a:solidFill>
                <a:highlight>
                  <a:srgbClr val="53CFA2"/>
                </a:highlight>
                <a:latin typeface="Söhne"/>
              </a:rPr>
              <a:t>matrice</a:t>
            </a:r>
            <a:r>
              <a:rPr lang="en-US" sz="1200" b="1" dirty="0">
                <a:solidFill>
                  <a:srgbClr val="0D0D0D"/>
                </a:solidFill>
                <a:highlight>
                  <a:srgbClr val="53CFA2"/>
                </a:highlight>
                <a:latin typeface="Söhne"/>
              </a:rPr>
              <a:t> </a:t>
            </a:r>
            <a:r>
              <a:rPr lang="en-US" sz="1200" b="1" dirty="0" err="1">
                <a:solidFill>
                  <a:srgbClr val="0D0D0D"/>
                </a:solidFill>
                <a:highlight>
                  <a:srgbClr val="53CFA2"/>
                </a:highlight>
                <a:latin typeface="Söhne"/>
              </a:rPr>
              <a:t>en</a:t>
            </a:r>
            <a:r>
              <a:rPr lang="en-US" sz="1200" b="1" dirty="0">
                <a:solidFill>
                  <a:srgbClr val="0D0D0D"/>
                </a:solidFill>
                <a:highlight>
                  <a:srgbClr val="53CFA2"/>
                </a:highlight>
                <a:latin typeface="Söhne"/>
              </a:rPr>
              <a:t> sortie avec extract des features</a:t>
            </a:r>
          </a:p>
        </p:txBody>
      </p:sp>
      <p:sp>
        <p:nvSpPr>
          <p:cNvPr id="17" name="ZoneTexte 16">
            <a:extLst>
              <a:ext uri="{FF2B5EF4-FFF2-40B4-BE49-F238E27FC236}">
                <a16:creationId xmlns:a16="http://schemas.microsoft.com/office/drawing/2014/main" id="{7C0932ED-987A-CD77-21E5-9EEB941F3FED}"/>
              </a:ext>
            </a:extLst>
          </p:cNvPr>
          <p:cNvSpPr txBox="1"/>
          <p:nvPr/>
        </p:nvSpPr>
        <p:spPr>
          <a:xfrm>
            <a:off x="147993" y="674539"/>
            <a:ext cx="7614553" cy="307777"/>
          </a:xfrm>
          <a:prstGeom prst="rect">
            <a:avLst/>
          </a:prstGeom>
          <a:noFill/>
        </p:spPr>
        <p:txBody>
          <a:bodyPr wrap="square">
            <a:spAutoFit/>
          </a:bodyPr>
          <a:lstStyle/>
          <a:p>
            <a:pPr algn="l"/>
            <a:r>
              <a:rPr lang="fr-FR" dirty="0">
                <a:solidFill>
                  <a:srgbClr val="271A38"/>
                </a:solidFill>
                <a:latin typeface="Inter"/>
              </a:rPr>
              <a:t>R</a:t>
            </a:r>
            <a:r>
              <a:rPr lang="fr-FR" b="0" i="0" dirty="0">
                <a:solidFill>
                  <a:srgbClr val="271A38"/>
                </a:solidFill>
                <a:effectLst/>
                <a:latin typeface="Inter"/>
              </a:rPr>
              <a:t>éalisation de la chaîne de traitement des images dans un environnement Big Data dans le cloud</a:t>
            </a:r>
          </a:p>
        </p:txBody>
      </p:sp>
      <p:sp>
        <p:nvSpPr>
          <p:cNvPr id="6" name="TextBox 5">
            <a:extLst>
              <a:ext uri="{FF2B5EF4-FFF2-40B4-BE49-F238E27FC236}">
                <a16:creationId xmlns:a16="http://schemas.microsoft.com/office/drawing/2014/main" id="{37A6036D-C56A-67BD-53B8-0200B902EBD3}"/>
              </a:ext>
            </a:extLst>
          </p:cNvPr>
          <p:cNvSpPr txBox="1"/>
          <p:nvPr/>
        </p:nvSpPr>
        <p:spPr>
          <a:xfrm>
            <a:off x="-108286" y="920417"/>
            <a:ext cx="9252286" cy="461665"/>
          </a:xfrm>
          <a:prstGeom prst="rect">
            <a:avLst/>
          </a:prstGeom>
          <a:noFill/>
        </p:spPr>
        <p:txBody>
          <a:bodyPr wrap="square">
            <a:spAutoFit/>
          </a:bodyPr>
          <a:lstStyle/>
          <a:p>
            <a:pPr marL="171450" indent="-171450">
              <a:buFont typeface="Arial" panose="020B0604020202020204" pitchFamily="34" charset="0"/>
              <a:buChar char="•"/>
            </a:pPr>
            <a:r>
              <a:rPr lang="en-US" sz="1200" b="1" dirty="0">
                <a:solidFill>
                  <a:srgbClr val="0D0D0D"/>
                </a:solidFill>
                <a:highlight>
                  <a:srgbClr val="53CFA2"/>
                </a:highlight>
                <a:latin typeface="Söhne"/>
              </a:rPr>
              <a:t>Données images tests “</a:t>
            </a:r>
            <a:r>
              <a:rPr lang="en-US" sz="1200" b="1" dirty="0" err="1">
                <a:solidFill>
                  <a:srgbClr val="0D0D0D"/>
                </a:solidFill>
                <a:highlight>
                  <a:srgbClr val="53CFA2"/>
                </a:highlight>
                <a:latin typeface="Söhne"/>
              </a:rPr>
              <a:t>Test_cloud</a:t>
            </a:r>
            <a:r>
              <a:rPr lang="en-US" sz="1200" b="1" dirty="0">
                <a:solidFill>
                  <a:srgbClr val="0D0D0D"/>
                </a:solidFill>
                <a:highlight>
                  <a:srgbClr val="53CFA2"/>
                </a:highlight>
                <a:latin typeface="Söhne"/>
              </a:rPr>
              <a:t>”, avec 2 categories de fruits </a:t>
            </a:r>
            <a:r>
              <a:rPr lang="en-US" sz="1200" b="1" dirty="0" err="1">
                <a:solidFill>
                  <a:srgbClr val="0D0D0D"/>
                </a:solidFill>
                <a:highlight>
                  <a:srgbClr val="53CFA2"/>
                </a:highlight>
                <a:latin typeface="Söhne"/>
              </a:rPr>
              <a:t>dont</a:t>
            </a:r>
            <a:r>
              <a:rPr lang="en-US" sz="1200" b="1" dirty="0">
                <a:solidFill>
                  <a:srgbClr val="0D0D0D"/>
                </a:solidFill>
                <a:highlight>
                  <a:srgbClr val="53CFA2"/>
                </a:highlight>
                <a:latin typeface="Söhne"/>
              </a:rPr>
              <a:t> </a:t>
            </a:r>
            <a:r>
              <a:rPr lang="en-US" sz="1200" b="1" dirty="0" err="1">
                <a:solidFill>
                  <a:srgbClr val="0D0D0D"/>
                </a:solidFill>
                <a:highlight>
                  <a:srgbClr val="53CFA2"/>
                </a:highlight>
                <a:latin typeface="Söhne"/>
              </a:rPr>
              <a:t>chacune</a:t>
            </a:r>
            <a:r>
              <a:rPr lang="en-US" sz="1200" b="1" dirty="0">
                <a:solidFill>
                  <a:srgbClr val="0D0D0D"/>
                </a:solidFill>
                <a:highlight>
                  <a:srgbClr val="53CFA2"/>
                </a:highlight>
                <a:latin typeface="Söhne"/>
              </a:rPr>
              <a:t> 10 images, </a:t>
            </a:r>
            <a:r>
              <a:rPr lang="en-US" sz="1200" b="1" dirty="0" err="1">
                <a:solidFill>
                  <a:srgbClr val="0D0D0D"/>
                </a:solidFill>
                <a:highlight>
                  <a:srgbClr val="53CFA2"/>
                </a:highlight>
                <a:latin typeface="Söhne"/>
              </a:rPr>
              <a:t>en</a:t>
            </a:r>
            <a:r>
              <a:rPr lang="en-US" sz="1200" b="1" dirty="0">
                <a:solidFill>
                  <a:srgbClr val="0D0D0D"/>
                </a:solidFill>
                <a:highlight>
                  <a:srgbClr val="53CFA2"/>
                </a:highlight>
                <a:latin typeface="Söhne"/>
              </a:rPr>
              <a:t> local </a:t>
            </a:r>
            <a:r>
              <a:rPr lang="en-US" sz="1200" b="1" dirty="0" err="1">
                <a:solidFill>
                  <a:srgbClr val="0D0D0D"/>
                </a:solidFill>
                <a:highlight>
                  <a:srgbClr val="53CFA2"/>
                </a:highlight>
                <a:latin typeface="Söhne"/>
              </a:rPr>
              <a:t>Test_local</a:t>
            </a:r>
            <a:r>
              <a:rPr lang="en-US" sz="1200" b="1" dirty="0">
                <a:solidFill>
                  <a:srgbClr val="0D0D0D"/>
                </a:solidFill>
                <a:highlight>
                  <a:srgbClr val="53CFA2"/>
                </a:highlight>
                <a:latin typeface="Söhne"/>
              </a:rPr>
              <a:t> 11 categories de 10 images </a:t>
            </a:r>
            <a:r>
              <a:rPr lang="en-US" sz="1200" b="1" dirty="0" err="1">
                <a:solidFill>
                  <a:srgbClr val="0D0D0D"/>
                </a:solidFill>
                <a:highlight>
                  <a:srgbClr val="53CFA2"/>
                </a:highlight>
                <a:latin typeface="Söhne"/>
              </a:rPr>
              <a:t>chaque</a:t>
            </a:r>
            <a:endParaRPr lang="en-US" sz="1200" b="1" dirty="0">
              <a:solidFill>
                <a:srgbClr val="0D0D0D"/>
              </a:solidFill>
              <a:highlight>
                <a:srgbClr val="53CFA2"/>
              </a:highlight>
              <a:latin typeface="Söhne"/>
            </a:endParaRPr>
          </a:p>
        </p:txBody>
      </p:sp>
      <p:pic>
        <p:nvPicPr>
          <p:cNvPr id="4" name="Image 3" descr="Une image contenant capture d’écran, texte, logiciel, Page web&#10;&#10;Description générée automatiquement">
            <a:extLst>
              <a:ext uri="{FF2B5EF4-FFF2-40B4-BE49-F238E27FC236}">
                <a16:creationId xmlns:a16="http://schemas.microsoft.com/office/drawing/2014/main" id="{EFCAB068-2F52-5377-FA9D-6BFD2D7FC78E}"/>
              </a:ext>
            </a:extLst>
          </p:cNvPr>
          <p:cNvPicPr>
            <a:picLocks noChangeAspect="1"/>
          </p:cNvPicPr>
          <p:nvPr/>
        </p:nvPicPr>
        <p:blipFill>
          <a:blip r:embed="rId4"/>
          <a:stretch>
            <a:fillRect/>
          </a:stretch>
        </p:blipFill>
        <p:spPr>
          <a:xfrm>
            <a:off x="147993" y="3418536"/>
            <a:ext cx="7772400" cy="1690219"/>
          </a:xfrm>
          <a:prstGeom prst="rect">
            <a:avLst/>
          </a:prstGeom>
        </p:spPr>
      </p:pic>
    </p:spTree>
    <p:extLst>
      <p:ext uri="{BB962C8B-B14F-4D97-AF65-F5344CB8AC3E}">
        <p14:creationId xmlns:p14="http://schemas.microsoft.com/office/powerpoint/2010/main" val="1399190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Une image contenant texte, nombre, Police, logiciel&#10;&#10;Description générée automatiquement">
            <a:extLst>
              <a:ext uri="{FF2B5EF4-FFF2-40B4-BE49-F238E27FC236}">
                <a16:creationId xmlns:a16="http://schemas.microsoft.com/office/drawing/2014/main" id="{8E4F9D2C-DEC1-A505-98D5-AB0EE916CEA8}"/>
              </a:ext>
            </a:extLst>
          </p:cNvPr>
          <p:cNvPicPr>
            <a:picLocks noChangeAspect="1"/>
          </p:cNvPicPr>
          <p:nvPr/>
        </p:nvPicPr>
        <p:blipFill>
          <a:blip r:embed="rId3"/>
          <a:stretch>
            <a:fillRect/>
          </a:stretch>
        </p:blipFill>
        <p:spPr>
          <a:xfrm>
            <a:off x="0" y="1010764"/>
            <a:ext cx="5740400" cy="3121972"/>
          </a:xfrm>
          <a:prstGeom prst="rect">
            <a:avLst/>
          </a:prstGeom>
        </p:spPr>
      </p:pic>
      <p:pic>
        <p:nvPicPr>
          <p:cNvPr id="3" name="Image 2" descr="Une image contenant texte, nombre, Police, logiciel&#10;&#10;Description générée automatiquement">
            <a:extLst>
              <a:ext uri="{FF2B5EF4-FFF2-40B4-BE49-F238E27FC236}">
                <a16:creationId xmlns:a16="http://schemas.microsoft.com/office/drawing/2014/main" id="{A5276434-5261-251F-90BC-6876A0E03559}"/>
              </a:ext>
            </a:extLst>
          </p:cNvPr>
          <p:cNvPicPr>
            <a:picLocks noChangeAspect="1"/>
          </p:cNvPicPr>
          <p:nvPr/>
        </p:nvPicPr>
        <p:blipFill>
          <a:blip r:embed="rId4"/>
          <a:stretch>
            <a:fillRect/>
          </a:stretch>
        </p:blipFill>
        <p:spPr>
          <a:xfrm>
            <a:off x="4572000" y="876300"/>
            <a:ext cx="5740400" cy="4267200"/>
          </a:xfrm>
          <a:prstGeom prst="rect">
            <a:avLst/>
          </a:prstGeom>
        </p:spPr>
      </p:pic>
      <p:sp>
        <p:nvSpPr>
          <p:cNvPr id="8" name="TextBox 5">
            <a:extLst>
              <a:ext uri="{FF2B5EF4-FFF2-40B4-BE49-F238E27FC236}">
                <a16:creationId xmlns:a16="http://schemas.microsoft.com/office/drawing/2014/main" id="{6E652AAB-7504-596A-F8FE-C9F01EA5464B}"/>
              </a:ext>
            </a:extLst>
          </p:cNvPr>
          <p:cNvSpPr txBox="1"/>
          <p:nvPr/>
        </p:nvSpPr>
        <p:spPr>
          <a:xfrm>
            <a:off x="-108286" y="251035"/>
            <a:ext cx="1674327" cy="461665"/>
          </a:xfrm>
          <a:prstGeom prst="rect">
            <a:avLst/>
          </a:prstGeom>
          <a:noFill/>
        </p:spPr>
        <p:txBody>
          <a:bodyPr wrap="square">
            <a:spAutoFit/>
          </a:bodyPr>
          <a:lstStyle/>
          <a:p>
            <a:r>
              <a:rPr lang="en-US" sz="1200" b="1" dirty="0" err="1">
                <a:solidFill>
                  <a:srgbClr val="0D0D0D"/>
                </a:solidFill>
                <a:highlight>
                  <a:srgbClr val="53CFA2"/>
                </a:highlight>
                <a:latin typeface="Söhne"/>
              </a:rPr>
              <a:t>Connexion</a:t>
            </a:r>
            <a:r>
              <a:rPr lang="en-US" sz="1200" b="1" dirty="0">
                <a:solidFill>
                  <a:srgbClr val="0D0D0D"/>
                </a:solidFill>
                <a:highlight>
                  <a:srgbClr val="53CFA2"/>
                </a:highlight>
                <a:latin typeface="Söhne"/>
              </a:rPr>
              <a:t> à la console AWS </a:t>
            </a:r>
            <a:r>
              <a:rPr lang="en-US" sz="1200" b="1" dirty="0" err="1">
                <a:solidFill>
                  <a:srgbClr val="0D0D0D"/>
                </a:solidFill>
                <a:highlight>
                  <a:srgbClr val="53CFA2"/>
                </a:highlight>
                <a:latin typeface="Söhne"/>
              </a:rPr>
              <a:t>cll</a:t>
            </a:r>
            <a:endParaRPr lang="en-US" sz="1200" b="1" dirty="0">
              <a:solidFill>
                <a:srgbClr val="0D0D0D"/>
              </a:solidFill>
              <a:highlight>
                <a:srgbClr val="53CFA2"/>
              </a:highlight>
              <a:latin typeface="Söhne"/>
            </a:endParaRPr>
          </a:p>
        </p:txBody>
      </p:sp>
      <p:sp>
        <p:nvSpPr>
          <p:cNvPr id="9" name="TextBox 5">
            <a:extLst>
              <a:ext uri="{FF2B5EF4-FFF2-40B4-BE49-F238E27FC236}">
                <a16:creationId xmlns:a16="http://schemas.microsoft.com/office/drawing/2014/main" id="{B53BE20E-9EAB-8395-598D-A964C7FA0B46}"/>
              </a:ext>
            </a:extLst>
          </p:cNvPr>
          <p:cNvSpPr txBox="1"/>
          <p:nvPr/>
        </p:nvSpPr>
        <p:spPr>
          <a:xfrm>
            <a:off x="6731876" y="3346231"/>
            <a:ext cx="2412124" cy="646331"/>
          </a:xfrm>
          <a:prstGeom prst="rect">
            <a:avLst/>
          </a:prstGeom>
          <a:noFill/>
        </p:spPr>
        <p:txBody>
          <a:bodyPr wrap="square">
            <a:spAutoFit/>
          </a:bodyPr>
          <a:lstStyle/>
          <a:p>
            <a:r>
              <a:rPr lang="en-US" sz="1200" b="1" dirty="0">
                <a:solidFill>
                  <a:srgbClr val="0D0D0D"/>
                </a:solidFill>
                <a:highlight>
                  <a:srgbClr val="53CFA2"/>
                </a:highlight>
                <a:latin typeface="Söhne"/>
              </a:rPr>
              <a:t>On </a:t>
            </a:r>
            <a:r>
              <a:rPr lang="en-US" sz="1200" b="1" dirty="0" err="1">
                <a:solidFill>
                  <a:srgbClr val="0D0D0D"/>
                </a:solidFill>
                <a:highlight>
                  <a:srgbClr val="53CFA2"/>
                </a:highlight>
                <a:latin typeface="Söhne"/>
              </a:rPr>
              <a:t>récupère</a:t>
            </a:r>
            <a:r>
              <a:rPr lang="en-US" sz="1200" b="1" dirty="0">
                <a:solidFill>
                  <a:srgbClr val="0D0D0D"/>
                </a:solidFill>
                <a:highlight>
                  <a:srgbClr val="53CFA2"/>
                </a:highlight>
                <a:latin typeface="Söhne"/>
              </a:rPr>
              <a:t> le lien </a:t>
            </a:r>
            <a:r>
              <a:rPr lang="en-US" sz="1200" b="1" dirty="0" err="1">
                <a:solidFill>
                  <a:srgbClr val="0D0D0D"/>
                </a:solidFill>
                <a:highlight>
                  <a:srgbClr val="53CFA2"/>
                </a:highlight>
                <a:latin typeface="Söhne"/>
              </a:rPr>
              <a:t>JupyterHub</a:t>
            </a:r>
            <a:r>
              <a:rPr lang="en-US" sz="1200" b="1" dirty="0">
                <a:solidFill>
                  <a:srgbClr val="0D0D0D"/>
                </a:solidFill>
                <a:highlight>
                  <a:srgbClr val="53CFA2"/>
                </a:highlight>
                <a:latin typeface="Söhne"/>
              </a:rPr>
              <a:t> </a:t>
            </a:r>
            <a:r>
              <a:rPr lang="en-US" sz="1200" b="1" dirty="0" err="1">
                <a:solidFill>
                  <a:srgbClr val="0D0D0D"/>
                </a:solidFill>
                <a:highlight>
                  <a:srgbClr val="53CFA2"/>
                </a:highlight>
                <a:latin typeface="Söhne"/>
              </a:rPr>
              <a:t>depuis</a:t>
            </a:r>
            <a:r>
              <a:rPr lang="en-US" sz="1200" b="1" dirty="0">
                <a:solidFill>
                  <a:srgbClr val="0D0D0D"/>
                </a:solidFill>
                <a:highlight>
                  <a:srgbClr val="53CFA2"/>
                </a:highlight>
                <a:latin typeface="Söhne"/>
              </a:rPr>
              <a:t> les </a:t>
            </a:r>
            <a:r>
              <a:rPr lang="en-US" sz="1200" b="1" dirty="0" err="1">
                <a:solidFill>
                  <a:srgbClr val="0D0D0D"/>
                </a:solidFill>
                <a:highlight>
                  <a:srgbClr val="53CFA2"/>
                </a:highlight>
                <a:latin typeface="Söhne"/>
              </a:rPr>
              <a:t>informations</a:t>
            </a:r>
            <a:r>
              <a:rPr lang="en-US" sz="1200" b="1" dirty="0">
                <a:solidFill>
                  <a:srgbClr val="0D0D0D"/>
                </a:solidFill>
                <a:highlight>
                  <a:srgbClr val="53CFA2"/>
                </a:highlight>
                <a:latin typeface="Söhne"/>
              </a:rPr>
              <a:t> de </a:t>
            </a:r>
            <a:r>
              <a:rPr lang="en-US" sz="1200" b="1" dirty="0" err="1">
                <a:solidFill>
                  <a:srgbClr val="0D0D0D"/>
                </a:solidFill>
                <a:highlight>
                  <a:srgbClr val="53CFA2"/>
                </a:highlight>
                <a:latin typeface="Söhne"/>
              </a:rPr>
              <a:t>notre</a:t>
            </a:r>
            <a:r>
              <a:rPr lang="en-US" sz="1200" b="1" dirty="0">
                <a:solidFill>
                  <a:srgbClr val="0D0D0D"/>
                </a:solidFill>
                <a:highlight>
                  <a:srgbClr val="53CFA2"/>
                </a:highlight>
                <a:latin typeface="Söhne"/>
              </a:rPr>
              <a:t> EMR</a:t>
            </a:r>
          </a:p>
        </p:txBody>
      </p:sp>
      <p:sp>
        <p:nvSpPr>
          <p:cNvPr id="10" name="Rectangle 9">
            <a:extLst>
              <a:ext uri="{FF2B5EF4-FFF2-40B4-BE49-F238E27FC236}">
                <a16:creationId xmlns:a16="http://schemas.microsoft.com/office/drawing/2014/main" id="{6FAD07A3-6C68-A258-4038-17E40BC75E74}"/>
              </a:ext>
            </a:extLst>
          </p:cNvPr>
          <p:cNvSpPr/>
          <p:nvPr/>
        </p:nvSpPr>
        <p:spPr>
          <a:xfrm flipH="1">
            <a:off x="4750675" y="4020672"/>
            <a:ext cx="4393323" cy="456736"/>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oogle Shape;411;p43">
            <a:extLst>
              <a:ext uri="{FF2B5EF4-FFF2-40B4-BE49-F238E27FC236}">
                <a16:creationId xmlns:a16="http://schemas.microsoft.com/office/drawing/2014/main" id="{7B31D392-946D-CDFB-16AB-6D08B6EBD8EF}"/>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
        <p:nvSpPr>
          <p:cNvPr id="12" name="Title 1">
            <a:extLst>
              <a:ext uri="{FF2B5EF4-FFF2-40B4-BE49-F238E27FC236}">
                <a16:creationId xmlns:a16="http://schemas.microsoft.com/office/drawing/2014/main" id="{70459270-24FC-7C6B-2D68-7DA3273917CF}"/>
              </a:ext>
            </a:extLst>
          </p:cNvPr>
          <p:cNvSpPr>
            <a:spLocks noGrp="1"/>
          </p:cNvSpPr>
          <p:nvPr>
            <p:ph type="title"/>
          </p:nvPr>
        </p:nvSpPr>
        <p:spPr>
          <a:xfrm>
            <a:off x="439254" y="-6282"/>
            <a:ext cx="7704000" cy="572700"/>
          </a:xfrm>
        </p:spPr>
        <p:txBody>
          <a:bodyPr/>
          <a:lstStyle/>
          <a:p>
            <a:r>
              <a:rPr lang="en-US" sz="2400" b="1" dirty="0" err="1">
                <a:latin typeface="-apple-system"/>
                <a:sym typeface="Arial"/>
              </a:rPr>
              <a:t>Création</a:t>
            </a:r>
            <a:r>
              <a:rPr lang="en-US" sz="2400" b="1" dirty="0">
                <a:latin typeface="-apple-system"/>
                <a:sym typeface="Arial"/>
              </a:rPr>
              <a:t> de </a:t>
            </a:r>
            <a:r>
              <a:rPr lang="en-US" sz="2400" b="1" dirty="0" err="1">
                <a:latin typeface="-apple-system"/>
                <a:sym typeface="Arial"/>
              </a:rPr>
              <a:t>l’EMR</a:t>
            </a:r>
            <a:endParaRPr lang="en-US" sz="2400" b="1" dirty="0">
              <a:latin typeface="-apple-system"/>
            </a:endParaRPr>
          </a:p>
        </p:txBody>
      </p:sp>
    </p:spTree>
    <p:extLst>
      <p:ext uri="{BB962C8B-B14F-4D97-AF65-F5344CB8AC3E}">
        <p14:creationId xmlns:p14="http://schemas.microsoft.com/office/powerpoint/2010/main" val="27297492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capture d’écran, Police, nombre&#10;&#10;Description générée automatiquement">
            <a:extLst>
              <a:ext uri="{FF2B5EF4-FFF2-40B4-BE49-F238E27FC236}">
                <a16:creationId xmlns:a16="http://schemas.microsoft.com/office/drawing/2014/main" id="{A055BA6D-D180-F32E-74E6-B882537BB693}"/>
              </a:ext>
            </a:extLst>
          </p:cNvPr>
          <p:cNvPicPr>
            <a:picLocks noChangeAspect="1"/>
          </p:cNvPicPr>
          <p:nvPr/>
        </p:nvPicPr>
        <p:blipFill>
          <a:blip r:embed="rId2"/>
          <a:stretch>
            <a:fillRect/>
          </a:stretch>
        </p:blipFill>
        <p:spPr>
          <a:xfrm>
            <a:off x="1765891" y="900954"/>
            <a:ext cx="5275964" cy="3167420"/>
          </a:xfrm>
          <a:prstGeom prst="rect">
            <a:avLst/>
          </a:prstGeom>
        </p:spPr>
      </p:pic>
      <p:sp>
        <p:nvSpPr>
          <p:cNvPr id="4" name="ZoneTexte 3">
            <a:extLst>
              <a:ext uri="{FF2B5EF4-FFF2-40B4-BE49-F238E27FC236}">
                <a16:creationId xmlns:a16="http://schemas.microsoft.com/office/drawing/2014/main" id="{F3BFA5F4-9CE7-A345-4158-DED302118C9A}"/>
              </a:ext>
            </a:extLst>
          </p:cNvPr>
          <p:cNvSpPr txBox="1"/>
          <p:nvPr/>
        </p:nvSpPr>
        <p:spPr>
          <a:xfrm>
            <a:off x="291067" y="355353"/>
            <a:ext cx="8225612" cy="307777"/>
          </a:xfrm>
          <a:prstGeom prst="rect">
            <a:avLst/>
          </a:prstGeom>
          <a:noFill/>
        </p:spPr>
        <p:txBody>
          <a:bodyPr wrap="square">
            <a:spAutoFit/>
          </a:bodyPr>
          <a:lstStyle/>
          <a:p>
            <a:r>
              <a:rPr lang="fr-FR" b="1" dirty="0"/>
              <a:t>Lancement du </a:t>
            </a:r>
            <a:r>
              <a:rPr lang="fr-FR" b="1" dirty="0" err="1"/>
              <a:t>JupyterHub</a:t>
            </a:r>
            <a:r>
              <a:rPr lang="fr-FR" b="1" dirty="0"/>
              <a:t> installé sur EMR</a:t>
            </a:r>
            <a:r>
              <a:rPr lang="fr-FR" dirty="0"/>
              <a:t> avec le kernel </a:t>
            </a:r>
            <a:r>
              <a:rPr lang="fr-FR" dirty="0" err="1"/>
              <a:t>pyspark</a:t>
            </a:r>
            <a:endParaRPr lang="fr-FR" dirty="0"/>
          </a:p>
        </p:txBody>
      </p:sp>
      <p:sp>
        <p:nvSpPr>
          <p:cNvPr id="6" name="ZoneTexte 5">
            <a:extLst>
              <a:ext uri="{FF2B5EF4-FFF2-40B4-BE49-F238E27FC236}">
                <a16:creationId xmlns:a16="http://schemas.microsoft.com/office/drawing/2014/main" id="{90E6034F-9829-F7E7-3DB8-641C36CC062D}"/>
              </a:ext>
            </a:extLst>
          </p:cNvPr>
          <p:cNvSpPr txBox="1"/>
          <p:nvPr/>
        </p:nvSpPr>
        <p:spPr>
          <a:xfrm>
            <a:off x="291067" y="4308758"/>
            <a:ext cx="8493704" cy="738664"/>
          </a:xfrm>
          <a:prstGeom prst="rect">
            <a:avLst/>
          </a:prstGeom>
          <a:noFill/>
        </p:spPr>
        <p:txBody>
          <a:bodyPr wrap="square">
            <a:spAutoFit/>
          </a:bodyPr>
          <a:lstStyle/>
          <a:p>
            <a:r>
              <a:rPr lang="fr-FR" b="1" dirty="0" err="1"/>
              <a:t>FoxyProxy</a:t>
            </a:r>
            <a:r>
              <a:rPr lang="fr-FR" dirty="0"/>
              <a:t> : </a:t>
            </a:r>
            <a:r>
              <a:rPr lang="fr-FR" b="1" dirty="0"/>
              <a:t>outil intermédiaire</a:t>
            </a:r>
            <a:r>
              <a:rPr lang="fr-FR" dirty="0"/>
              <a:t> pour faciliter l'accès à l'interface web de </a:t>
            </a:r>
            <a:r>
              <a:rPr lang="fr-FR" dirty="0" err="1"/>
              <a:t>JupyterHub</a:t>
            </a:r>
            <a:r>
              <a:rPr lang="fr-FR" dirty="0"/>
              <a:t>, permet de configurer un proxy (comme un tunnel SSH) pour accéder aux applications qui sont </a:t>
            </a:r>
            <a:r>
              <a:rPr lang="fr-FR" b="1" dirty="0"/>
              <a:t>hébergées sur une machine distante</a:t>
            </a:r>
            <a:r>
              <a:rPr lang="fr-FR" dirty="0"/>
              <a:t> (ici l'instance EMR maître).</a:t>
            </a:r>
          </a:p>
        </p:txBody>
      </p:sp>
      <p:sp>
        <p:nvSpPr>
          <p:cNvPr id="5" name="Rectangle 4">
            <a:extLst>
              <a:ext uri="{FF2B5EF4-FFF2-40B4-BE49-F238E27FC236}">
                <a16:creationId xmlns:a16="http://schemas.microsoft.com/office/drawing/2014/main" id="{BD1BE8E1-3FD3-F99A-B50B-119418E55028}"/>
              </a:ext>
            </a:extLst>
          </p:cNvPr>
          <p:cNvSpPr/>
          <p:nvPr/>
        </p:nvSpPr>
        <p:spPr>
          <a:xfrm flipH="1">
            <a:off x="5833240" y="3116782"/>
            <a:ext cx="1324302" cy="456736"/>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411;p43">
            <a:extLst>
              <a:ext uri="{FF2B5EF4-FFF2-40B4-BE49-F238E27FC236}">
                <a16:creationId xmlns:a16="http://schemas.microsoft.com/office/drawing/2014/main" id="{C08C39C0-C395-0CD5-95BB-F3CC20BAF3F3}"/>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Tree>
    <p:extLst>
      <p:ext uri="{BB962C8B-B14F-4D97-AF65-F5344CB8AC3E}">
        <p14:creationId xmlns:p14="http://schemas.microsoft.com/office/powerpoint/2010/main" val="3723538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capture d’écran, Police, Page web&#10;&#10;Description générée automatiquement">
            <a:extLst>
              <a:ext uri="{FF2B5EF4-FFF2-40B4-BE49-F238E27FC236}">
                <a16:creationId xmlns:a16="http://schemas.microsoft.com/office/drawing/2014/main" id="{8EDAF22D-EFEC-BDC8-764A-6B8D9B1B929A}"/>
              </a:ext>
            </a:extLst>
          </p:cNvPr>
          <p:cNvPicPr>
            <a:picLocks noChangeAspect="1"/>
          </p:cNvPicPr>
          <p:nvPr/>
        </p:nvPicPr>
        <p:blipFill>
          <a:blip r:embed="rId2"/>
          <a:srcRect l="12256"/>
          <a:stretch/>
        </p:blipFill>
        <p:spPr>
          <a:xfrm>
            <a:off x="5250935" y="1210661"/>
            <a:ext cx="3233095" cy="3871748"/>
          </a:xfrm>
          <a:prstGeom prst="rect">
            <a:avLst/>
          </a:prstGeom>
        </p:spPr>
      </p:pic>
      <p:pic>
        <p:nvPicPr>
          <p:cNvPr id="5" name="Image 4" descr="Une image contenant texte, logiciel, Page web, Site web&#10;&#10;Description générée automatiquement">
            <a:extLst>
              <a:ext uri="{FF2B5EF4-FFF2-40B4-BE49-F238E27FC236}">
                <a16:creationId xmlns:a16="http://schemas.microsoft.com/office/drawing/2014/main" id="{3A2D66FB-FE16-F575-1B0C-9E3D00DA997E}"/>
              </a:ext>
            </a:extLst>
          </p:cNvPr>
          <p:cNvPicPr>
            <a:picLocks noChangeAspect="1"/>
          </p:cNvPicPr>
          <p:nvPr/>
        </p:nvPicPr>
        <p:blipFill>
          <a:blip r:embed="rId3"/>
          <a:stretch>
            <a:fillRect/>
          </a:stretch>
        </p:blipFill>
        <p:spPr>
          <a:xfrm>
            <a:off x="506678" y="1271752"/>
            <a:ext cx="4403084" cy="3265494"/>
          </a:xfrm>
          <a:prstGeom prst="rect">
            <a:avLst/>
          </a:prstGeom>
        </p:spPr>
      </p:pic>
      <p:sp>
        <p:nvSpPr>
          <p:cNvPr id="8" name="TextBox 5">
            <a:extLst>
              <a:ext uri="{FF2B5EF4-FFF2-40B4-BE49-F238E27FC236}">
                <a16:creationId xmlns:a16="http://schemas.microsoft.com/office/drawing/2014/main" id="{7C763255-30C1-BFEE-8462-0FE6FA63CCE6}"/>
              </a:ext>
            </a:extLst>
          </p:cNvPr>
          <p:cNvSpPr txBox="1"/>
          <p:nvPr/>
        </p:nvSpPr>
        <p:spPr>
          <a:xfrm>
            <a:off x="683173" y="467754"/>
            <a:ext cx="8284957" cy="276999"/>
          </a:xfrm>
          <a:prstGeom prst="rect">
            <a:avLst/>
          </a:prstGeom>
          <a:noFill/>
        </p:spPr>
        <p:txBody>
          <a:bodyPr wrap="square">
            <a:spAutoFit/>
          </a:bodyPr>
          <a:lstStyle/>
          <a:p>
            <a:r>
              <a:rPr lang="en-US" sz="1200" b="1" dirty="0">
                <a:solidFill>
                  <a:srgbClr val="0D0D0D"/>
                </a:solidFill>
                <a:highlight>
                  <a:srgbClr val="53CFA2"/>
                </a:highlight>
                <a:latin typeface="Söhne"/>
              </a:rPr>
              <a:t>Execution du </a:t>
            </a:r>
            <a:r>
              <a:rPr lang="en-US" sz="1200" b="1" dirty="0" err="1">
                <a:solidFill>
                  <a:srgbClr val="0D0D0D"/>
                </a:solidFill>
                <a:highlight>
                  <a:srgbClr val="53CFA2"/>
                </a:highlight>
                <a:latin typeface="Söhne"/>
              </a:rPr>
              <a:t>Jupyter</a:t>
            </a:r>
            <a:r>
              <a:rPr lang="en-US" sz="1200" b="1" dirty="0">
                <a:solidFill>
                  <a:srgbClr val="0D0D0D"/>
                </a:solidFill>
                <a:highlight>
                  <a:srgbClr val="53CFA2"/>
                </a:highlight>
                <a:latin typeface="Söhne"/>
              </a:rPr>
              <a:t> sur EMR </a:t>
            </a:r>
            <a:r>
              <a:rPr lang="en-US" sz="1200" b="1" dirty="0" err="1">
                <a:solidFill>
                  <a:srgbClr val="0D0D0D"/>
                </a:solidFill>
                <a:highlight>
                  <a:srgbClr val="53CFA2"/>
                </a:highlight>
                <a:latin typeface="Söhne"/>
              </a:rPr>
              <a:t>depuis</a:t>
            </a:r>
            <a:r>
              <a:rPr lang="en-US" sz="1200" b="1" dirty="0">
                <a:solidFill>
                  <a:srgbClr val="0D0D0D"/>
                </a:solidFill>
                <a:highlight>
                  <a:srgbClr val="53CFA2"/>
                </a:highlight>
                <a:latin typeface="Söhne"/>
              </a:rPr>
              <a:t> le </a:t>
            </a:r>
            <a:r>
              <a:rPr lang="en-US" sz="1200" b="1" dirty="0" err="1">
                <a:solidFill>
                  <a:srgbClr val="0D0D0D"/>
                </a:solidFill>
                <a:highlight>
                  <a:srgbClr val="53CFA2"/>
                </a:highlight>
                <a:latin typeface="Söhne"/>
              </a:rPr>
              <a:t>navigateur</a:t>
            </a:r>
            <a:r>
              <a:rPr lang="en-US" sz="1200" b="1" dirty="0">
                <a:solidFill>
                  <a:srgbClr val="0D0D0D"/>
                </a:solidFill>
                <a:highlight>
                  <a:srgbClr val="53CFA2"/>
                </a:highlight>
                <a:latin typeface="Söhne"/>
              </a:rPr>
              <a:t> Firefox sur </a:t>
            </a:r>
            <a:r>
              <a:rPr lang="en-US" sz="1200" b="1" dirty="0" err="1">
                <a:solidFill>
                  <a:srgbClr val="0D0D0D"/>
                </a:solidFill>
                <a:highlight>
                  <a:srgbClr val="53CFA2"/>
                </a:highlight>
                <a:latin typeface="Söhne"/>
              </a:rPr>
              <a:t>mac,grâce</a:t>
            </a:r>
            <a:r>
              <a:rPr lang="en-US" sz="1200" b="1" dirty="0">
                <a:solidFill>
                  <a:srgbClr val="0D0D0D"/>
                </a:solidFill>
                <a:highlight>
                  <a:srgbClr val="53CFA2"/>
                </a:highlight>
                <a:latin typeface="Söhne"/>
              </a:rPr>
              <a:t> à Foxy Proxy et </a:t>
            </a:r>
            <a:r>
              <a:rPr lang="en-US" sz="1200" b="1" dirty="0" err="1">
                <a:solidFill>
                  <a:srgbClr val="0D0D0D"/>
                </a:solidFill>
                <a:highlight>
                  <a:srgbClr val="53CFA2"/>
                </a:highlight>
                <a:latin typeface="Söhne"/>
              </a:rPr>
              <a:t>JupyterHub</a:t>
            </a:r>
            <a:endParaRPr lang="en-US" sz="1200" b="1" dirty="0">
              <a:solidFill>
                <a:srgbClr val="0D0D0D"/>
              </a:solidFill>
              <a:highlight>
                <a:srgbClr val="53CFA2"/>
              </a:highlight>
              <a:latin typeface="Söhne"/>
            </a:endParaRPr>
          </a:p>
        </p:txBody>
      </p:sp>
      <p:sp>
        <p:nvSpPr>
          <p:cNvPr id="9" name="Google Shape;411;p43">
            <a:extLst>
              <a:ext uri="{FF2B5EF4-FFF2-40B4-BE49-F238E27FC236}">
                <a16:creationId xmlns:a16="http://schemas.microsoft.com/office/drawing/2014/main" id="{642AB292-6473-326A-E215-C837D524564B}"/>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Tree>
    <p:extLst>
      <p:ext uri="{BB962C8B-B14F-4D97-AF65-F5344CB8AC3E}">
        <p14:creationId xmlns:p14="http://schemas.microsoft.com/office/powerpoint/2010/main" val="2448486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78FC88-A3C8-D7BC-2500-6C97F2C4BDF3}"/>
              </a:ext>
            </a:extLst>
          </p:cNvPr>
          <p:cNvSpPr>
            <a:spLocks noGrp="1"/>
          </p:cNvSpPr>
          <p:nvPr>
            <p:ph type="title"/>
          </p:nvPr>
        </p:nvSpPr>
        <p:spPr/>
        <p:txBody>
          <a:bodyPr/>
          <a:lstStyle/>
          <a:p>
            <a:r>
              <a:rPr lang="fr-FR" dirty="0"/>
              <a:t>Sparks UI</a:t>
            </a:r>
          </a:p>
        </p:txBody>
      </p:sp>
      <p:pic>
        <p:nvPicPr>
          <p:cNvPr id="3" name="Image 2" descr="Une image contenant capture d’écran, texte, ligne, Tracé&#10;&#10;Description générée automatiquement">
            <a:extLst>
              <a:ext uri="{FF2B5EF4-FFF2-40B4-BE49-F238E27FC236}">
                <a16:creationId xmlns:a16="http://schemas.microsoft.com/office/drawing/2014/main" id="{D81B5E1E-B884-E46E-223B-7B0557DBADD8}"/>
              </a:ext>
            </a:extLst>
          </p:cNvPr>
          <p:cNvPicPr>
            <a:picLocks noChangeAspect="1"/>
          </p:cNvPicPr>
          <p:nvPr/>
        </p:nvPicPr>
        <p:blipFill>
          <a:blip r:embed="rId2"/>
          <a:stretch>
            <a:fillRect/>
          </a:stretch>
        </p:blipFill>
        <p:spPr>
          <a:xfrm>
            <a:off x="167432" y="1122829"/>
            <a:ext cx="8367702" cy="3680750"/>
          </a:xfrm>
          <a:prstGeom prst="rect">
            <a:avLst/>
          </a:prstGeom>
        </p:spPr>
      </p:pic>
      <p:sp>
        <p:nvSpPr>
          <p:cNvPr id="4" name="Rectangle 3">
            <a:extLst>
              <a:ext uri="{FF2B5EF4-FFF2-40B4-BE49-F238E27FC236}">
                <a16:creationId xmlns:a16="http://schemas.microsoft.com/office/drawing/2014/main" id="{8DA0642B-FBFF-758D-A898-4773CB5AADA4}"/>
              </a:ext>
            </a:extLst>
          </p:cNvPr>
          <p:cNvSpPr/>
          <p:nvPr/>
        </p:nvSpPr>
        <p:spPr>
          <a:xfrm flipH="1">
            <a:off x="4267198" y="4020672"/>
            <a:ext cx="672663" cy="456736"/>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5">
            <a:extLst>
              <a:ext uri="{FF2B5EF4-FFF2-40B4-BE49-F238E27FC236}">
                <a16:creationId xmlns:a16="http://schemas.microsoft.com/office/drawing/2014/main" id="{97DCB1AD-43F6-BC09-41EA-84FA01639DE4}"/>
              </a:ext>
            </a:extLst>
          </p:cNvPr>
          <p:cNvSpPr txBox="1"/>
          <p:nvPr/>
        </p:nvSpPr>
        <p:spPr>
          <a:xfrm>
            <a:off x="4939861" y="4631684"/>
            <a:ext cx="1849821" cy="276999"/>
          </a:xfrm>
          <a:prstGeom prst="rect">
            <a:avLst/>
          </a:prstGeom>
          <a:noFill/>
        </p:spPr>
        <p:txBody>
          <a:bodyPr wrap="square">
            <a:spAutoFit/>
          </a:bodyPr>
          <a:lstStyle/>
          <a:p>
            <a:r>
              <a:rPr lang="en-US" sz="1200" b="1" dirty="0">
                <a:solidFill>
                  <a:srgbClr val="0D0D0D"/>
                </a:solidFill>
                <a:highlight>
                  <a:srgbClr val="53CFA2"/>
                </a:highlight>
                <a:latin typeface="Söhne"/>
              </a:rPr>
              <a:t>Temps </a:t>
            </a:r>
            <a:r>
              <a:rPr lang="en-US" sz="1200" b="1" dirty="0" err="1">
                <a:solidFill>
                  <a:srgbClr val="0D0D0D"/>
                </a:solidFill>
                <a:highlight>
                  <a:srgbClr val="53CFA2"/>
                </a:highlight>
                <a:latin typeface="Söhne"/>
              </a:rPr>
              <a:t>d’execution</a:t>
            </a:r>
            <a:r>
              <a:rPr lang="en-US" sz="1200" b="1" dirty="0">
                <a:solidFill>
                  <a:srgbClr val="0D0D0D"/>
                </a:solidFill>
                <a:highlight>
                  <a:srgbClr val="53CFA2"/>
                </a:highlight>
                <a:latin typeface="Söhne"/>
              </a:rPr>
              <a:t> 41 sec</a:t>
            </a:r>
          </a:p>
        </p:txBody>
      </p:sp>
      <p:sp>
        <p:nvSpPr>
          <p:cNvPr id="6" name="Google Shape;411;p43">
            <a:extLst>
              <a:ext uri="{FF2B5EF4-FFF2-40B4-BE49-F238E27FC236}">
                <a16:creationId xmlns:a16="http://schemas.microsoft.com/office/drawing/2014/main" id="{71379783-2377-EDB3-985B-D2D230B4E4D4}"/>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Tree>
    <p:extLst>
      <p:ext uri="{BB962C8B-B14F-4D97-AF65-F5344CB8AC3E}">
        <p14:creationId xmlns:p14="http://schemas.microsoft.com/office/powerpoint/2010/main" val="3203554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texte, document, menu, capture d’écran&#10;&#10;Description générée automatiquement">
            <a:extLst>
              <a:ext uri="{FF2B5EF4-FFF2-40B4-BE49-F238E27FC236}">
                <a16:creationId xmlns:a16="http://schemas.microsoft.com/office/drawing/2014/main" id="{3DA6CA11-1FE7-8438-EF1E-F2BFCA2A9F94}"/>
              </a:ext>
            </a:extLst>
          </p:cNvPr>
          <p:cNvPicPr>
            <a:picLocks noChangeAspect="1"/>
          </p:cNvPicPr>
          <p:nvPr/>
        </p:nvPicPr>
        <p:blipFill>
          <a:blip r:embed="rId3"/>
          <a:stretch>
            <a:fillRect/>
          </a:stretch>
        </p:blipFill>
        <p:spPr>
          <a:xfrm>
            <a:off x="367862" y="536464"/>
            <a:ext cx="3561056" cy="4517266"/>
          </a:xfrm>
          <a:prstGeom prst="rect">
            <a:avLst/>
          </a:prstGeom>
        </p:spPr>
      </p:pic>
      <p:pic>
        <p:nvPicPr>
          <p:cNvPr id="6" name="Image 5" descr="Une image contenant texte, capture d’écran, document, Police&#10;&#10;Description générée automatiquement">
            <a:extLst>
              <a:ext uri="{FF2B5EF4-FFF2-40B4-BE49-F238E27FC236}">
                <a16:creationId xmlns:a16="http://schemas.microsoft.com/office/drawing/2014/main" id="{99AF7E41-2BCF-EE63-3B4C-A2D1CB7A2510}"/>
              </a:ext>
            </a:extLst>
          </p:cNvPr>
          <p:cNvPicPr>
            <a:picLocks noChangeAspect="1"/>
          </p:cNvPicPr>
          <p:nvPr/>
        </p:nvPicPr>
        <p:blipFill>
          <a:blip r:embed="rId4"/>
          <a:srcRect l="3440"/>
          <a:stretch/>
        </p:blipFill>
        <p:spPr>
          <a:xfrm>
            <a:off x="4382814" y="780929"/>
            <a:ext cx="2950102" cy="4355292"/>
          </a:xfrm>
          <a:prstGeom prst="rect">
            <a:avLst/>
          </a:prstGeom>
        </p:spPr>
      </p:pic>
      <p:sp>
        <p:nvSpPr>
          <p:cNvPr id="7" name="TextBox 5">
            <a:extLst>
              <a:ext uri="{FF2B5EF4-FFF2-40B4-BE49-F238E27FC236}">
                <a16:creationId xmlns:a16="http://schemas.microsoft.com/office/drawing/2014/main" id="{98A4AB03-75BE-3CF9-B095-F56AF9F4D055}"/>
              </a:ext>
            </a:extLst>
          </p:cNvPr>
          <p:cNvSpPr txBox="1"/>
          <p:nvPr/>
        </p:nvSpPr>
        <p:spPr>
          <a:xfrm>
            <a:off x="0" y="259465"/>
            <a:ext cx="8284957" cy="276999"/>
          </a:xfrm>
          <a:prstGeom prst="rect">
            <a:avLst/>
          </a:prstGeom>
          <a:noFill/>
        </p:spPr>
        <p:txBody>
          <a:bodyPr wrap="square">
            <a:spAutoFit/>
          </a:bodyPr>
          <a:lstStyle/>
          <a:p>
            <a:r>
              <a:rPr lang="en-US" sz="1200" b="1" dirty="0">
                <a:solidFill>
                  <a:srgbClr val="0D0D0D"/>
                </a:solidFill>
                <a:highlight>
                  <a:srgbClr val="53CFA2"/>
                </a:highlight>
                <a:latin typeface="Söhne"/>
              </a:rPr>
              <a:t>Arborescence du bucket fruits-p8-oc</a:t>
            </a:r>
          </a:p>
        </p:txBody>
      </p:sp>
      <p:sp>
        <p:nvSpPr>
          <p:cNvPr id="8" name="ZoneTexte 7">
            <a:extLst>
              <a:ext uri="{FF2B5EF4-FFF2-40B4-BE49-F238E27FC236}">
                <a16:creationId xmlns:a16="http://schemas.microsoft.com/office/drawing/2014/main" id="{67D822AB-781E-982D-A4DB-A1BBF22AEE3E}"/>
              </a:ext>
            </a:extLst>
          </p:cNvPr>
          <p:cNvSpPr txBox="1"/>
          <p:nvPr/>
        </p:nvSpPr>
        <p:spPr>
          <a:xfrm>
            <a:off x="2718678" y="486709"/>
            <a:ext cx="8225612" cy="738664"/>
          </a:xfrm>
          <a:prstGeom prst="rect">
            <a:avLst/>
          </a:prstGeom>
          <a:noFill/>
        </p:spPr>
        <p:txBody>
          <a:bodyPr wrap="square">
            <a:spAutoFit/>
          </a:bodyPr>
          <a:lstStyle/>
          <a:p>
            <a:r>
              <a:rPr lang="fr-FR" b="1" dirty="0"/>
              <a:t>sur le </a:t>
            </a:r>
            <a:r>
              <a:rPr lang="fr-FR" b="1" dirty="0" err="1"/>
              <a:t>bucket</a:t>
            </a:r>
            <a:r>
              <a:rPr lang="fr-FR" b="1" dirty="0"/>
              <a:t> S3 on retrouve bien nos 11 catégories et 10 images</a:t>
            </a:r>
          </a:p>
          <a:p>
            <a:r>
              <a:rPr lang="fr-FR" b="1" dirty="0"/>
              <a:t>Le dossier </a:t>
            </a:r>
            <a:r>
              <a:rPr lang="fr-FR" b="1" dirty="0" err="1"/>
              <a:t>Results</a:t>
            </a:r>
            <a:r>
              <a:rPr lang="fr-FR" b="1" dirty="0"/>
              <a:t> pour le notebook exécuté en local et le dossier </a:t>
            </a:r>
          </a:p>
          <a:p>
            <a:r>
              <a:rPr lang="fr-FR" b="1" dirty="0" err="1"/>
              <a:t>Ouput_cloud</a:t>
            </a:r>
            <a:r>
              <a:rPr lang="fr-FR" b="1" dirty="0"/>
              <a:t> pour le notebook </a:t>
            </a:r>
            <a:r>
              <a:rPr lang="fr-FR" b="1" dirty="0" err="1"/>
              <a:t>executé</a:t>
            </a:r>
            <a:r>
              <a:rPr lang="fr-FR" b="1" dirty="0"/>
              <a:t> depuis l’EMR</a:t>
            </a:r>
            <a:endParaRPr lang="fr-FR" dirty="0"/>
          </a:p>
        </p:txBody>
      </p:sp>
      <p:sp>
        <p:nvSpPr>
          <p:cNvPr id="9" name="Google Shape;411;p43">
            <a:extLst>
              <a:ext uri="{FF2B5EF4-FFF2-40B4-BE49-F238E27FC236}">
                <a16:creationId xmlns:a16="http://schemas.microsoft.com/office/drawing/2014/main" id="{5A9C132A-FFE6-FA4B-2C5A-F5A19E903660}"/>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Tree>
    <p:extLst>
      <p:ext uri="{BB962C8B-B14F-4D97-AF65-F5344CB8AC3E}">
        <p14:creationId xmlns:p14="http://schemas.microsoft.com/office/powerpoint/2010/main" val="434132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point, texte, motif&#10;&#10;Description générée automatiquement">
            <a:extLst>
              <a:ext uri="{FF2B5EF4-FFF2-40B4-BE49-F238E27FC236}">
                <a16:creationId xmlns:a16="http://schemas.microsoft.com/office/drawing/2014/main" id="{93F493CE-4147-D4C6-C99D-A391FE55DF4F}"/>
              </a:ext>
            </a:extLst>
          </p:cNvPr>
          <p:cNvPicPr>
            <a:picLocks noChangeAspect="1"/>
          </p:cNvPicPr>
          <p:nvPr/>
        </p:nvPicPr>
        <p:blipFill>
          <a:blip r:embed="rId2"/>
          <a:stretch>
            <a:fillRect/>
          </a:stretch>
        </p:blipFill>
        <p:spPr>
          <a:xfrm>
            <a:off x="5538815" y="0"/>
            <a:ext cx="3447665" cy="5143500"/>
          </a:xfrm>
          <a:prstGeom prst="rect">
            <a:avLst/>
          </a:prstGeom>
        </p:spPr>
      </p:pic>
      <p:sp>
        <p:nvSpPr>
          <p:cNvPr id="4" name="TextBox 5">
            <a:extLst>
              <a:ext uri="{FF2B5EF4-FFF2-40B4-BE49-F238E27FC236}">
                <a16:creationId xmlns:a16="http://schemas.microsoft.com/office/drawing/2014/main" id="{D2288F34-6A28-E456-86A3-856F43CAC748}"/>
              </a:ext>
            </a:extLst>
          </p:cNvPr>
          <p:cNvSpPr txBox="1"/>
          <p:nvPr/>
        </p:nvSpPr>
        <p:spPr>
          <a:xfrm>
            <a:off x="6568965" y="2954676"/>
            <a:ext cx="8284957" cy="276999"/>
          </a:xfrm>
          <a:prstGeom prst="rect">
            <a:avLst/>
          </a:prstGeom>
          <a:noFill/>
        </p:spPr>
        <p:txBody>
          <a:bodyPr wrap="square">
            <a:spAutoFit/>
          </a:bodyPr>
          <a:lstStyle/>
          <a:p>
            <a:r>
              <a:rPr lang="en-US" sz="1200" b="1" dirty="0">
                <a:solidFill>
                  <a:srgbClr val="0D0D0D"/>
                </a:solidFill>
                <a:highlight>
                  <a:srgbClr val="53CFA2"/>
                </a:highlight>
                <a:latin typeface="Söhne"/>
              </a:rPr>
              <a:t>Aperçu de </a:t>
            </a:r>
            <a:r>
              <a:rPr lang="en-US" sz="1200" b="1" dirty="0" err="1">
                <a:solidFill>
                  <a:srgbClr val="0D0D0D"/>
                </a:solidFill>
                <a:highlight>
                  <a:srgbClr val="53CFA2"/>
                </a:highlight>
                <a:latin typeface="Söhne"/>
              </a:rPr>
              <a:t>l’arborescence</a:t>
            </a:r>
            <a:r>
              <a:rPr lang="en-US" sz="1200" b="1" dirty="0">
                <a:solidFill>
                  <a:srgbClr val="0D0D0D"/>
                </a:solidFill>
                <a:highlight>
                  <a:srgbClr val="53CFA2"/>
                </a:highlight>
                <a:latin typeface="Söhne"/>
              </a:rPr>
              <a:t> du bucket S3</a:t>
            </a:r>
          </a:p>
        </p:txBody>
      </p:sp>
      <p:pic>
        <p:nvPicPr>
          <p:cNvPr id="5" name="Image 4" descr="Une image contenant texte, logiciel, Page web, Site web&#10;&#10;Description générée automatiquement">
            <a:extLst>
              <a:ext uri="{FF2B5EF4-FFF2-40B4-BE49-F238E27FC236}">
                <a16:creationId xmlns:a16="http://schemas.microsoft.com/office/drawing/2014/main" id="{E13F7879-C78F-9678-C2D5-9B8EAEA3E75D}"/>
              </a:ext>
            </a:extLst>
          </p:cNvPr>
          <p:cNvPicPr>
            <a:picLocks noChangeAspect="1"/>
          </p:cNvPicPr>
          <p:nvPr/>
        </p:nvPicPr>
        <p:blipFill>
          <a:blip r:embed="rId3"/>
          <a:srcRect l="10199" t="2617" r="1071" b="2583"/>
          <a:stretch/>
        </p:blipFill>
        <p:spPr>
          <a:xfrm>
            <a:off x="157520" y="693682"/>
            <a:ext cx="4572000" cy="4352236"/>
          </a:xfrm>
          <a:prstGeom prst="rect">
            <a:avLst/>
          </a:prstGeom>
        </p:spPr>
      </p:pic>
      <p:sp>
        <p:nvSpPr>
          <p:cNvPr id="6" name="Rectangle 5">
            <a:extLst>
              <a:ext uri="{FF2B5EF4-FFF2-40B4-BE49-F238E27FC236}">
                <a16:creationId xmlns:a16="http://schemas.microsoft.com/office/drawing/2014/main" id="{D3323962-3986-7B6D-BE16-D62079D1C72B}"/>
              </a:ext>
            </a:extLst>
          </p:cNvPr>
          <p:cNvSpPr/>
          <p:nvPr/>
        </p:nvSpPr>
        <p:spPr>
          <a:xfrm flipH="1">
            <a:off x="5560888" y="1882907"/>
            <a:ext cx="3447663" cy="373334"/>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5">
            <a:extLst>
              <a:ext uri="{FF2B5EF4-FFF2-40B4-BE49-F238E27FC236}">
                <a16:creationId xmlns:a16="http://schemas.microsoft.com/office/drawing/2014/main" id="{45D1B887-03C5-EF3D-E1AC-3931F0EE7798}"/>
              </a:ext>
            </a:extLst>
          </p:cNvPr>
          <p:cNvSpPr txBox="1"/>
          <p:nvPr/>
        </p:nvSpPr>
        <p:spPr>
          <a:xfrm>
            <a:off x="4866072" y="1118191"/>
            <a:ext cx="8284957" cy="461665"/>
          </a:xfrm>
          <a:prstGeom prst="rect">
            <a:avLst/>
          </a:prstGeom>
          <a:noFill/>
        </p:spPr>
        <p:txBody>
          <a:bodyPr wrap="square">
            <a:spAutoFit/>
          </a:bodyPr>
          <a:lstStyle/>
          <a:p>
            <a:r>
              <a:rPr lang="en-US" sz="1200" b="1" dirty="0" err="1">
                <a:solidFill>
                  <a:srgbClr val="0D0D0D"/>
                </a:solidFill>
                <a:highlight>
                  <a:srgbClr val="53CFA2"/>
                </a:highlight>
                <a:latin typeface="Söhne"/>
              </a:rPr>
              <a:t>Résultat</a:t>
            </a:r>
            <a:r>
              <a:rPr lang="en-US" sz="1200" b="1" dirty="0">
                <a:solidFill>
                  <a:srgbClr val="0D0D0D"/>
                </a:solidFill>
                <a:highlight>
                  <a:srgbClr val="53CFA2"/>
                </a:highlight>
                <a:latin typeface="Söhne"/>
              </a:rPr>
              <a:t> </a:t>
            </a:r>
            <a:r>
              <a:rPr lang="en-US" sz="1200" b="1" dirty="0" err="1">
                <a:solidFill>
                  <a:srgbClr val="0D0D0D"/>
                </a:solidFill>
                <a:highlight>
                  <a:srgbClr val="53CFA2"/>
                </a:highlight>
                <a:latin typeface="Söhne"/>
              </a:rPr>
              <a:t>consolidé</a:t>
            </a:r>
            <a:r>
              <a:rPr lang="en-US" sz="1200" b="1" dirty="0">
                <a:solidFill>
                  <a:srgbClr val="0D0D0D"/>
                </a:solidFill>
                <a:highlight>
                  <a:srgbClr val="53CFA2"/>
                </a:highlight>
                <a:latin typeface="Söhne"/>
              </a:rPr>
              <a:t> de </a:t>
            </a:r>
            <a:r>
              <a:rPr lang="en-US" sz="1200" b="1" dirty="0" err="1">
                <a:solidFill>
                  <a:srgbClr val="0D0D0D"/>
                </a:solidFill>
                <a:highlight>
                  <a:srgbClr val="53CFA2"/>
                </a:highlight>
                <a:latin typeface="Söhne"/>
              </a:rPr>
              <a:t>l’extraction</a:t>
            </a:r>
            <a:r>
              <a:rPr lang="en-US" sz="1200" b="1" dirty="0">
                <a:solidFill>
                  <a:srgbClr val="0D0D0D"/>
                </a:solidFill>
                <a:highlight>
                  <a:srgbClr val="53CFA2"/>
                </a:highlight>
                <a:latin typeface="Söhne"/>
              </a:rPr>
              <a:t> de features issue de </a:t>
            </a:r>
            <a:r>
              <a:rPr lang="en-US" sz="1200" b="1" dirty="0" err="1">
                <a:solidFill>
                  <a:srgbClr val="0D0D0D"/>
                </a:solidFill>
                <a:highlight>
                  <a:srgbClr val="53CFA2"/>
                </a:highlight>
                <a:latin typeface="Söhne"/>
              </a:rPr>
              <a:t>l’executionde</a:t>
            </a:r>
            <a:r>
              <a:rPr lang="en-US" sz="1200" b="1" dirty="0">
                <a:solidFill>
                  <a:srgbClr val="0D0D0D"/>
                </a:solidFill>
                <a:highlight>
                  <a:srgbClr val="53CFA2"/>
                </a:highlight>
                <a:latin typeface="Söhne"/>
              </a:rPr>
              <a:t> </a:t>
            </a:r>
          </a:p>
          <a:p>
            <a:r>
              <a:rPr lang="en-US" sz="1200" b="1" dirty="0" err="1">
                <a:solidFill>
                  <a:srgbClr val="0D0D0D"/>
                </a:solidFill>
                <a:highlight>
                  <a:srgbClr val="53CFA2"/>
                </a:highlight>
                <a:latin typeface="Söhne"/>
              </a:rPr>
              <a:t>Jupyterhub</a:t>
            </a:r>
            <a:r>
              <a:rPr lang="en-US" sz="1200" b="1" dirty="0">
                <a:solidFill>
                  <a:srgbClr val="0D0D0D"/>
                </a:solidFill>
                <a:highlight>
                  <a:srgbClr val="53CFA2"/>
                </a:highlight>
                <a:latin typeface="Söhne"/>
              </a:rPr>
              <a:t> sur le cloud :</a:t>
            </a:r>
          </a:p>
        </p:txBody>
      </p:sp>
      <p:sp>
        <p:nvSpPr>
          <p:cNvPr id="8" name="TextBox 5">
            <a:extLst>
              <a:ext uri="{FF2B5EF4-FFF2-40B4-BE49-F238E27FC236}">
                <a16:creationId xmlns:a16="http://schemas.microsoft.com/office/drawing/2014/main" id="{442F099C-639A-E26C-9D7F-4A9B2CE925BA}"/>
              </a:ext>
            </a:extLst>
          </p:cNvPr>
          <p:cNvSpPr txBox="1"/>
          <p:nvPr/>
        </p:nvSpPr>
        <p:spPr>
          <a:xfrm>
            <a:off x="429521" y="232017"/>
            <a:ext cx="8284957" cy="461665"/>
          </a:xfrm>
          <a:prstGeom prst="rect">
            <a:avLst/>
          </a:prstGeom>
          <a:noFill/>
        </p:spPr>
        <p:txBody>
          <a:bodyPr wrap="square">
            <a:spAutoFit/>
          </a:bodyPr>
          <a:lstStyle/>
          <a:p>
            <a:r>
              <a:rPr lang="en-US" sz="1200" b="1" dirty="0" err="1">
                <a:solidFill>
                  <a:srgbClr val="0D0D0D"/>
                </a:solidFill>
                <a:highlight>
                  <a:srgbClr val="53CFA2"/>
                </a:highlight>
                <a:latin typeface="Söhne"/>
              </a:rPr>
              <a:t>Résultat</a:t>
            </a:r>
            <a:r>
              <a:rPr lang="en-US" sz="1200" b="1" dirty="0">
                <a:solidFill>
                  <a:srgbClr val="0D0D0D"/>
                </a:solidFill>
                <a:highlight>
                  <a:srgbClr val="53CFA2"/>
                </a:highlight>
                <a:latin typeface="Söhne"/>
              </a:rPr>
              <a:t> des partitions de </a:t>
            </a:r>
            <a:r>
              <a:rPr lang="en-US" sz="1200" b="1" dirty="0" err="1">
                <a:solidFill>
                  <a:srgbClr val="0D0D0D"/>
                </a:solidFill>
                <a:highlight>
                  <a:srgbClr val="53CFA2"/>
                </a:highlight>
                <a:latin typeface="Söhne"/>
              </a:rPr>
              <a:t>l’extraction</a:t>
            </a:r>
            <a:r>
              <a:rPr lang="en-US" sz="1200" b="1" dirty="0">
                <a:solidFill>
                  <a:srgbClr val="0D0D0D"/>
                </a:solidFill>
                <a:highlight>
                  <a:srgbClr val="53CFA2"/>
                </a:highlight>
                <a:latin typeface="Söhne"/>
              </a:rPr>
              <a:t> de features issue de </a:t>
            </a:r>
            <a:r>
              <a:rPr lang="en-US" sz="1200" b="1" dirty="0" err="1">
                <a:solidFill>
                  <a:srgbClr val="0D0D0D"/>
                </a:solidFill>
                <a:highlight>
                  <a:srgbClr val="53CFA2"/>
                </a:highlight>
                <a:latin typeface="Söhne"/>
              </a:rPr>
              <a:t>l’executionde</a:t>
            </a:r>
            <a:r>
              <a:rPr lang="en-US" sz="1200" b="1" dirty="0">
                <a:solidFill>
                  <a:srgbClr val="0D0D0D"/>
                </a:solidFill>
                <a:highlight>
                  <a:srgbClr val="53CFA2"/>
                </a:highlight>
                <a:latin typeface="Söhne"/>
              </a:rPr>
              <a:t> </a:t>
            </a:r>
          </a:p>
          <a:p>
            <a:r>
              <a:rPr lang="en-US" sz="1200" b="1" dirty="0" err="1">
                <a:solidFill>
                  <a:srgbClr val="0D0D0D"/>
                </a:solidFill>
                <a:highlight>
                  <a:srgbClr val="53CFA2"/>
                </a:highlight>
                <a:latin typeface="Söhne"/>
              </a:rPr>
              <a:t>Jupyterhub</a:t>
            </a:r>
            <a:r>
              <a:rPr lang="en-US" sz="1200" b="1" dirty="0">
                <a:solidFill>
                  <a:srgbClr val="0D0D0D"/>
                </a:solidFill>
                <a:highlight>
                  <a:srgbClr val="53CFA2"/>
                </a:highlight>
                <a:latin typeface="Söhne"/>
              </a:rPr>
              <a:t> sur le cloud :</a:t>
            </a:r>
          </a:p>
        </p:txBody>
      </p:sp>
      <p:sp>
        <p:nvSpPr>
          <p:cNvPr id="9" name="Google Shape;411;p43">
            <a:extLst>
              <a:ext uri="{FF2B5EF4-FFF2-40B4-BE49-F238E27FC236}">
                <a16:creationId xmlns:a16="http://schemas.microsoft.com/office/drawing/2014/main" id="{7C7C1BE1-A4D8-81E8-661A-7E7EF90FC3CE}"/>
              </a:ext>
            </a:extLst>
          </p:cNvPr>
          <p:cNvSpPr txBox="1"/>
          <p:nvPr/>
        </p:nvSpPr>
        <p:spPr>
          <a:xfrm flipH="1">
            <a:off x="7237104" y="38876"/>
            <a:ext cx="1812300" cy="5727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Quicksand SemiBold"/>
                <a:ea typeface="Quicksand SemiBold"/>
                <a:cs typeface="Quicksand SemiBold"/>
                <a:sym typeface="Quicksand SemiBold"/>
              </a:rPr>
              <a:t>Step</a:t>
            </a:r>
            <a:r>
              <a:rPr lang="en" sz="3500" dirty="0">
                <a:solidFill>
                  <a:schemeClr val="dk2"/>
                </a:solidFill>
                <a:latin typeface="Quicksand SemiBold"/>
                <a:ea typeface="Quicksand SemiBold"/>
                <a:cs typeface="Quicksand SemiBold"/>
                <a:sym typeface="Quicksand SemiBold"/>
              </a:rPr>
              <a:t> 6</a:t>
            </a:r>
            <a:endParaRPr sz="3500" dirty="0">
              <a:solidFill>
                <a:schemeClr val="dk2"/>
              </a:solidFill>
              <a:latin typeface="Quicksand SemiBold"/>
              <a:ea typeface="Quicksand SemiBold"/>
              <a:cs typeface="Quicksand SemiBold"/>
              <a:sym typeface="Quicksand SemiBold"/>
            </a:endParaRPr>
          </a:p>
        </p:txBody>
      </p:sp>
    </p:spTree>
    <p:extLst>
      <p:ext uri="{BB962C8B-B14F-4D97-AF65-F5344CB8AC3E}">
        <p14:creationId xmlns:p14="http://schemas.microsoft.com/office/powerpoint/2010/main" val="3458602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A8491-83CA-0B09-2E9E-56860D0152E5}"/>
              </a:ext>
            </a:extLst>
          </p:cNvPr>
          <p:cNvSpPr>
            <a:spLocks noGrp="1"/>
          </p:cNvSpPr>
          <p:nvPr>
            <p:ph type="title"/>
          </p:nvPr>
        </p:nvSpPr>
        <p:spPr/>
        <p:txBody>
          <a:bodyPr/>
          <a:lstStyle/>
          <a:p>
            <a:r>
              <a:rPr lang="fr-FR" dirty="0"/>
              <a:t>Clone de l’EMR et </a:t>
            </a:r>
            <a:r>
              <a:rPr lang="fr-FR" dirty="0" err="1"/>
              <a:t>demo</a:t>
            </a:r>
            <a:endParaRPr lang="fr-FR" dirty="0"/>
          </a:p>
        </p:txBody>
      </p:sp>
      <p:pic>
        <p:nvPicPr>
          <p:cNvPr id="3" name="Image 2" descr="Une image contenant texte, capture d’écran, Police, nombre&#10;&#10;Description générée automatiquement">
            <a:extLst>
              <a:ext uri="{FF2B5EF4-FFF2-40B4-BE49-F238E27FC236}">
                <a16:creationId xmlns:a16="http://schemas.microsoft.com/office/drawing/2014/main" id="{04BBC187-C93D-0EB6-E1FA-93CA00E27AF7}"/>
              </a:ext>
            </a:extLst>
          </p:cNvPr>
          <p:cNvPicPr>
            <a:picLocks noChangeAspect="1"/>
          </p:cNvPicPr>
          <p:nvPr/>
        </p:nvPicPr>
        <p:blipFill>
          <a:blip r:embed="rId2"/>
          <a:stretch>
            <a:fillRect/>
          </a:stretch>
        </p:blipFill>
        <p:spPr>
          <a:xfrm>
            <a:off x="0" y="1578760"/>
            <a:ext cx="7772400" cy="1688082"/>
          </a:xfrm>
          <a:prstGeom prst="rect">
            <a:avLst/>
          </a:prstGeom>
        </p:spPr>
      </p:pic>
      <p:sp>
        <p:nvSpPr>
          <p:cNvPr id="4" name="Rectangle 3">
            <a:extLst>
              <a:ext uri="{FF2B5EF4-FFF2-40B4-BE49-F238E27FC236}">
                <a16:creationId xmlns:a16="http://schemas.microsoft.com/office/drawing/2014/main" id="{1B8EB193-901F-10F0-1156-C20B0981F6FA}"/>
              </a:ext>
            </a:extLst>
          </p:cNvPr>
          <p:cNvSpPr/>
          <p:nvPr/>
        </p:nvSpPr>
        <p:spPr>
          <a:xfrm flipH="1">
            <a:off x="6921385" y="1730626"/>
            <a:ext cx="672663" cy="456736"/>
          </a:xfrm>
          <a:prstGeom prst="rect">
            <a:avLst/>
          </a:prstGeom>
          <a:noFill/>
          <a:ln w="38100">
            <a:solidFill>
              <a:srgbClr val="53CF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Connecteur droit avec flèche 5">
            <a:extLst>
              <a:ext uri="{FF2B5EF4-FFF2-40B4-BE49-F238E27FC236}">
                <a16:creationId xmlns:a16="http://schemas.microsoft.com/office/drawing/2014/main" id="{B0D4EE94-9517-5C05-FE84-94D28EA4098F}"/>
              </a:ext>
            </a:extLst>
          </p:cNvPr>
          <p:cNvCxnSpPr>
            <a:cxnSpLocks/>
          </p:cNvCxnSpPr>
          <p:nvPr/>
        </p:nvCxnSpPr>
        <p:spPr>
          <a:xfrm flipH="1">
            <a:off x="7412304" y="1205713"/>
            <a:ext cx="687823" cy="623087"/>
          </a:xfrm>
          <a:prstGeom prst="straightConnector1">
            <a:avLst/>
          </a:prstGeom>
          <a:ln>
            <a:solidFill>
              <a:srgbClr val="53CFA2"/>
            </a:solidFill>
            <a:tailEnd type="triangle"/>
          </a:ln>
        </p:spPr>
        <p:style>
          <a:lnRef idx="3">
            <a:schemeClr val="accent4"/>
          </a:lnRef>
          <a:fillRef idx="0">
            <a:schemeClr val="accent4"/>
          </a:fillRef>
          <a:effectRef idx="2">
            <a:schemeClr val="accent4"/>
          </a:effectRef>
          <a:fontRef idx="minor">
            <a:schemeClr val="tx1"/>
          </a:fontRef>
        </p:style>
      </p:cxnSp>
      <p:sp>
        <p:nvSpPr>
          <p:cNvPr id="9" name="ZoneTexte 8">
            <a:extLst>
              <a:ext uri="{FF2B5EF4-FFF2-40B4-BE49-F238E27FC236}">
                <a16:creationId xmlns:a16="http://schemas.microsoft.com/office/drawing/2014/main" id="{D06DA246-1754-032E-A3CB-FE903A3775DA}"/>
              </a:ext>
            </a:extLst>
          </p:cNvPr>
          <p:cNvSpPr txBox="1"/>
          <p:nvPr/>
        </p:nvSpPr>
        <p:spPr>
          <a:xfrm>
            <a:off x="479452" y="3479640"/>
            <a:ext cx="4584138" cy="523220"/>
          </a:xfrm>
          <a:prstGeom prst="rect">
            <a:avLst/>
          </a:prstGeom>
          <a:noFill/>
        </p:spPr>
        <p:txBody>
          <a:bodyPr wrap="square">
            <a:spAutoFit/>
          </a:bodyPr>
          <a:lstStyle/>
          <a:p>
            <a:r>
              <a:rPr lang="fr-FR" dirty="0">
                <a:solidFill>
                  <a:srgbClr val="0D0D0D"/>
                </a:solidFill>
                <a:latin typeface="Söhne"/>
              </a:rPr>
              <a:t>On clone le cluster déjà configuré qui garde les mêmes paramètres</a:t>
            </a:r>
            <a:endParaRPr lang="fr-FR" dirty="0"/>
          </a:p>
        </p:txBody>
      </p:sp>
    </p:spTree>
    <p:extLst>
      <p:ext uri="{BB962C8B-B14F-4D97-AF65-F5344CB8AC3E}">
        <p14:creationId xmlns:p14="http://schemas.microsoft.com/office/powerpoint/2010/main" val="1685893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3" name="Google Shape;563;p50"/>
          <p:cNvSpPr/>
          <p:nvPr/>
        </p:nvSpPr>
        <p:spPr>
          <a:xfrm rot="2700000">
            <a:off x="6962351" y="4135376"/>
            <a:ext cx="1514623" cy="1514199"/>
          </a:xfrm>
          <a:prstGeom prst="roundRect">
            <a:avLst>
              <a:gd name="adj" fmla="val 26624"/>
            </a:avLst>
          </a:prstGeom>
          <a:noFill/>
          <a:ln w="19050"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50"/>
          <p:cNvSpPr/>
          <p:nvPr/>
        </p:nvSpPr>
        <p:spPr>
          <a:xfrm rot="2700000">
            <a:off x="6839748" y="3748427"/>
            <a:ext cx="921077" cy="921077"/>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50"/>
          <p:cNvSpPr txBox="1">
            <a:spLocks noGrp="1"/>
          </p:cNvSpPr>
          <p:nvPr>
            <p:ph type="body" idx="1"/>
          </p:nvPr>
        </p:nvSpPr>
        <p:spPr>
          <a:xfrm>
            <a:off x="634940" y="-68886"/>
            <a:ext cx="7704000" cy="4216250"/>
          </a:xfrm>
          <a:prstGeom prst="rect">
            <a:avLst/>
          </a:prstGeom>
        </p:spPr>
        <p:txBody>
          <a:bodyPr spcFirstLastPara="1" wrap="square" lIns="91425" tIns="91425" rIns="91425" bIns="91425" anchor="t" anchorCtr="0">
            <a:noAutofit/>
          </a:bodyPr>
          <a:lstStyle/>
          <a:p>
            <a:pPr marL="457200" lvl="0" indent="-304800" algn="l" rtl="0">
              <a:spcBef>
                <a:spcPts val="1000"/>
              </a:spcBef>
              <a:spcAft>
                <a:spcPts val="0"/>
              </a:spcAft>
              <a:buSzPts val="1200"/>
              <a:buChar char="●"/>
            </a:pPr>
            <a:endParaRPr lang="fr-FR" dirty="0">
              <a:uFill>
                <a:noFill/>
              </a:uFill>
            </a:endParaRPr>
          </a:p>
          <a:p>
            <a:pPr marL="152400" indent="0">
              <a:buNone/>
            </a:pPr>
            <a:r>
              <a:rPr lang="fr-FR" sz="2200" dirty="0">
                <a:latin typeface="Quicksand SemiBold"/>
              </a:rPr>
              <a:t>Conclusion et perspectives : Utilisation du </a:t>
            </a:r>
            <a:r>
              <a:rPr lang="fr-FR" sz="2200" dirty="0" err="1">
                <a:latin typeface="Quicksand SemiBold"/>
              </a:rPr>
              <a:t>feature</a:t>
            </a:r>
            <a:r>
              <a:rPr lang="fr-FR" sz="2200" dirty="0">
                <a:latin typeface="Quicksand SemiBold"/>
              </a:rPr>
              <a:t> extraction et de </a:t>
            </a:r>
            <a:r>
              <a:rPr lang="fr-FR" sz="2200" dirty="0" err="1">
                <a:latin typeface="Quicksand SemiBold"/>
              </a:rPr>
              <a:t>PySpark</a:t>
            </a:r>
            <a:r>
              <a:rPr lang="fr-FR" sz="2200" dirty="0">
                <a:latin typeface="Quicksand SemiBold"/>
              </a:rPr>
              <a:t> PCA dans un environnement Big Data</a:t>
            </a:r>
          </a:p>
          <a:p>
            <a:pPr marL="152400" indent="0">
              <a:buNone/>
            </a:pPr>
            <a:r>
              <a:rPr lang="fr-FR" sz="900" dirty="0">
                <a:solidFill>
                  <a:srgbClr val="0D0D0D"/>
                </a:solidFill>
                <a:latin typeface="Söhne"/>
              </a:rPr>
              <a:t>Dans un environnement Big Data, comme celui configuré avec S3, Spark, et un modèle de </a:t>
            </a:r>
            <a:r>
              <a:rPr lang="fr-FR" sz="900" dirty="0" err="1">
                <a:solidFill>
                  <a:srgbClr val="0D0D0D"/>
                </a:solidFill>
                <a:latin typeface="Söhne"/>
              </a:rPr>
              <a:t>deep</a:t>
            </a:r>
            <a:r>
              <a:rPr lang="fr-FR" sz="900" dirty="0">
                <a:solidFill>
                  <a:srgbClr val="0D0D0D"/>
                </a:solidFill>
                <a:latin typeface="Söhne"/>
              </a:rPr>
              <a:t> </a:t>
            </a:r>
            <a:r>
              <a:rPr lang="fr-FR" sz="900" dirty="0" err="1">
                <a:solidFill>
                  <a:srgbClr val="0D0D0D"/>
                </a:solidFill>
                <a:latin typeface="Söhne"/>
              </a:rPr>
              <a:t>learning</a:t>
            </a:r>
            <a:r>
              <a:rPr lang="fr-FR" sz="900" dirty="0">
                <a:solidFill>
                  <a:srgbClr val="0D0D0D"/>
                </a:solidFill>
                <a:latin typeface="Söhne"/>
              </a:rPr>
              <a:t> (MobileNetV2 dans ce cas), il est possible de passer à une reconnaissance d'images à grande échelle grâce à l'extraction de caractéristiques (</a:t>
            </a:r>
            <a:r>
              <a:rPr lang="fr-FR" sz="900" dirty="0" err="1">
                <a:solidFill>
                  <a:srgbClr val="0D0D0D"/>
                </a:solidFill>
                <a:latin typeface="Söhne"/>
              </a:rPr>
              <a:t>features</a:t>
            </a:r>
            <a:r>
              <a:rPr lang="fr-FR" sz="900" dirty="0">
                <a:solidFill>
                  <a:srgbClr val="0D0D0D"/>
                </a:solidFill>
                <a:latin typeface="Söhne"/>
              </a:rPr>
              <a:t>) et à la réduction de dimension.</a:t>
            </a:r>
          </a:p>
          <a:p>
            <a:pPr marL="152400" indent="0">
              <a:buNone/>
            </a:pPr>
            <a:endParaRPr lang="fr-FR" sz="900" dirty="0">
              <a:solidFill>
                <a:srgbClr val="0D0D0D"/>
              </a:solidFill>
              <a:latin typeface="Söhne"/>
            </a:endParaRPr>
          </a:p>
          <a:p>
            <a:pPr marL="152400" indent="0">
              <a:spcAft>
                <a:spcPts val="800"/>
              </a:spcAft>
              <a:buNone/>
            </a:pPr>
            <a:r>
              <a:rPr lang="fr-FR" sz="900" dirty="0">
                <a:solidFill>
                  <a:schemeClr val="tx1"/>
                </a:solidFill>
                <a:latin typeface="Söhne"/>
              </a:rPr>
              <a:t>La solution permet d'extraire des </a:t>
            </a:r>
            <a:r>
              <a:rPr lang="fr-FR" sz="900" dirty="0" err="1">
                <a:solidFill>
                  <a:schemeClr val="tx1"/>
                </a:solidFill>
                <a:latin typeface="Söhne"/>
              </a:rPr>
              <a:t>features</a:t>
            </a:r>
            <a:r>
              <a:rPr lang="fr-FR" sz="900" dirty="0">
                <a:solidFill>
                  <a:schemeClr val="tx1"/>
                </a:solidFill>
                <a:latin typeface="Söhne"/>
              </a:rPr>
              <a:t> d'images à partir d'un modèle pré-entraîné (MobileNetV2), de réduire leur dimensionnalité via PCA et de sauvegarder les résultats au format Parquet et CSV.</a:t>
            </a:r>
          </a:p>
          <a:p>
            <a:pPr marL="152400" indent="0">
              <a:spcAft>
                <a:spcPts val="800"/>
              </a:spcAft>
              <a:buNone/>
            </a:pPr>
            <a:r>
              <a:rPr lang="fr-FR" sz="900" dirty="0">
                <a:solidFill>
                  <a:schemeClr val="tx1"/>
                </a:solidFill>
                <a:latin typeface="Söhne"/>
              </a:rPr>
              <a:t>Objectif atteint : extraction des </a:t>
            </a:r>
            <a:r>
              <a:rPr lang="fr-FR" sz="900" dirty="0" err="1">
                <a:solidFill>
                  <a:schemeClr val="tx1"/>
                </a:solidFill>
                <a:latin typeface="Söhne"/>
              </a:rPr>
              <a:t>features</a:t>
            </a:r>
            <a:r>
              <a:rPr lang="fr-FR" sz="900" dirty="0">
                <a:solidFill>
                  <a:schemeClr val="tx1"/>
                </a:solidFill>
                <a:latin typeface="Söhne"/>
              </a:rPr>
              <a:t> et réduction en 50 dimensions</a:t>
            </a:r>
            <a:endParaRPr lang="en-US" dirty="0">
              <a:solidFill>
                <a:schemeClr val="tx1"/>
              </a:solidFill>
              <a:latin typeface="Quicksand SemiBold"/>
            </a:endParaRPr>
          </a:p>
          <a:p>
            <a:pPr marL="152400" indent="0" algn="just">
              <a:buNone/>
            </a:pPr>
            <a:r>
              <a:rPr lang="fr-FR" b="1" dirty="0">
                <a:solidFill>
                  <a:srgbClr val="0D0D0D"/>
                </a:solidFill>
                <a:latin typeface="Söhne"/>
              </a:rPr>
              <a:t>Critique pour un projet en expansion </a:t>
            </a:r>
          </a:p>
          <a:p>
            <a:pPr algn="just"/>
            <a:r>
              <a:rPr lang="fr-FR" b="1" dirty="0">
                <a:solidFill>
                  <a:srgbClr val="0D0D0D"/>
                </a:solidFill>
                <a:latin typeface="Söhne"/>
              </a:rPr>
              <a:t>Scalabilité :</a:t>
            </a:r>
          </a:p>
          <a:p>
            <a:pPr marL="152400" indent="0" algn="just">
              <a:buNone/>
            </a:pPr>
            <a:r>
              <a:rPr lang="fr-FR" dirty="0">
                <a:solidFill>
                  <a:srgbClr val="0D0D0D"/>
                </a:solidFill>
                <a:latin typeface="Söhne"/>
              </a:rPr>
              <a:t>Avec </a:t>
            </a:r>
            <a:r>
              <a:rPr lang="fr-FR" dirty="0" err="1">
                <a:solidFill>
                  <a:srgbClr val="0D0D0D"/>
                </a:solidFill>
                <a:latin typeface="Söhne"/>
              </a:rPr>
              <a:t>PySpark</a:t>
            </a:r>
            <a:r>
              <a:rPr lang="fr-FR" dirty="0">
                <a:solidFill>
                  <a:srgbClr val="0D0D0D"/>
                </a:solidFill>
                <a:latin typeface="Söhne"/>
              </a:rPr>
              <a:t>, les calculs (</a:t>
            </a:r>
            <a:r>
              <a:rPr lang="fr-FR" dirty="0" err="1">
                <a:solidFill>
                  <a:srgbClr val="0D0D0D"/>
                </a:solidFill>
                <a:latin typeface="Söhne"/>
              </a:rPr>
              <a:t>feature</a:t>
            </a:r>
            <a:r>
              <a:rPr lang="fr-FR" dirty="0">
                <a:solidFill>
                  <a:srgbClr val="0D0D0D"/>
                </a:solidFill>
                <a:latin typeface="Söhne"/>
              </a:rPr>
              <a:t> extraction avec MobileNetV2 + PCA) sont parallélisés.</a:t>
            </a:r>
          </a:p>
          <a:p>
            <a:pPr marL="152400" indent="0" algn="just">
              <a:buNone/>
            </a:pPr>
            <a:r>
              <a:rPr lang="fr-FR" dirty="0">
                <a:solidFill>
                  <a:srgbClr val="0D0D0D"/>
                </a:solidFill>
                <a:latin typeface="Söhne"/>
              </a:rPr>
              <a:t>Le traitement d’un grand volume d’images est réparti sur plusieurs nœuds du cluster</a:t>
            </a:r>
          </a:p>
          <a:p>
            <a:pPr marL="152400" indent="0" algn="just">
              <a:buNone/>
            </a:pPr>
            <a:endParaRPr lang="fr-FR" dirty="0">
              <a:solidFill>
                <a:srgbClr val="0D0D0D"/>
              </a:solidFill>
              <a:latin typeface="Söhne"/>
            </a:endParaRPr>
          </a:p>
          <a:p>
            <a:pPr algn="just"/>
            <a:r>
              <a:rPr lang="fr-FR" b="1" dirty="0">
                <a:solidFill>
                  <a:srgbClr val="0D0D0D"/>
                </a:solidFill>
                <a:latin typeface="Söhne"/>
              </a:rPr>
              <a:t>Optimisation des ressources :</a:t>
            </a:r>
          </a:p>
          <a:p>
            <a:pPr marL="152400" indent="0" algn="just">
              <a:buNone/>
            </a:pPr>
            <a:r>
              <a:rPr lang="fr-FR" dirty="0">
                <a:solidFill>
                  <a:srgbClr val="0D0D0D"/>
                </a:solidFill>
                <a:latin typeface="Söhne"/>
              </a:rPr>
              <a:t>Le broadcast du modèle évite les rechargements inutiles et réduit le coût réseau</a:t>
            </a:r>
          </a:p>
          <a:p>
            <a:pPr marL="152400" indent="0" algn="just">
              <a:buNone/>
            </a:pPr>
            <a:r>
              <a:rPr lang="fr-FR" dirty="0">
                <a:solidFill>
                  <a:srgbClr val="0D0D0D"/>
                </a:solidFill>
                <a:latin typeface="Söhne"/>
              </a:rPr>
              <a:t>Le PCA réduit la dimensionnalité des </a:t>
            </a:r>
            <a:r>
              <a:rPr lang="fr-FR" dirty="0" err="1">
                <a:solidFill>
                  <a:srgbClr val="0D0D0D"/>
                </a:solidFill>
                <a:latin typeface="Söhne"/>
              </a:rPr>
              <a:t>features</a:t>
            </a:r>
            <a:r>
              <a:rPr lang="fr-FR" dirty="0">
                <a:solidFill>
                  <a:srgbClr val="0D0D0D"/>
                </a:solidFill>
                <a:latin typeface="Söhne"/>
              </a:rPr>
              <a:t>, ce qui accélère les traitements en aval</a:t>
            </a:r>
          </a:p>
          <a:p>
            <a:pPr marL="152400" indent="0" algn="just">
              <a:buNone/>
            </a:pPr>
            <a:endParaRPr lang="fr-FR" dirty="0">
              <a:solidFill>
                <a:srgbClr val="0D0D0D"/>
              </a:solidFill>
              <a:latin typeface="Söhne"/>
            </a:endParaRPr>
          </a:p>
          <a:p>
            <a:pPr algn="just"/>
            <a:r>
              <a:rPr lang="fr-FR" b="1" dirty="0">
                <a:solidFill>
                  <a:srgbClr val="0D0D0D"/>
                </a:solidFill>
                <a:latin typeface="Söhne"/>
              </a:rPr>
              <a:t>Préparation pour des pipelines ML :</a:t>
            </a:r>
          </a:p>
          <a:p>
            <a:pPr marL="152400" indent="0" algn="just">
              <a:buNone/>
            </a:pPr>
            <a:r>
              <a:rPr lang="fr-FR" dirty="0">
                <a:solidFill>
                  <a:srgbClr val="0D0D0D"/>
                </a:solidFill>
                <a:latin typeface="Söhne"/>
              </a:rPr>
              <a:t>Les </a:t>
            </a:r>
            <a:r>
              <a:rPr lang="fr-FR" dirty="0" err="1">
                <a:solidFill>
                  <a:srgbClr val="0D0D0D"/>
                </a:solidFill>
                <a:latin typeface="Söhne"/>
              </a:rPr>
              <a:t>features</a:t>
            </a:r>
            <a:r>
              <a:rPr lang="fr-FR" dirty="0">
                <a:solidFill>
                  <a:srgbClr val="0D0D0D"/>
                </a:solidFill>
                <a:latin typeface="Söhne"/>
              </a:rPr>
              <a:t> réduites (PCA) peuvent être utilisées pour entraîner des modèles plus légers tout en conservant l’essentiel des informations.</a:t>
            </a:r>
          </a:p>
          <a:p>
            <a:pPr>
              <a:buFont typeface="Arial" panose="020B0604020202020204" pitchFamily="34" charset="0"/>
              <a:buChar char="•"/>
            </a:pPr>
            <a:endParaRPr lang="fr-FR" sz="1400" dirty="0">
              <a:solidFill>
                <a:srgbClr val="0D0D0D"/>
              </a:solidFill>
              <a:latin typeface="Söhne"/>
            </a:endParaRPr>
          </a:p>
        </p:txBody>
      </p:sp>
      <p:sp>
        <p:nvSpPr>
          <p:cNvPr id="2" name="Google Shape;207;p30">
            <a:extLst>
              <a:ext uri="{FF2B5EF4-FFF2-40B4-BE49-F238E27FC236}">
                <a16:creationId xmlns:a16="http://schemas.microsoft.com/office/drawing/2014/main" id="{D12DAEEB-293F-28A2-B0E2-85310F9FAD03}"/>
              </a:ext>
            </a:extLst>
          </p:cNvPr>
          <p:cNvSpPr txBox="1"/>
          <p:nvPr/>
        </p:nvSpPr>
        <p:spPr>
          <a:xfrm>
            <a:off x="176776" y="4370251"/>
            <a:ext cx="4636477" cy="85310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a:solidFill>
                  <a:schemeClr val="dk1"/>
                </a:solidFill>
                <a:latin typeface="Quicksand Medium"/>
                <a:ea typeface="Quicksand Medium"/>
                <a:cs typeface="Quicksand Medium"/>
                <a:sym typeface="Quicksand Medium"/>
              </a:rPr>
              <a:t>Notions </a:t>
            </a:r>
            <a:r>
              <a:rPr lang="en" sz="1000" dirty="0" err="1">
                <a:solidFill>
                  <a:schemeClr val="dk1"/>
                </a:solidFill>
                <a:latin typeface="Quicksand Medium"/>
                <a:ea typeface="Quicksand Medium"/>
                <a:cs typeface="Quicksand Medium"/>
                <a:sym typeface="Quicksand Medium"/>
              </a:rPr>
              <a:t>abordées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a:solidFill>
                  <a:schemeClr val="dk1"/>
                </a:solidFill>
                <a:uFill>
                  <a:noFill/>
                </a:uFill>
                <a:latin typeface="Quicksand"/>
                <a:ea typeface="Quicksand"/>
                <a:cs typeface="Quicksand"/>
                <a:sym typeface="Quicksand"/>
              </a:rPr>
              <a:t>EMR </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rPr>
              <a:t>EC2</a:t>
            </a:r>
            <a:r>
              <a:rPr lang="en" sz="1000" b="1" dirty="0">
                <a:solidFill>
                  <a:schemeClr val="dk1"/>
                </a:solidFill>
                <a:latin typeface="Quicksand"/>
                <a:ea typeface="Quicksand"/>
                <a:cs typeface="Quicksand"/>
                <a:sym typeface="Quicksand"/>
              </a:rPr>
              <a:t>| </a:t>
            </a:r>
            <a:r>
              <a:rPr lang="en" sz="1000" b="1" dirty="0">
                <a:solidFill>
                  <a:schemeClr val="dk1"/>
                </a:solidFill>
                <a:uFill>
                  <a:noFill/>
                </a:uFill>
                <a:latin typeface="Quicksand"/>
                <a:ea typeface="Quicksand"/>
                <a:cs typeface="Quicksand"/>
                <a:sym typeface="Quicksand"/>
              </a:rPr>
              <a:t>AWS EC2</a:t>
            </a:r>
            <a:r>
              <a:rPr lang="en" sz="1000" b="1" dirty="0">
                <a:solidFill>
                  <a:schemeClr val="dk1"/>
                </a:solidFill>
                <a:latin typeface="Quicksand"/>
                <a:ea typeface="Quicksand"/>
                <a:cs typeface="Quicksand"/>
                <a:sym typeface="Quicksand"/>
              </a:rPr>
              <a:t> | </a:t>
            </a:r>
          </a:p>
          <a:p>
            <a:pPr marL="0" lvl="0" indent="0" algn="ctr" rtl="0">
              <a:spcBef>
                <a:spcPts val="0"/>
              </a:spcBef>
              <a:spcAft>
                <a:spcPts val="0"/>
              </a:spcAft>
              <a:buNone/>
            </a:pPr>
            <a:r>
              <a:rPr lang="en" sz="1000" b="1" dirty="0" err="1">
                <a:solidFill>
                  <a:schemeClr val="dk1"/>
                </a:solidFill>
                <a:uFill>
                  <a:noFill/>
                </a:uFill>
                <a:latin typeface="Quicksand"/>
                <a:ea typeface="Quicksand"/>
                <a:cs typeface="Quicksand"/>
                <a:sym typeface="Quicksand"/>
              </a:rPr>
              <a:t>PysPark</a:t>
            </a:r>
            <a:r>
              <a:rPr lang="en" sz="1000" b="1" dirty="0">
                <a:solidFill>
                  <a:schemeClr val="dk1"/>
                </a:solidFill>
                <a:latin typeface="Quicksand"/>
                <a:ea typeface="Quicksand"/>
                <a:cs typeface="Quicksand"/>
                <a:sym typeface="Quicksand"/>
              </a:rPr>
              <a:t> |  S3</a:t>
            </a:r>
            <a:endParaRPr sz="1000" b="1" dirty="0">
              <a:solidFill>
                <a:schemeClr val="dk1"/>
              </a:solidFill>
              <a:latin typeface="Quicksand"/>
              <a:ea typeface="Quicksand"/>
              <a:cs typeface="Quicksand"/>
              <a:sym typeface="Quicksand"/>
            </a:endParaRPr>
          </a:p>
        </p:txBody>
      </p:sp>
      <p:sp>
        <p:nvSpPr>
          <p:cNvPr id="3" name="Google Shape;208;p30">
            <a:extLst>
              <a:ext uri="{FF2B5EF4-FFF2-40B4-BE49-F238E27FC236}">
                <a16:creationId xmlns:a16="http://schemas.microsoft.com/office/drawing/2014/main" id="{7D3DD698-9788-1763-E1C8-2010E32182F0}"/>
              </a:ext>
            </a:extLst>
          </p:cNvPr>
          <p:cNvSpPr txBox="1"/>
          <p:nvPr/>
        </p:nvSpPr>
        <p:spPr>
          <a:xfrm>
            <a:off x="5258628" y="4510453"/>
            <a:ext cx="4083315" cy="572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000" dirty="0">
                <a:solidFill>
                  <a:schemeClr val="dk1"/>
                </a:solidFill>
                <a:latin typeface="Quicksand Medium"/>
                <a:ea typeface="Quicksand Medium"/>
                <a:cs typeface="Quicksand Medium"/>
                <a:sym typeface="Quicksand Medium"/>
              </a:rPr>
              <a:t>L</a:t>
            </a:r>
            <a:r>
              <a:rPr lang="en" sz="1000" dirty="0" err="1">
                <a:solidFill>
                  <a:schemeClr val="dk1"/>
                </a:solidFill>
                <a:latin typeface="Quicksand Medium"/>
                <a:ea typeface="Quicksand Medium"/>
                <a:cs typeface="Quicksand Medium"/>
                <a:sym typeface="Quicksand Medium"/>
              </a:rPr>
              <a:t>ibrairies</a:t>
            </a:r>
            <a:r>
              <a:rPr lang="en" sz="1000" dirty="0">
                <a:solidFill>
                  <a:schemeClr val="dk1"/>
                </a:solidFill>
                <a:latin typeface="Quicksand Medium"/>
                <a:ea typeface="Quicksand Medium"/>
                <a:cs typeface="Quicksand Medium"/>
                <a:sym typeface="Quicksand Medium"/>
              </a:rPr>
              <a:t> </a:t>
            </a:r>
            <a:r>
              <a:rPr lang="en" sz="1000" dirty="0" err="1">
                <a:solidFill>
                  <a:schemeClr val="dk1"/>
                </a:solidFill>
                <a:latin typeface="Quicksand Medium"/>
                <a:ea typeface="Quicksand Medium"/>
                <a:cs typeface="Quicksand Medium"/>
                <a:sym typeface="Quicksand Medium"/>
              </a:rPr>
              <a:t>utilisées</a:t>
            </a:r>
            <a:r>
              <a:rPr lang="en" sz="1000" dirty="0">
                <a:solidFill>
                  <a:schemeClr val="dk1"/>
                </a:solidFill>
                <a:latin typeface="Quicksand Medium"/>
                <a:ea typeface="Quicksand Medium"/>
                <a:cs typeface="Quicksand Medium"/>
                <a:sym typeface="Quicksand Medium"/>
              </a:rPr>
              <a:t>:</a:t>
            </a:r>
            <a:br>
              <a:rPr lang="en" sz="1000" dirty="0">
                <a:solidFill>
                  <a:schemeClr val="dk1"/>
                </a:solidFill>
                <a:latin typeface="Quicksand Medium"/>
                <a:ea typeface="Quicksand Medium"/>
                <a:cs typeface="Quicksand Medium"/>
                <a:sym typeface="Quicksand Medium"/>
              </a:rPr>
            </a:br>
            <a:r>
              <a:rPr lang="en" sz="1000" b="1" dirty="0" err="1">
                <a:solidFill>
                  <a:schemeClr val="dk1"/>
                </a:solidFill>
                <a:uFill>
                  <a:noFill/>
                </a:uFill>
                <a:latin typeface="Quicksand"/>
                <a:ea typeface="Quicksand"/>
                <a:cs typeface="Quicksand"/>
                <a:sym typeface="Quicksand"/>
              </a:rPr>
              <a:t>keras</a:t>
            </a:r>
            <a:r>
              <a:rPr lang="en" sz="1000" b="1" dirty="0">
                <a:solidFill>
                  <a:schemeClr val="dk1"/>
                </a:solidFill>
                <a:latin typeface="Quicksand"/>
                <a:ea typeface="Quicksand"/>
                <a:cs typeface="Quicksand"/>
                <a:sym typeface="Quicksand"/>
              </a:rPr>
              <a:t> | </a:t>
            </a:r>
            <a:r>
              <a:rPr lang="en" sz="1000" b="1" dirty="0">
                <a:solidFill>
                  <a:schemeClr val="dk1"/>
                </a:solidFill>
                <a:uFill>
                  <a:noFill/>
                </a:uFill>
                <a:latin typeface="Quicksand"/>
                <a:ea typeface="Quicksand"/>
                <a:cs typeface="Quicksand"/>
                <a:sym typeface="Quicksand"/>
              </a:rPr>
              <a:t>Spark </a:t>
            </a:r>
            <a:r>
              <a:rPr lang="en" sz="1000" b="1" dirty="0" err="1">
                <a:solidFill>
                  <a:schemeClr val="dk1"/>
                </a:solidFill>
                <a:uFill>
                  <a:noFill/>
                </a:uFill>
                <a:latin typeface="Quicksand"/>
                <a:ea typeface="Quicksand"/>
                <a:cs typeface="Quicksand"/>
                <a:sym typeface="Quicksand"/>
              </a:rPr>
              <a:t>MLlib</a:t>
            </a:r>
            <a:r>
              <a:rPr lang="en" sz="1000" b="1" dirty="0">
                <a:solidFill>
                  <a:schemeClr val="dk1"/>
                </a:solidFill>
                <a:latin typeface="Quicksand"/>
                <a:ea typeface="Quicksand"/>
                <a:cs typeface="Quicksand"/>
                <a:sym typeface="Quicksand"/>
              </a:rPr>
              <a:t> | </a:t>
            </a:r>
            <a:r>
              <a:rPr lang="en" sz="1000" b="1" dirty="0" err="1">
                <a:solidFill>
                  <a:schemeClr val="dk1"/>
                </a:solidFill>
                <a:uFill>
                  <a:noFill/>
                </a:uFill>
                <a:latin typeface="Quicksand"/>
                <a:ea typeface="Quicksand"/>
                <a:cs typeface="Quicksand"/>
                <a:sym typeface="Quicksand"/>
              </a:rPr>
              <a:t>tensorflow</a:t>
            </a:r>
            <a:r>
              <a:rPr lang="en" sz="1000" b="1" dirty="0">
                <a:solidFill>
                  <a:schemeClr val="dk1"/>
                </a:solidFill>
                <a:latin typeface="Quicksand"/>
                <a:ea typeface="Quicksand"/>
                <a:cs typeface="Quicksand"/>
                <a:sym typeface="Quicksand"/>
              </a:rPr>
              <a:t> | boto3| </a:t>
            </a:r>
            <a:r>
              <a:rPr lang="en" sz="1000" b="1" dirty="0">
                <a:solidFill>
                  <a:schemeClr val="dk1"/>
                </a:solidFill>
                <a:uFill>
                  <a:noFill/>
                </a:uFill>
                <a:latin typeface="Quicksand"/>
                <a:ea typeface="Quicksand"/>
                <a:cs typeface="Quicksand"/>
                <a:sym typeface="Quicksand"/>
              </a:rPr>
              <a:t>pandas</a:t>
            </a:r>
            <a:endParaRPr sz="1000" b="1" dirty="0">
              <a:solidFill>
                <a:schemeClr val="dk1"/>
              </a:solidFill>
              <a:latin typeface="Quicksand"/>
              <a:ea typeface="Quicksand"/>
              <a:cs typeface="Quicksand"/>
              <a:sym typeface="Quicksan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48"/>
          <p:cNvSpPr txBox="1">
            <a:spLocks noGrp="1"/>
          </p:cNvSpPr>
          <p:nvPr>
            <p:ph type="title"/>
          </p:nvPr>
        </p:nvSpPr>
        <p:spPr>
          <a:xfrm>
            <a:off x="968625" y="1424695"/>
            <a:ext cx="4448100" cy="1227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dirty="0"/>
              <a:t>M</a:t>
            </a:r>
            <a:r>
              <a:rPr lang="en" dirty="0" err="1"/>
              <a:t>erci</a:t>
            </a:r>
            <a:r>
              <a:rPr lang="en" dirty="0"/>
              <a:t> !</a:t>
            </a:r>
            <a:endParaRPr dirty="0"/>
          </a:p>
        </p:txBody>
      </p:sp>
      <p:sp>
        <p:nvSpPr>
          <p:cNvPr id="516" name="Google Shape;516;p48"/>
          <p:cNvSpPr/>
          <p:nvPr/>
        </p:nvSpPr>
        <p:spPr>
          <a:xfrm rot="5400000">
            <a:off x="5138400" y="2293495"/>
            <a:ext cx="1130400" cy="99300"/>
          </a:xfrm>
          <a:prstGeom prst="roundRect">
            <a:avLst>
              <a:gd name="adj" fmla="val 50000"/>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48"/>
          <p:cNvSpPr/>
          <p:nvPr/>
        </p:nvSpPr>
        <p:spPr>
          <a:xfrm>
            <a:off x="1796475" y="-900275"/>
            <a:ext cx="2184900" cy="2184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48"/>
          <p:cNvSpPr/>
          <p:nvPr/>
        </p:nvSpPr>
        <p:spPr>
          <a:xfrm rot="2700000">
            <a:off x="1653673" y="576473"/>
            <a:ext cx="633002" cy="633002"/>
          </a:xfrm>
          <a:prstGeom prst="roundRect">
            <a:avLst>
              <a:gd name="adj" fmla="val 266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48"/>
          <p:cNvSpPr/>
          <p:nvPr/>
        </p:nvSpPr>
        <p:spPr>
          <a:xfrm rot="-5400000">
            <a:off x="3577267" y="-512975"/>
            <a:ext cx="1410300" cy="1410300"/>
          </a:xfrm>
          <a:prstGeom prst="pie">
            <a:avLst>
              <a:gd name="adj1" fmla="val 5412192"/>
              <a:gd name="adj2" fmla="val 162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ZoneTexte 3">
            <a:extLst>
              <a:ext uri="{FF2B5EF4-FFF2-40B4-BE49-F238E27FC236}">
                <a16:creationId xmlns:a16="http://schemas.microsoft.com/office/drawing/2014/main" id="{52F69669-146E-71DB-96B1-B9BEC8AA3C65}"/>
              </a:ext>
            </a:extLst>
          </p:cNvPr>
          <p:cNvSpPr txBox="1"/>
          <p:nvPr/>
        </p:nvSpPr>
        <p:spPr>
          <a:xfrm>
            <a:off x="5990475" y="1346658"/>
            <a:ext cx="964325" cy="2062103"/>
          </a:xfrm>
          <a:prstGeom prst="rect">
            <a:avLst/>
          </a:prstGeom>
          <a:noFill/>
        </p:spPr>
        <p:txBody>
          <a:bodyPr wrap="square">
            <a:spAutoFit/>
          </a:bodyPr>
          <a:lstStyle/>
          <a:p>
            <a:r>
              <a:rPr lang="fr-FR" sz="3200" dirty="0"/>
              <a:t>🍇🍎🍉🍋</a:t>
            </a:r>
          </a:p>
        </p:txBody>
      </p:sp>
    </p:spTree>
  </p:cSld>
  <p:clrMapOvr>
    <a:masterClrMapping/>
  </p:clrMapOvr>
</p:sld>
</file>

<file path=ppt/theme/theme1.xml><?xml version="1.0" encoding="utf-8"?>
<a:theme xmlns:a="http://schemas.openxmlformats.org/drawingml/2006/main" name="Minimalist Geometric Shapes Style Pitch Deck by Slidesgo">
  <a:themeElements>
    <a:clrScheme name="Personnalisé 1">
      <a:dk1>
        <a:srgbClr val="C57863"/>
      </a:dk1>
      <a:lt1>
        <a:srgbClr val="FFFBF8"/>
      </a:lt1>
      <a:dk2>
        <a:srgbClr val="E4D6C6"/>
      </a:dk2>
      <a:lt2>
        <a:srgbClr val="DDD4CE"/>
      </a:lt2>
      <a:accent1>
        <a:srgbClr val="FFFFFF"/>
      </a:accent1>
      <a:accent2>
        <a:srgbClr val="FFFFFF"/>
      </a:accent2>
      <a:accent3>
        <a:srgbClr val="FFFFFF"/>
      </a:accent3>
      <a:accent4>
        <a:srgbClr val="FFFFFF"/>
      </a:accent4>
      <a:accent5>
        <a:srgbClr val="FFFFFF"/>
      </a:accent5>
      <a:accent6>
        <a:srgbClr val="FFFFFF"/>
      </a:accent6>
      <a:hlink>
        <a:srgbClr val="453D3B"/>
      </a:hlink>
      <a:folHlink>
        <a:srgbClr val="C578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57995</TotalTime>
  <Words>5402</Words>
  <Application>Microsoft Macintosh PowerPoint</Application>
  <PresentationFormat>Affichage à l'écran (16:9)</PresentationFormat>
  <Paragraphs>445</Paragraphs>
  <Slides>26</Slides>
  <Notes>21</Notes>
  <HiddenSlides>0</HiddenSlides>
  <MMClips>0</MMClips>
  <ScaleCrop>false</ScaleCrop>
  <HeadingPairs>
    <vt:vector size="6" baseType="variant">
      <vt:variant>
        <vt:lpstr>Polices utilisées</vt:lpstr>
      </vt:variant>
      <vt:variant>
        <vt:i4>17</vt:i4>
      </vt:variant>
      <vt:variant>
        <vt:lpstr>Thème</vt:lpstr>
      </vt:variant>
      <vt:variant>
        <vt:i4>1</vt:i4>
      </vt:variant>
      <vt:variant>
        <vt:lpstr>Titres des diapositives</vt:lpstr>
      </vt:variant>
      <vt:variant>
        <vt:i4>26</vt:i4>
      </vt:variant>
    </vt:vector>
  </HeadingPairs>
  <TitlesOfParts>
    <vt:vector size="44" baseType="lpstr">
      <vt:lpstr>Quicksand SemiBold</vt:lpstr>
      <vt:lpstr>Söhne</vt:lpstr>
      <vt:lpstr>Adobe Clean</vt:lpstr>
      <vt:lpstr>Helvetica Neue</vt:lpstr>
      <vt:lpstr>-apple-system</vt:lpstr>
      <vt:lpstr>Nunito Light</vt:lpstr>
      <vt:lpstr>inherit</vt:lpstr>
      <vt:lpstr>Inter</vt:lpstr>
      <vt:lpstr>Menlo</vt:lpstr>
      <vt:lpstr>Poppins Medium</vt:lpstr>
      <vt:lpstr>system-ui</vt:lpstr>
      <vt:lpstr>Quicksand Medium</vt:lpstr>
      <vt:lpstr>var(--jp-content-font-family)</vt:lpstr>
      <vt:lpstr>Aptos</vt:lpstr>
      <vt:lpstr>Quicksand</vt:lpstr>
      <vt:lpstr>Arial</vt:lpstr>
      <vt:lpstr>Courier New</vt:lpstr>
      <vt:lpstr>Minimalist Geometric Shapes Style Pitch Deck by Slidesgo</vt:lpstr>
      <vt:lpstr>Fruits: Déployer un modèle dans le Cloud</vt:lpstr>
      <vt:lpstr>Introduction</vt:lpstr>
      <vt:lpstr>Timeline</vt:lpstr>
      <vt:lpstr>Présentation PowerPoint</vt:lpstr>
      <vt:lpstr>Présentation PowerPoint</vt:lpstr>
      <vt:lpstr>Présentation PowerPoint</vt:lpstr>
      <vt:lpstr>Présentation PowerPoint</vt:lpstr>
      <vt:lpstr>Présentation PowerPoint</vt:lpstr>
      <vt:lpstr>Présentation PowerPoint</vt:lpstr>
      <vt:lpstr>Architecture Big Data : EMR, S3, IAM </vt:lpstr>
      <vt:lpstr>Test en local avant déploiement Cloud</vt:lpstr>
      <vt:lpstr>Déploiement sur le Cloud </vt:lpstr>
      <vt:lpstr>Présentation PowerPoint</vt:lpstr>
      <vt:lpstr>Configuration AWS</vt:lpstr>
      <vt:lpstr>Notre EMR, 1 instance primaire, 2 principales</vt:lpstr>
      <vt:lpstr>Présentation PowerPoint</vt:lpstr>
      <vt:lpstr>Bucket S3 données tests et résultats</vt:lpstr>
      <vt:lpstr>Création de l’EMR</vt:lpstr>
      <vt:lpstr>Présentation PowerPoint</vt:lpstr>
      <vt:lpstr>Présentation PowerPoint</vt:lpstr>
      <vt:lpstr>Sparks UI</vt:lpstr>
      <vt:lpstr>Présentation PowerPoint</vt:lpstr>
      <vt:lpstr>Présentation PowerPoint</vt:lpstr>
      <vt:lpstr>Clone de l’EMR et demo</vt:lpstr>
      <vt:lpstr>Présentation PowerPoint</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Minimalist Geometric Shapes Style Pitch Deck</dc:title>
  <cp:lastModifiedBy>Laure A.</cp:lastModifiedBy>
  <cp:revision>773</cp:revision>
  <dcterms:modified xsi:type="dcterms:W3CDTF">2024-12-17T08:35:42Z</dcterms:modified>
</cp:coreProperties>
</file>